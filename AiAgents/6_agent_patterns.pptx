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32004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32004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32004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3480" y="32004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004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32004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60020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60020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60020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60020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0020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60020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88036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88036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88036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288036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88036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88036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16052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416052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416052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416052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16052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4160520"/>
            <a:ext cx="54864" cy="54864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Architectures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Patterns</a:t>
            </a:r>
            <a:endParaRPr lang="en-US" sz="4200" dirty="0"/>
          </a:p>
        </p:txBody>
      </p:sp>
      <p:sp>
        <p:nvSpPr>
          <p:cNvPr id="29" name="Shape 27"/>
          <p:cNvSpPr/>
          <p:nvPr/>
        </p:nvSpPr>
        <p:spPr>
          <a:xfrm>
            <a:off x="548640" y="2514600"/>
            <a:ext cx="3840480" cy="41148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Chain-of-Thought · Planning · Reflexion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920240" cy="59436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6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97480" y="4206240"/>
            <a:ext cx="1920240" cy="594360"/>
          </a:xfrm>
          <a:prstGeom prst="rect">
            <a:avLst/>
          </a:prstGeom>
          <a:solidFill>
            <a:srgbClr val="3A5BA0">
              <a:alpha val="70000"/>
            </a:srgbClr>
          </a:solidFill>
          <a:ln w="12700">
            <a:solidFill>
              <a:srgbClr val="3A5B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97480" y="4206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4206240"/>
            <a:ext cx="1920240" cy="5943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206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95160" y="4206240"/>
            <a:ext cx="1920240" cy="5943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95160" y="4206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3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29000"/>
            <a:ext cx="502920" cy="502920"/>
          </a:xfrm>
          <a:prstGeom prst="rect">
            <a:avLst/>
          </a:prstGeom>
        </p:spPr>
      </p:pic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29000"/>
            <a:ext cx="502920" cy="502920"/>
          </a:xfrm>
          <a:prstGeom prst="rect">
            <a:avLst/>
          </a:prstGeom>
        </p:spPr>
      </p:pic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429000"/>
            <a:ext cx="502920" cy="502920"/>
          </a:xfrm>
          <a:prstGeom prst="rect">
            <a:avLst/>
          </a:prstGeom>
        </p:spPr>
      </p:pic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4290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011680" cy="320040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0116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Pattern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loops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2011680" cy="3200400"/>
          </a:xfrm>
          <a:prstGeom prst="rect">
            <a:avLst/>
          </a:prstGeom>
          <a:solidFill>
            <a:srgbClr val="EBF2FF"/>
          </a:solidFill>
          <a:ln w="19050">
            <a:solidFill>
              <a:srgbClr val="3A5B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325880"/>
            <a:ext cx="2011680" cy="47548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2432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24328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2011680" cy="32004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25880"/>
            <a:ext cx="2011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7316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decomposition &amp; execution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325880"/>
            <a:ext cx="2011680" cy="3200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325880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2200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 Pattern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22008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&amp; 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Pattern  —  Reasoning + Acting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1115568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ReAct?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interleaves reasoning traces and task-specific actions in a synergistic loop, enabling the agent to dynamically plan, call tools, and observe outcomes.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206240" cy="1115568"/>
          </a:xfrm>
          <a:prstGeom prst="rect">
            <a:avLst/>
          </a:prstGeom>
          <a:solidFill>
            <a:srgbClr val="EBF2FF"/>
          </a:solidFill>
          <a:ln w="19050">
            <a:solidFill>
              <a:srgbClr val="3A5B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6592" y="1097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ReAct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6592" y="142646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tool-use (search, code, APIs)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error correction mid-run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reasoning traces needed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Q&amp;A + external 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2606040" cy="2423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496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" y="2880360"/>
            <a:ext cx="23774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next 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loops 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331720"/>
            <a:ext cx="2606040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4408" y="2496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64408" y="2880360"/>
            <a:ext cx="23774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tool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executes step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loops back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331720"/>
            <a:ext cx="2606040" cy="242316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99048" y="2496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99048" y="2880360"/>
            <a:ext cx="23774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environment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9048" y="4270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loops 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44368" y="3291840"/>
            <a:ext cx="20116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79008" y="3291840"/>
            <a:ext cx="20116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 Agents  —  Step-by-step Reasoning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2011680" cy="3291840"/>
          </a:xfrm>
          <a:prstGeom prst="rect">
            <a:avLst/>
          </a:prstGeom>
          <a:solidFill>
            <a:srgbClr val="EBF2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00584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1508760"/>
            <a:ext cx="20116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the Problem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" y="2240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question, identify what is known and what must be found.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468880"/>
            <a:ext cx="128016" cy="411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143000"/>
            <a:ext cx="2011680" cy="3291840"/>
          </a:xfrm>
          <a:prstGeom prst="rect">
            <a:avLst/>
          </a:prstGeom>
          <a:solidFill>
            <a:srgbClr val="EBF2FF"/>
          </a:solidFill>
          <a:ln w="25400">
            <a:solidFill>
              <a:srgbClr val="3A5B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005840"/>
            <a:ext cx="512064" cy="512064"/>
          </a:xfrm>
          <a:prstGeom prst="ellips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23744" y="1508760"/>
            <a:ext cx="2011680" cy="54864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B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Into Sub-steps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15184" y="2240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smaller reasoning units. Each step builds on the last.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3712" y="2468880"/>
            <a:ext cx="128016" cy="411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143000"/>
            <a:ext cx="2011680" cy="3291840"/>
          </a:xfrm>
          <a:prstGeom prst="rect">
            <a:avLst/>
          </a:prstGeom>
          <a:solidFill>
            <a:srgbClr val="EBF2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9824" y="1005840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0016" y="150876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Explicitly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91456" y="2240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intermediate conclusions. Don't skip to the final answer.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9984" y="2468880"/>
            <a:ext cx="128016" cy="411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76288" y="1143000"/>
            <a:ext cx="2011680" cy="3291840"/>
          </a:xfrm>
          <a:prstGeom prst="rect">
            <a:avLst/>
          </a:prstGeom>
          <a:solidFill>
            <a:srgbClr val="EBF2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26096" y="100584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76288" y="150876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Self-Verify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67728" y="2240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the chain, check for logical gaps, errors, or contradictions.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" y="4526280"/>
            <a:ext cx="8449056" cy="53035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544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Self-Verification: After completing the chain, the agent re-reads each step, checks logical consistency, and revises if inconsistencies are found before outputting the final answer.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Agents  —  Goal Decomposition &amp; Execution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1664208"/>
          </a:xfrm>
          <a:prstGeom prst="rect">
            <a:avLst/>
          </a:prstGeom>
          <a:solidFill>
            <a:srgbClr val="EDE9FE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01168" cy="16642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Decomposition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goals are broken into a tree of sub-goals and atomic tasks using hierarchical planning (HTN, PDDL) or LLM-based decomposition.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3931920" cy="166420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971800"/>
            <a:ext cx="20116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815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Planning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sequence of tasks is derived from the goal tree, with dependencies, priorities, and resource constraints resolved.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4389120" cy="3611880"/>
          </a:xfrm>
          <a:prstGeom prst="rect">
            <a:avLst/>
          </a:prstGeom>
          <a:solidFill>
            <a:srgbClr val="EBF2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170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Plan-and-Execute Pattern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26280" y="1737360"/>
            <a:ext cx="96012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73736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177393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LLM creates the full task list upfront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267712"/>
            <a:ext cx="36576" cy="173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441448"/>
            <a:ext cx="9601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44144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47802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agent runs each task, one at a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971800"/>
            <a:ext cx="36576" cy="173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145536"/>
            <a:ext cx="960120" cy="53035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14553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recorded; planner revises if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675888"/>
            <a:ext cx="36576" cy="173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849624"/>
            <a:ext cx="9601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84962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38862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task fails, the plan is revised dynamically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3C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902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separating planning (what to do) from execution (how to do it) allows each component to be specialised and independently improved.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 Pattern  —  Self-Reflection &amp; Improvement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Reflexion?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is a verbal reinforcement framework where an agent reflects on its own failures using natural language, stores these reflections in memory, and uses them to guide improved attempts — without updating model weights.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26060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" y="2761488"/>
            <a:ext cx="237744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task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current policy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2286000"/>
            <a:ext cx="26060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64408" y="2761488"/>
            <a:ext cx="237744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scores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vs. goal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2286000"/>
            <a:ext cx="26060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99048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99048" y="2761488"/>
            <a:ext cx="237744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verbal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failure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3886200"/>
            <a:ext cx="260604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3995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64408" y="4361688"/>
            <a:ext cx="237744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4480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stored 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buffer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44368" y="2999232"/>
            <a:ext cx="20116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79008" y="2999232"/>
            <a:ext cx="201168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53128" y="3730752"/>
            <a:ext cx="36576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Retry with enriched memory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agent architecture for your use 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46304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98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298448"/>
            <a:ext cx="233172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298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298448"/>
            <a:ext cx="224028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12984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298448"/>
            <a:ext cx="233172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298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Strength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1463040" cy="685800"/>
          </a:xfrm>
          <a:prstGeom prst="rect">
            <a:avLst/>
          </a:prstGeom>
          <a:solidFill>
            <a:srgbClr val="0D9488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1783080"/>
            <a:ext cx="2331720" cy="685800"/>
          </a:xfrm>
          <a:prstGeom prst="rect">
            <a:avLst/>
          </a:prstGeom>
          <a:solidFill>
            <a:srgbClr val="1A255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1828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loop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1783080"/>
            <a:ext cx="2240280" cy="685800"/>
          </a:xfrm>
          <a:prstGeom prst="rect">
            <a:avLst/>
          </a:prstGeom>
          <a:solidFill>
            <a:srgbClr val="1A255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1828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Tool-augmented, dynamic tasks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783080"/>
            <a:ext cx="2331720" cy="685800"/>
          </a:xfrm>
          <a:prstGeom prst="rect">
            <a:avLst/>
          </a:prstGeom>
          <a:solidFill>
            <a:srgbClr val="1A255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828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+ adaptive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532888"/>
            <a:ext cx="1463040" cy="685800"/>
          </a:xfrm>
          <a:prstGeom prst="rect">
            <a:avLst/>
          </a:prstGeom>
          <a:solidFill>
            <a:srgbClr val="3A5BA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2532888"/>
            <a:ext cx="2331720" cy="685800"/>
          </a:xfrm>
          <a:prstGeom prst="rect">
            <a:avLst/>
          </a:prstGeom>
          <a:solidFill>
            <a:srgbClr val="1E2C6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2578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step-by-step reasoning chain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60520" y="2532888"/>
            <a:ext cx="2240280" cy="685800"/>
          </a:xfrm>
          <a:prstGeom prst="rect">
            <a:avLst/>
          </a:prstGeom>
          <a:solidFill>
            <a:srgbClr val="1E2C6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5786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reasoning, math, logic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2532888"/>
            <a:ext cx="2331720" cy="685800"/>
          </a:xfrm>
          <a:prstGeom prst="rect">
            <a:avLst/>
          </a:prstGeom>
          <a:solidFill>
            <a:srgbClr val="1E2C6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578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verifiability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282696"/>
            <a:ext cx="1463040" cy="685800"/>
          </a:xfrm>
          <a:prstGeom prst="rect">
            <a:avLst/>
          </a:prstGeom>
          <a:solidFill>
            <a:srgbClr val="7C3AED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328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828800" y="3282696"/>
            <a:ext cx="2331720" cy="685800"/>
          </a:xfrm>
          <a:prstGeom prst="rect">
            <a:avLst/>
          </a:prstGeom>
          <a:solidFill>
            <a:srgbClr val="1A255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1952" y="332841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goals → plan → execute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60520" y="3282696"/>
            <a:ext cx="2240280" cy="685800"/>
          </a:xfrm>
          <a:prstGeom prst="rect">
            <a:avLst/>
          </a:prstGeom>
          <a:solidFill>
            <a:srgbClr val="1A255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33672" y="332841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Long-horizon, multi-step tasks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3282696"/>
            <a:ext cx="2331720" cy="685800"/>
          </a:xfrm>
          <a:prstGeom prst="rect">
            <a:avLst/>
          </a:prstGeom>
          <a:solidFill>
            <a:srgbClr val="1A255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332841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goal management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4032504"/>
            <a:ext cx="1463040" cy="685800"/>
          </a:xfrm>
          <a:prstGeom prst="rect">
            <a:avLst/>
          </a:prstGeom>
          <a:solidFill>
            <a:srgbClr val="F59E0B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0782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828800" y="4032504"/>
            <a:ext cx="2331720" cy="685800"/>
          </a:xfrm>
          <a:prstGeom prst="rect">
            <a:avLst/>
          </a:prstGeom>
          <a:solidFill>
            <a:srgbClr val="1E2C6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01952" y="407822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failures, update memory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60520" y="4032504"/>
            <a:ext cx="2240280" cy="685800"/>
          </a:xfrm>
          <a:prstGeom prst="rect">
            <a:avLst/>
          </a:prstGeom>
          <a:solidFill>
            <a:srgbClr val="1E2C6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33672" y="407822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improvement tasks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4032504"/>
            <a:ext cx="2331720" cy="685800"/>
          </a:xfrm>
          <a:prstGeom prst="rect">
            <a:avLst/>
          </a:prstGeom>
          <a:solidFill>
            <a:srgbClr val="1E2C60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407822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behaviour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7432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28016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28600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3736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329184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4297680"/>
            <a:ext cx="64008" cy="64008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960120"/>
            <a:ext cx="6400800" cy="3200400"/>
          </a:xfrm>
          <a:prstGeom prst="rect">
            <a:avLst/>
          </a:prstGeom>
          <a:solidFill>
            <a:srgbClr val="1E2761">
              <a:alpha val="70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554480" y="1097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2286000" y="1664208"/>
            <a:ext cx="45720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08760" y="1828800"/>
            <a:ext cx="1188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08760" y="1828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88920" y="18653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Synergises reasoning &amp; acting for robust tool use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508760" y="2377440"/>
            <a:ext cx="1188720" cy="438912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23774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88920" y="24140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reasoning transparent and verifiable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508760" y="2926080"/>
            <a:ext cx="1188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08760" y="29260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Agents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88920" y="29626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long-horizon complexity through decomposition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508760" y="3474720"/>
            <a:ext cx="1188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4747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88920" y="35112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improvement without retraining model weights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371600" y="4343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Architectures &amp; Patterns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Architectures &amp; Patterns</dc:title>
  <dc:subject>PptxGenJS Presentation</dc:subject>
  <dc:creator>PptxGenJS</dc:creator>
  <cp:lastModifiedBy>PptxGenJS</cp:lastModifiedBy>
  <cp:revision>1</cp:revision>
  <dcterms:created xsi:type="dcterms:W3CDTF">2026-05-07T19:07:28Z</dcterms:created>
  <dcterms:modified xsi:type="dcterms:W3CDTF">2026-05-07T19:07:28Z</dcterms:modified>
</cp:coreProperties>
</file>