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12244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43891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systems retrieve, ground, and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knowledge-rich responses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731520"/>
            <a:ext cx="1554480" cy="1554480"/>
          </a:xfrm>
          <a:prstGeom prst="rect">
            <a:avLst>
              <a:gd name="adj" fmla="val 10588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7315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920240" cy="320040"/>
          </a:xfrm>
          <a:prstGeom prst="rect">
            <a:avLst>
              <a:gd name="adj" fmla="val 34286"/>
            </a:avLst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79192" y="4663440"/>
            <a:ext cx="1920240" cy="320040"/>
          </a:xfrm>
          <a:prstGeom prst="rect">
            <a:avLst>
              <a:gd name="adj" fmla="val 34286"/>
            </a:avLst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9744" y="4663440"/>
            <a:ext cx="1920240" cy="320040"/>
          </a:xfrm>
          <a:prstGeom prst="rect">
            <a:avLst>
              <a:gd name="adj" fmla="val 34286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0296" y="4663440"/>
            <a:ext cx="1920240" cy="320040"/>
          </a:xfrm>
          <a:prstGeom prst="rect">
            <a:avLst>
              <a:gd name="adj" fmla="val 34286"/>
            </a:avLst>
          </a:prstGeom>
          <a:solidFill>
            <a:srgbClr val="00F5A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0296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 responses with real-world knowledge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>
              <a:gd name="adj" fmla="val 4054"/>
            </a:avLst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a training data cutoff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private or real-time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hallucinate facts not in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 or source attribution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3383280"/>
          </a:xfrm>
          <a:prstGeom prst="rect">
            <a:avLst>
              <a:gd name="adj" fmla="val 4054"/>
            </a:avLst>
          </a:prstGeom>
          <a:solidFill>
            <a:srgbClr val="0D2B1A"/>
          </a:solidFill>
          <a:ln w="19050">
            <a:solidFill>
              <a:srgbClr val="00F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docs at query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fresh, accurate context into the 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 in verified 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citations &amp; traceability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47472"/>
          </a:xfrm>
          <a:prstGeom prst="rect">
            <a:avLst>
              <a:gd name="adj" fmla="val 26316"/>
            </a:avLst>
          </a:prstGeom>
          <a:solidFill>
            <a:srgbClr val="091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 =  Retriever  +  Knowledge Base  +  Generator (LLM)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 from raw documents to grounded AI responses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1965960" cy="3429000"/>
          </a:xfrm>
          <a:prstGeom prst="rect">
            <a:avLst>
              <a:gd name="adj" fmla="val 6512"/>
            </a:avLst>
          </a:prstGeom>
          <a:solidFill>
            <a:srgbClr val="1A3A6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1965960" cy="228600"/>
          </a:xfrm>
          <a:prstGeom prst="rect">
            <a:avLst>
              <a:gd name="adj" fmla="val 56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196596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pieces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3063240"/>
            <a:ext cx="164592" cy="73152"/>
          </a:xfrm>
          <a:prstGeom prst="rect">
            <a:avLst/>
          </a:prstGeom>
          <a:solidFill>
            <a:srgbClr val="7E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9260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33472" y="1417320"/>
            <a:ext cx="1965960" cy="3429000"/>
          </a:xfrm>
          <a:prstGeom prst="rect">
            <a:avLst>
              <a:gd name="adj" fmla="val 6512"/>
            </a:avLst>
          </a:prstGeom>
          <a:solidFill>
            <a:srgbClr val="1A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2633472" y="1417320"/>
            <a:ext cx="1965960" cy="228600"/>
          </a:xfrm>
          <a:prstGeom prst="rect">
            <a:avLst>
              <a:gd name="adj" fmla="val 56000"/>
            </a:avLst>
          </a:prstGeom>
          <a:solidFill>
            <a:srgbClr val="7B6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33472" y="1554480"/>
            <a:ext cx="1965960" cy="914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2633472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33472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24912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chunks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dense vectors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9432" y="3063240"/>
            <a:ext cx="164592" cy="73152"/>
          </a:xfrm>
          <a:prstGeom prst="rect">
            <a:avLst/>
          </a:prstGeom>
          <a:solidFill>
            <a:srgbClr val="7EA8CC"/>
          </a:solidFill>
          <a:ln/>
        </p:spPr>
      </p:sp>
      <p:sp>
        <p:nvSpPr>
          <p:cNvPr id="20" name="Text 18"/>
          <p:cNvSpPr/>
          <p:nvPr/>
        </p:nvSpPr>
        <p:spPr>
          <a:xfrm>
            <a:off x="4599432" y="29260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09744" y="1417320"/>
            <a:ext cx="1965960" cy="3429000"/>
          </a:xfrm>
          <a:prstGeom prst="rect">
            <a:avLst>
              <a:gd name="adj" fmla="val 6512"/>
            </a:avLst>
          </a:prstGeom>
          <a:solidFill>
            <a:srgbClr val="1A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9744" y="1417320"/>
            <a:ext cx="1965960" cy="228600"/>
          </a:xfrm>
          <a:prstGeom prst="rect">
            <a:avLst>
              <a:gd name="adj" fmla="val 56000"/>
            </a:avLst>
          </a:prstGeom>
          <a:solidFill>
            <a:srgbClr val="FF6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9744" y="1554480"/>
            <a:ext cx="196596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4809744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09744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01184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similar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to a query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75704" y="3063240"/>
            <a:ext cx="164592" cy="73152"/>
          </a:xfrm>
          <a:prstGeom prst="rect">
            <a:avLst/>
          </a:prstGeom>
          <a:solidFill>
            <a:srgbClr val="7EA8CC"/>
          </a:solidFill>
          <a:ln/>
        </p:spPr>
      </p:sp>
      <p:sp>
        <p:nvSpPr>
          <p:cNvPr id="28" name="Text 26"/>
          <p:cNvSpPr/>
          <p:nvPr/>
        </p:nvSpPr>
        <p:spPr>
          <a:xfrm>
            <a:off x="6775704" y="292608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986016" y="1417320"/>
            <a:ext cx="1965960" cy="3429000"/>
          </a:xfrm>
          <a:prstGeom prst="rect">
            <a:avLst>
              <a:gd name="adj" fmla="val 6512"/>
            </a:avLst>
          </a:prstGeom>
          <a:solidFill>
            <a:srgbClr val="1A3A6B"/>
          </a:solidFill>
          <a:ln/>
        </p:spPr>
      </p:sp>
      <p:sp>
        <p:nvSpPr>
          <p:cNvPr id="30" name="Shape 28"/>
          <p:cNvSpPr/>
          <p:nvPr/>
        </p:nvSpPr>
        <p:spPr>
          <a:xfrm>
            <a:off x="6986016" y="1417320"/>
            <a:ext cx="1965960" cy="228600"/>
          </a:xfrm>
          <a:prstGeom prst="rect">
            <a:avLst>
              <a:gd name="adj" fmla="val 56000"/>
            </a:avLst>
          </a:prstGeom>
          <a:solidFill>
            <a:srgbClr val="00F5A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86016" y="1554480"/>
            <a:ext cx="1965960" cy="91440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32" name="Text 30"/>
          <p:cNvSpPr/>
          <p:nvPr/>
        </p:nvSpPr>
        <p:spPr>
          <a:xfrm>
            <a:off x="6986016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86016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7456" y="2743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context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prompt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covered in detail on the following slides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large documents into meaningful, retrievable pieces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4069080" cy="1508760"/>
          </a:xfrm>
          <a:prstGeom prst="rect">
            <a:avLst>
              <a:gd name="adj" fmla="val 7273"/>
            </a:avLst>
          </a:prstGeom>
          <a:solidFill>
            <a:srgbClr val="1A3A6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182880" cy="1508760"/>
          </a:xfrm>
          <a:prstGeom prst="rect">
            <a:avLst>
              <a:gd name="adj" fmla="val 6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91640"/>
            <a:ext cx="91440" cy="1508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01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character/token count (e.g. 512 tokens). Simple but may cut mid-sentence. Best for uniform documents.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4069080" cy="1508760"/>
          </a:xfrm>
          <a:prstGeom prst="rect">
            <a:avLst>
              <a:gd name="adj" fmla="val 7273"/>
            </a:avLst>
          </a:prstGeom>
          <a:solidFill>
            <a:srgbClr val="1A3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691640"/>
            <a:ext cx="182880" cy="1508760"/>
          </a:xfrm>
          <a:prstGeom prst="rect">
            <a:avLst>
              <a:gd name="adj" fmla="val 60000"/>
            </a:avLst>
          </a:prstGeom>
          <a:solidFill>
            <a:srgbClr val="7B6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91640"/>
            <a:ext cx="91440" cy="15087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801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148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at natural boundaries — paragraphs, sections, topics. Preserves meaning. Better retrieval relevance.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069080" cy="1508760"/>
          </a:xfrm>
          <a:prstGeom prst="rect">
            <a:avLst>
              <a:gd name="adj" fmla="val 7273"/>
            </a:avLst>
          </a:prstGeom>
          <a:solidFill>
            <a:srgbClr val="1A3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83280"/>
            <a:ext cx="182880" cy="1508760"/>
          </a:xfrm>
          <a:prstGeom prst="rect">
            <a:avLst>
              <a:gd name="adj" fmla="val 60000"/>
            </a:avLst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383280"/>
            <a:ext cx="91440" cy="15087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Windows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overlap by N tokens to avoid losing context at boundaries. Trades storage for recall quality.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383280"/>
            <a:ext cx="4069080" cy="1508760"/>
          </a:xfrm>
          <a:prstGeom prst="rect">
            <a:avLst>
              <a:gd name="adj" fmla="val 7273"/>
            </a:avLst>
          </a:prstGeom>
          <a:solidFill>
            <a:srgbClr val="1A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3383280"/>
            <a:ext cx="182880" cy="1508760"/>
          </a:xfrm>
          <a:prstGeom prst="rect">
            <a:avLst>
              <a:gd name="adj" fmla="val 60000"/>
            </a:avLst>
          </a:prstGeom>
          <a:solidFill>
            <a:srgbClr val="00F5A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383280"/>
            <a:ext cx="91440" cy="1508760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/ Hierarchical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iteratively at headings → paragraphs → sentences. Balances structure with granularity.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320040"/>
          </a:xfrm>
          <a:prstGeom prst="rect">
            <a:avLst>
              <a:gd name="adj" fmla="val 28571"/>
            </a:avLst>
          </a:prstGeom>
          <a:solidFill>
            <a:srgbClr val="09153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Practice: Start with semantic chunking + 10–15% overlap. Tune chunk size (256–1024 tokens) based on your retrieval task.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text into dense numerical vectors that capture semantic meaning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011680" cy="822960"/>
          </a:xfrm>
          <a:prstGeom prst="rect">
            <a:avLst>
              <a:gd name="adj" fmla="val 11111"/>
            </a:avLst>
          </a:prstGeom>
          <a:solidFill>
            <a:srgbClr val="0A1F45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RAG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retrieves context"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63240" y="1691640"/>
            <a:ext cx="2011680" cy="822960"/>
          </a:xfrm>
          <a:prstGeom prst="rect">
            <a:avLst>
              <a:gd name="adj" fmla="val 11111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69280" y="1691640"/>
            <a:ext cx="2926080" cy="822960"/>
          </a:xfrm>
          <a:prstGeom prst="rect">
            <a:avLst>
              <a:gd name="adj" fmla="val 11111"/>
            </a:avLst>
          </a:prstGeom>
          <a:solidFill>
            <a:srgbClr val="0A1F45"/>
          </a:solidFill>
          <a:ln w="1905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71907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-0.87, 0.54,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0.11, 0.76, ...]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965960" cy="1188720"/>
          </a:xfrm>
          <a:prstGeom prst="rect">
            <a:avLst>
              <a:gd name="adj" fmla="val 7692"/>
            </a:avLst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163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768–4096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2743200"/>
            <a:ext cx="1965960" cy="1188720"/>
          </a:xfrm>
          <a:prstGeom prst="rect">
            <a:avLst>
              <a:gd name="adj" fmla="val 7692"/>
            </a:avLst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28163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Space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text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vectors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965960" cy="1188720"/>
          </a:xfrm>
          <a:prstGeom prst="rect">
            <a:avLst>
              <a:gd name="adj" fmla="val 7692"/>
            </a:avLst>
          </a:prstGeom>
          <a:solidFill>
            <a:srgbClr val="1A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8163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(Pinecone, Weaviate)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2743200"/>
            <a:ext cx="1965960" cy="1188720"/>
          </a:xfrm>
          <a:prstGeom prst="rect">
            <a:avLst>
              <a:gd name="adj" fmla="val 7692"/>
            </a:avLst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8163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all chunks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index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Embedding Models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8229600" cy="713232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3840480"/>
              </a:tblGrid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text-embedding-3-large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quality, closed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sentence-transformers/all-MiniLM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source, lightweight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embed-v3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E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most semantically relevant chunks for a given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3017520"/>
          </a:xfrm>
          <a:prstGeom prst="rect">
            <a:avLst>
              <a:gd name="adj" fmla="val 4068"/>
            </a:avLst>
          </a:prstGeom>
          <a:solidFill>
            <a:srgbClr val="1A3A6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2697480" cy="502920"/>
          </a:xfrm>
          <a:prstGeom prst="rect">
            <a:avLst>
              <a:gd name="adj" fmla="val 21818"/>
            </a:avLst>
          </a:prstGeom>
          <a:solidFill>
            <a:srgbClr val="FF6B6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2697480" cy="1828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313432"/>
            <a:ext cx="2331720" cy="411480"/>
          </a:xfrm>
          <a:prstGeom prst="rect">
            <a:avLst>
              <a:gd name="adj" fmla="val 17778"/>
            </a:avLst>
          </a:prstGeom>
          <a:solidFill>
            <a:srgbClr val="0915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A·B / (|A||B|)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angle between vectors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to +1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most RAG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1691640"/>
            <a:ext cx="2697480" cy="3017520"/>
          </a:xfrm>
          <a:prstGeom prst="rect">
            <a:avLst>
              <a:gd name="adj" fmla="val 4068"/>
            </a:avLst>
          </a:prstGeom>
          <a:solidFill>
            <a:srgbClr val="1A3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1691640"/>
            <a:ext cx="2697480" cy="502920"/>
          </a:xfrm>
          <a:prstGeom prst="rect">
            <a:avLst>
              <a:gd name="adj" fmla="val 21818"/>
            </a:avLst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7560" y="2011680"/>
            <a:ext cx="2697480" cy="182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7190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2313432"/>
            <a:ext cx="2331720" cy="411480"/>
          </a:xfrm>
          <a:prstGeom prst="rect">
            <a:avLst>
              <a:gd name="adj" fmla="val 17778"/>
            </a:avLst>
          </a:prstGeom>
          <a:solidFill>
            <a:srgbClr val="091530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Σ(Aᵢ × Bᵢ)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compute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Magnitude-sensitive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vectors are normalized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4069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index friendly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1691640"/>
            <a:ext cx="2697480" cy="3017520"/>
          </a:xfrm>
          <a:prstGeom prst="rect">
            <a:avLst>
              <a:gd name="adj" fmla="val 4068"/>
            </a:avLst>
          </a:prstGeom>
          <a:solidFill>
            <a:srgbClr val="1A3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1691640"/>
            <a:ext cx="2697480" cy="502920"/>
          </a:xfrm>
          <a:prstGeom prst="rect">
            <a:avLst>
              <a:gd name="adj" fmla="val 21818"/>
            </a:avLst>
          </a:prstGeom>
          <a:solidFill>
            <a:srgbClr val="00F5A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2011680"/>
            <a:ext cx="2697480" cy="182880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7190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(L2)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2313432"/>
            <a:ext cx="2331720" cy="411480"/>
          </a:xfrm>
          <a:prstGeom prst="rect">
            <a:avLst>
              <a:gd name="adj" fmla="val 17778"/>
            </a:avLst>
          </a:prstGeom>
          <a:solidFill>
            <a:srgbClr val="09153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√Σ(Aᵢ - Bᵢ)²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28346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distance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3246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k-NN search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40690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in NLP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681728"/>
            <a:ext cx="8229600" cy="320040"/>
          </a:xfrm>
          <a:prstGeom prst="rect">
            <a:avLst>
              <a:gd name="adj" fmla="val 28571"/>
            </a:avLst>
          </a:prstGeom>
          <a:solidFill>
            <a:srgbClr val="09153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ANN Libraries: FAISS (Meta) · Annoy (Spotify) · HNSW (hnswlib) · ScaNN (Google)  —  all support sub-linear search at scale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retrieved knowledge into the LLM prompt to ground its response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28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4114800" cy="2971800"/>
          </a:xfrm>
          <a:prstGeom prst="rect">
            <a:avLst>
              <a:gd name="adj" fmla="val 3692"/>
            </a:avLst>
          </a:prstGeom>
          <a:solidFill>
            <a:srgbClr val="09153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RAG Prompt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685800" cy="256032"/>
          </a:xfrm>
          <a:prstGeom prst="rect">
            <a:avLst>
              <a:gd name="adj" fmla="val 21429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128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22128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assistant. Use only the provided context to answer.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980944"/>
            <a:ext cx="685800" cy="256032"/>
          </a:xfrm>
          <a:prstGeom prst="rect">
            <a:avLst>
              <a:gd name="adj" fmla="val 21429"/>
            </a:avLst>
          </a:prstGeom>
          <a:solidFill>
            <a:srgbClr val="00F5A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809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[Chunk 1]: RAG combines retrieval with generation...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[Chunk 2]: Vector DBs store embeddings...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685800" cy="256032"/>
          </a:xfrm>
          <a:prstGeom prst="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What is RAG and how does it work?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886200" cy="658368"/>
          </a:xfrm>
          <a:prstGeom prst="rect">
            <a:avLst>
              <a:gd name="adj" fmla="val 13889"/>
            </a:avLst>
          </a:prstGeom>
          <a:solidFill>
            <a:srgbClr val="1A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691640"/>
            <a:ext cx="164592" cy="658368"/>
          </a:xfrm>
          <a:prstGeom prst="rect">
            <a:avLst>
              <a:gd name="adj" fmla="val 55556"/>
            </a:avLst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828032" y="1691640"/>
            <a:ext cx="9144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17465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10912" y="20025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K most similar chunks (K=3–10). Higher K = more context but longer prompt.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450592"/>
            <a:ext cx="3886200" cy="658368"/>
          </a:xfrm>
          <a:prstGeom prst="rect">
            <a:avLst>
              <a:gd name="adj" fmla="val 13889"/>
            </a:avLst>
          </a:prstGeom>
          <a:solidFill>
            <a:srgbClr val="1A3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450592"/>
            <a:ext cx="164592" cy="658368"/>
          </a:xfrm>
          <a:prstGeom prst="rect">
            <a:avLst>
              <a:gd name="adj" fmla="val 55556"/>
            </a:avLst>
          </a:prstGeom>
          <a:solidFill>
            <a:srgbClr val="7B61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28032" y="2450592"/>
            <a:ext cx="91440" cy="65836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2505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10912" y="27614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cross-encoder to re-score and reorder chunks for better precision.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209544"/>
            <a:ext cx="3886200" cy="658368"/>
          </a:xfrm>
          <a:prstGeom prst="rect">
            <a:avLst>
              <a:gd name="adj" fmla="val 13889"/>
            </a:avLst>
          </a:prstGeom>
          <a:solidFill>
            <a:srgbClr val="1A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209544"/>
            <a:ext cx="164592" cy="658368"/>
          </a:xfrm>
          <a:prstGeom prst="rect">
            <a:avLst>
              <a:gd name="adj" fmla="val 55556"/>
            </a:avLst>
          </a:prstGeom>
          <a:solidFill>
            <a:srgbClr val="FF6B6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28032" y="3209544"/>
            <a:ext cx="91440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32644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10912" y="352044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LLM's max token limit. Prioritise chunks with highest similarity scores.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968496"/>
            <a:ext cx="3886200" cy="658368"/>
          </a:xfrm>
          <a:prstGeom prst="rect">
            <a:avLst>
              <a:gd name="adj" fmla="val 13889"/>
            </a:avLst>
          </a:prstGeom>
          <a:solidFill>
            <a:srgbClr val="1A3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968496"/>
            <a:ext cx="164592" cy="658368"/>
          </a:xfrm>
          <a:prstGeom prst="rect">
            <a:avLst>
              <a:gd name="adj" fmla="val 55556"/>
            </a:avLst>
          </a:prstGeom>
          <a:solidFill>
            <a:srgbClr val="00F5A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28032" y="3968496"/>
            <a:ext cx="91440" cy="658368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4023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Lost-in-Middle Problem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10912" y="42793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focus on start/end of context. Place highest-quality chunks first and last.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8229600" cy="320040"/>
          </a:xfrm>
          <a:prstGeom prst="rect">
            <a:avLst>
              <a:gd name="adj" fmla="val 28571"/>
            </a:avLst>
          </a:prstGeom>
          <a:solidFill>
            <a:srgbClr val="091530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Prompt Template: 'Answer using ONLY the context below. If unsure, say you don\'t know.'  — reduces hallucination significantly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869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3108960"/>
          </a:xfrm>
          <a:prstGeom prst="rect">
            <a:avLst>
              <a:gd name="adj" fmla="val 5581"/>
            </a:avLst>
          </a:prstGeom>
          <a:solidFill>
            <a:srgbClr val="1A3A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1965960" cy="201168"/>
          </a:xfrm>
          <a:prstGeom prst="rect">
            <a:avLst>
              <a:gd name="adj" fmla="val 54545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17904"/>
            <a:ext cx="1965960" cy="10058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into chunks. Use semantic boundaries + overlap for best results.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33472" y="1417320"/>
            <a:ext cx="1965960" cy="3108960"/>
          </a:xfrm>
          <a:prstGeom prst="rect">
            <a:avLst>
              <a:gd name="adj" fmla="val 5581"/>
            </a:avLst>
          </a:prstGeom>
          <a:solidFill>
            <a:srgbClr val="1A3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33472" y="1417320"/>
            <a:ext cx="1965960" cy="201168"/>
          </a:xfrm>
          <a:prstGeom prst="rect">
            <a:avLst>
              <a:gd name="adj" fmla="val 54545"/>
            </a:avLst>
          </a:prstGeom>
          <a:solidFill>
            <a:srgbClr val="7B6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33472" y="1517904"/>
            <a:ext cx="1965960" cy="10058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2633472" y="1664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33472" y="2176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578608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chunks to high-dim vectors capturing semantic meaning.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9744" y="1417320"/>
            <a:ext cx="1965960" cy="3108960"/>
          </a:xfrm>
          <a:prstGeom prst="rect">
            <a:avLst>
              <a:gd name="adj" fmla="val 5581"/>
            </a:avLst>
          </a:prstGeom>
          <a:solidFill>
            <a:srgbClr val="1A3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9744" y="1417320"/>
            <a:ext cx="1965960" cy="201168"/>
          </a:xfrm>
          <a:prstGeom prst="rect">
            <a:avLst>
              <a:gd name="adj" fmla="val 54545"/>
            </a:avLst>
          </a:prstGeom>
          <a:solidFill>
            <a:srgbClr val="FF6B6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517904"/>
            <a:ext cx="1965960" cy="10058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664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09744" y="2176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2578608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time, find top-K most similar chunks via cosine similarity.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86016" y="1417320"/>
            <a:ext cx="1965960" cy="3108960"/>
          </a:xfrm>
          <a:prstGeom prst="rect">
            <a:avLst>
              <a:gd name="adj" fmla="val 5581"/>
            </a:avLst>
          </a:prstGeom>
          <a:solidFill>
            <a:srgbClr val="1A3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6986016" y="1417320"/>
            <a:ext cx="1965960" cy="201168"/>
          </a:xfrm>
          <a:prstGeom prst="rect">
            <a:avLst>
              <a:gd name="adj" fmla="val 54545"/>
            </a:avLst>
          </a:prstGeom>
          <a:solidFill>
            <a:srgbClr val="00F5A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86016" y="1517904"/>
            <a:ext cx="1965960" cy="100584"/>
          </a:xfrm>
          <a:prstGeom prst="rect">
            <a:avLst/>
          </a:prstGeom>
          <a:solidFill>
            <a:srgbClr val="00F5A0"/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1664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86016" y="2176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95744" y="2578608"/>
            <a:ext cx="1746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retrieved chunks into the LLM prompt. Ground the answer.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 ·  Combining the power of retrieval and generation for grounded, accurate 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 Augmented Generation (RAG)</dc:title>
  <dc:subject>PptxGenJS Presentation</dc:subject>
  <dc:creator>PptxGenJS</dc:creator>
  <cp:lastModifiedBy>PptxGenJS</cp:lastModifiedBy>
  <cp:revision>1</cp:revision>
  <dcterms:created xsi:type="dcterms:W3CDTF">2026-05-08T02:46:01Z</dcterms:created>
  <dcterms:modified xsi:type="dcterms:W3CDTF">2026-05-08T02:46:01Z</dcterms:modified>
</cp:coreProperties>
</file>