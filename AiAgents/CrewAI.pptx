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231F1B"/>
          </a:solidFill>
          <a:ln w="12700">
            <a:solidFill>
              <a:srgbClr val="23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822960"/>
            <a:ext cx="201168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594360"/>
            <a:ext cx="2468880" cy="2468880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3291840"/>
            <a:ext cx="73152" cy="73152"/>
          </a:xfrm>
          <a:prstGeom prst="ellipse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3566160"/>
            <a:ext cx="73152" cy="73152"/>
          </a:xfrm>
          <a:prstGeom prst="ellipse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0" y="3291840"/>
            <a:ext cx="73152" cy="73152"/>
          </a:xfrm>
          <a:prstGeom prst="ellipse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0" y="3566160"/>
            <a:ext cx="73152" cy="73152"/>
          </a:xfrm>
          <a:prstGeom prst="ellipse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0" y="3291840"/>
            <a:ext cx="73152" cy="73152"/>
          </a:xfrm>
          <a:prstGeom prst="ellipse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3931920"/>
            <a:ext cx="73152" cy="73152"/>
          </a:xfrm>
          <a:prstGeom prst="ellipse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06640" y="3657600"/>
            <a:ext cx="73152" cy="73152"/>
          </a:xfrm>
          <a:prstGeom prst="ellipse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96012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AI FRAMEWORK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65760" y="1371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</a:t>
            </a:r>
            <a:endParaRPr lang="en-US" sz="5600" dirty="0"/>
          </a:p>
        </p:txBody>
      </p:sp>
      <p:sp>
        <p:nvSpPr>
          <p:cNvPr id="16" name="Text 13"/>
          <p:cNvSpPr/>
          <p:nvPr/>
        </p:nvSpPr>
        <p:spPr>
          <a:xfrm>
            <a:off x="365760" y="21488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5600" dirty="0"/>
          </a:p>
        </p:txBody>
      </p:sp>
      <p:sp>
        <p:nvSpPr>
          <p:cNvPr id="17" name="Text 14"/>
          <p:cNvSpPr/>
          <p:nvPr/>
        </p:nvSpPr>
        <p:spPr>
          <a:xfrm>
            <a:off x="365760" y="31272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intelligent agents to work together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real crew — autonomously.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4251960"/>
            <a:ext cx="1371600" cy="594360"/>
          </a:xfrm>
          <a:prstGeom prst="rect">
            <a:avLst/>
          </a:prstGeom>
          <a:solidFill>
            <a:srgbClr val="231F1B"/>
          </a:solidFill>
          <a:ln w="762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251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7200" y="4599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057400" y="4251960"/>
            <a:ext cx="1371600" cy="594360"/>
          </a:xfrm>
          <a:prstGeom prst="rect">
            <a:avLst/>
          </a:prstGeom>
          <a:solidFill>
            <a:srgbClr val="231F1B"/>
          </a:solidFill>
          <a:ln w="7620">
            <a:solidFill>
              <a:srgbClr val="FF6B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057400" y="4251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100K+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057400" y="4599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57600" y="4251960"/>
            <a:ext cx="1371600" cy="594360"/>
          </a:xfrm>
          <a:prstGeom prst="rect">
            <a:avLst/>
          </a:prstGeom>
          <a:solidFill>
            <a:srgbClr val="231F1B"/>
          </a:solidFill>
          <a:ln w="7620">
            <a:solidFill>
              <a:srgbClr val="FF6B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0" y="4251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3657600" y="4599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Possibilities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0806"/>
          </a:solidFill>
          <a:ln w="12700">
            <a:solidFill>
              <a:srgbClr val="0A08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383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CrewAI?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749040" y="5029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Python framework for orchestrating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role-playing, autonomous AI agents.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0" y="1371600"/>
            <a:ext cx="5212080" cy="749808"/>
          </a:xfrm>
          <a:prstGeom prst="rect">
            <a:avLst/>
          </a:prstGeom>
          <a:solidFill>
            <a:srgbClr val="231F1B"/>
          </a:solidFill>
          <a:ln w="7620">
            <a:solidFill>
              <a:srgbClr val="FF6B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0" y="1371600"/>
            <a:ext cx="54864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153619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15968" y="1463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of Agents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315968" y="17556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roles, goals &amp; backstories to each AI agent in your crew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0" y="2267712"/>
            <a:ext cx="5212080" cy="749808"/>
          </a:xfrm>
          <a:prstGeom prst="rect">
            <a:avLst/>
          </a:prstGeom>
          <a:solidFill>
            <a:srgbClr val="231F1B"/>
          </a:solidFill>
          <a:ln w="7620">
            <a:solidFill>
              <a:srgbClr val="FFB34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0" y="2267712"/>
            <a:ext cx="54864" cy="7498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2432304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15968" y="2359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Delegation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315968" y="2651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tasks with expected outputs — agents execute them autonomously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0" y="3163824"/>
            <a:ext cx="5212080" cy="749808"/>
          </a:xfrm>
          <a:prstGeom prst="rect">
            <a:avLst/>
          </a:prstGeom>
          <a:solidFill>
            <a:srgbClr val="231F1B"/>
          </a:solidFill>
          <a:ln w="7620">
            <a:solidFill>
              <a:srgbClr val="1ABC9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57600" y="3163824"/>
            <a:ext cx="54864" cy="7498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332841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15968" y="32552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Flows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315968" y="3547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or hierarchical workflows between specialized agents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657600" y="4059936"/>
            <a:ext cx="5212080" cy="749808"/>
          </a:xfrm>
          <a:prstGeom prst="rect">
            <a:avLst/>
          </a:prstGeom>
          <a:solidFill>
            <a:srgbClr val="231F1B"/>
          </a:solidFill>
          <a:ln w="7620">
            <a:solidFill>
              <a:srgbClr val="2ECC7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657600" y="4059936"/>
            <a:ext cx="54864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4224528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315968" y="41513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Integration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315968" y="44439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use tools — web search, code execution, file I/O and more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31F1B"/>
          </a:solidFill>
          <a:ln w="12700">
            <a:solidFill>
              <a:srgbClr val="23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Components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1828800"/>
          </a:xfrm>
          <a:prstGeom prst="rect">
            <a:avLst/>
          </a:prstGeom>
          <a:solidFill>
            <a:srgbClr val="231F1B"/>
          </a:solidFill>
          <a:ln w="1016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411480" cy="411480"/>
          </a:xfrm>
          <a:prstGeom prst="ellipse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7043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44752" y="1143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4320" y="1627632"/>
            <a:ext cx="4023360" cy="0"/>
          </a:xfrm>
          <a:prstGeom prst="line">
            <a:avLst/>
          </a:prstGeom>
          <a:noFill/>
          <a:ln w="635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71907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unit with a role, goal, and backstory. Agents use LLMs to reason and take actions.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8912" y="2505456"/>
            <a:ext cx="3703320" cy="246888"/>
          </a:xfrm>
          <a:prstGeom prst="rect">
            <a:avLst/>
          </a:prstGeom>
          <a:solidFill>
            <a:srgbClr val="1C1916"/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50545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• goal • backstory • llm • tools • verbose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09160" y="1005840"/>
            <a:ext cx="4023360" cy="1828800"/>
          </a:xfrm>
          <a:prstGeom prst="rect">
            <a:avLst/>
          </a:prstGeom>
          <a:solidFill>
            <a:srgbClr val="231F1B"/>
          </a:solidFill>
          <a:ln w="1016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1143000"/>
            <a:ext cx="411480" cy="411480"/>
          </a:xfrm>
          <a:prstGeom prst="ellipse">
            <a:avLst/>
          </a:prstGeom>
          <a:solidFill>
            <a:srgbClr val="FFB347">
              <a:alpha val="85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70432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79592" y="1143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709160" y="1627632"/>
            <a:ext cx="4023360" cy="0"/>
          </a:xfrm>
          <a:prstGeom prst="line">
            <a:avLst/>
          </a:prstGeom>
          <a:noFill/>
          <a:ln w="6350">
            <a:solidFill>
              <a:srgbClr val="FFB347">
                <a:alpha val="4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73752" y="171907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unit of work assigned to an agent, with a description, expected output, and optional context.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873752" y="2505456"/>
            <a:ext cx="3703320" cy="246888"/>
          </a:xfrm>
          <a:prstGeom prst="rect">
            <a:avLst/>
          </a:prstGeom>
          <a:solidFill>
            <a:srgbClr val="1C1916"/>
          </a:solidFill>
          <a:ln w="5080">
            <a:solidFill>
              <a:srgbClr val="FFB34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37760" y="250545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• expected_output • agent • context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274320" y="3017520"/>
            <a:ext cx="4023360" cy="1828800"/>
          </a:xfrm>
          <a:prstGeom prst="rect">
            <a:avLst/>
          </a:prstGeom>
          <a:solidFill>
            <a:srgbClr val="231F1B"/>
          </a:solidFill>
          <a:ln w="1016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11480" y="3154680"/>
            <a:ext cx="411480" cy="411480"/>
          </a:xfrm>
          <a:prstGeom prst="ellipse">
            <a:avLst/>
          </a:prstGeom>
          <a:solidFill>
            <a:srgbClr val="1ABC9C">
              <a:alpha val="85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14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8211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44752" y="3154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74320" y="3639312"/>
            <a:ext cx="4023360" cy="0"/>
          </a:xfrm>
          <a:prstGeom prst="line">
            <a:avLst/>
          </a:prstGeom>
          <a:noFill/>
          <a:ln w="6350">
            <a:solidFill>
              <a:srgbClr val="1ABC9C">
                <a:alpha val="45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38912" y="373075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— a collection of agents and tasks with a defined process (sequential or hierarchical).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38912" y="4517136"/>
            <a:ext cx="3703320" cy="246888"/>
          </a:xfrm>
          <a:prstGeom prst="rect">
            <a:avLst/>
          </a:prstGeom>
          <a:solidFill>
            <a:srgbClr val="1C1916"/>
          </a:solidFill>
          <a:ln w="5080">
            <a:solidFill>
              <a:srgbClr val="1ABC9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02920" y="451713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• tasks • process • verbose • memory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4709160" y="3017520"/>
            <a:ext cx="4023360" cy="1828800"/>
          </a:xfrm>
          <a:prstGeom prst="rect">
            <a:avLst/>
          </a:prstGeom>
          <a:solidFill>
            <a:srgbClr val="231F1B"/>
          </a:solidFill>
          <a:ln w="1016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2ECC71">
              <a:alpha val="8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182112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879592" y="3154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4709160" y="3639312"/>
            <a:ext cx="4023360" cy="0"/>
          </a:xfrm>
          <a:prstGeom prst="line">
            <a:avLst/>
          </a:prstGeom>
          <a:noFill/>
          <a:ln w="6350">
            <a:solidFill>
              <a:srgbClr val="2ECC71">
                <a:alpha val="45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873752" y="373075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agents can invoke — web search, scraping, file ops, custom APIs, and more.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4873752" y="4517136"/>
            <a:ext cx="3703320" cy="246888"/>
          </a:xfrm>
          <a:prstGeom prst="rect">
            <a:avLst/>
          </a:prstGeom>
          <a:solidFill>
            <a:srgbClr val="1C1916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937760" y="451713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SerperDevTool • FileReadTool • custom @tool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31F1B"/>
          </a:solidFill>
          <a:ln w="12700">
            <a:solidFill>
              <a:srgbClr val="23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1417320" cy="1417320"/>
          </a:xfrm>
          <a:prstGeom prst="ellipse">
            <a:avLst/>
          </a:prstGeom>
          <a:solidFill>
            <a:srgbClr val="FF6B35">
              <a:alpha val="18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1714500"/>
            <a:ext cx="320040" cy="0"/>
          </a:xfrm>
          <a:prstGeom prst="line">
            <a:avLst/>
          </a:prstGeom>
          <a:noFill/>
          <a:ln w="19050">
            <a:solidFill>
              <a:srgbClr val="8A7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1005840"/>
            <a:ext cx="1417320" cy="1417320"/>
          </a:xfrm>
          <a:prstGeom prst="ellipse">
            <a:avLst/>
          </a:prstGeom>
          <a:solidFill>
            <a:srgbClr val="FFB347">
              <a:alpha val="18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714500"/>
            <a:ext cx="320040" cy="0"/>
          </a:xfrm>
          <a:prstGeom prst="line">
            <a:avLst/>
          </a:prstGeom>
          <a:noFill/>
          <a:ln w="19050">
            <a:solidFill>
              <a:srgbClr val="8A7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730752" y="1005840"/>
            <a:ext cx="1417320" cy="1417320"/>
          </a:xfrm>
          <a:prstGeom prst="ellipse">
            <a:avLst/>
          </a:prstGeom>
          <a:solidFill>
            <a:srgbClr val="1ABC9C">
              <a:alpha val="18000"/>
            </a:srgbClr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8072" y="1714500"/>
            <a:ext cx="320040" cy="0"/>
          </a:xfrm>
          <a:prstGeom prst="line">
            <a:avLst/>
          </a:prstGeom>
          <a:noFill/>
          <a:ln w="19050">
            <a:solidFill>
              <a:srgbClr val="8A7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68112" y="1005840"/>
            <a:ext cx="1417320" cy="1417320"/>
          </a:xfrm>
          <a:prstGeom prst="ellipse">
            <a:avLst/>
          </a:prstGeom>
          <a:solidFill>
            <a:srgbClr val="2ECC71">
              <a:alpha val="18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85432" y="1714500"/>
            <a:ext cx="320040" cy="0"/>
          </a:xfrm>
          <a:prstGeom prst="line">
            <a:avLst/>
          </a:prstGeom>
          <a:noFill/>
          <a:ln w="19050">
            <a:solidFill>
              <a:srgbClr val="8A7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205472" y="1005840"/>
            <a:ext cx="1417320" cy="1417320"/>
          </a:xfrm>
          <a:prstGeom prst="ellipse">
            <a:avLst/>
          </a:prstGeom>
          <a:solidFill>
            <a:srgbClr val="AAFFCC">
              <a:alpha val="18000"/>
            </a:srgbClr>
          </a:solidFill>
          <a:ln w="19050">
            <a:solidFill>
              <a:srgbClr val="AAFF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F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81328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10312" y="25420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10312" y="307238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tools</a:t>
            </a:r>
            <a:endParaRPr lang="en-US" sz="9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481328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947672" y="25420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947672" y="307238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descriptions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outputs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81328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685032" y="25420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Crew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3685032" y="307238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agents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tasks</a:t>
            </a:r>
            <a:endParaRPr lang="en-US" sz="9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481328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22392" y="25420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422392" y="307238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9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481328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159752" y="25420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AF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AAFF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7159752" y="307238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274320" y="3822192"/>
            <a:ext cx="8595360" cy="1005840"/>
          </a:xfrm>
          <a:prstGeom prst="rect">
            <a:avLst/>
          </a:prstGeom>
          <a:solidFill>
            <a:srgbClr val="231F1B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74320" y="3822192"/>
            <a:ext cx="54864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02920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Modes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502920" y="4169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Sequential: Tasks run one after another; output feeds the next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02920" y="44256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Hierarchical: A manager agent delegates and synthesises results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663440" y="3858768"/>
            <a:ext cx="4023360" cy="877824"/>
          </a:xfrm>
          <a:prstGeom prst="rect">
            <a:avLst/>
          </a:prstGeom>
          <a:solidFill>
            <a:srgbClr val="1C1916"/>
          </a:solidFill>
          <a:ln w="7620">
            <a:solidFill>
              <a:srgbClr val="FFB347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773168" y="3895344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 = Crew(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agents=[researcher, writer],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tasks=[research_task, write_task],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process=Process.sequential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31F1B"/>
          </a:solidFill>
          <a:ln w="12700">
            <a:solidFill>
              <a:srgbClr val="23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2724912" cy="1828800"/>
          </a:xfrm>
          <a:prstGeom prst="rect">
            <a:avLst/>
          </a:prstGeom>
          <a:solidFill>
            <a:srgbClr val="231F1B"/>
          </a:solidFill>
          <a:ln w="889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272491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1704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1152144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Agents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6032" y="1645920"/>
            <a:ext cx="2724912" cy="0"/>
          </a:xfrm>
          <a:prstGeom prst="line">
            <a:avLst/>
          </a:prstGeom>
          <a:noFill/>
          <a:ln w="508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173736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persona — role, goal, and backstory — enabling specialised reasoning and behaviour.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987552"/>
            <a:ext cx="2724912" cy="1828800"/>
          </a:xfrm>
          <a:prstGeom prst="rect">
            <a:avLst/>
          </a:prstGeom>
          <a:solidFill>
            <a:srgbClr val="231F1B"/>
          </a:solidFill>
          <a:ln w="889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987552"/>
            <a:ext cx="2724912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7043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22192" y="1152144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Orchestration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0" y="1645920"/>
            <a:ext cx="2724912" cy="0"/>
          </a:xfrm>
          <a:prstGeom prst="line">
            <a:avLst/>
          </a:prstGeom>
          <a:noFill/>
          <a:ln w="5080">
            <a:solidFill>
              <a:srgbClr val="FFB347">
                <a:alpha val="4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37560" y="173736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sequential pipelines and hierarchical delegation with a single parameter change.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44768" y="987552"/>
            <a:ext cx="2724912" cy="1828800"/>
          </a:xfrm>
          <a:prstGeom prst="rect">
            <a:avLst/>
          </a:prstGeom>
          <a:solidFill>
            <a:srgbClr val="231F1B"/>
          </a:solidFill>
          <a:ln w="889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44768" y="987552"/>
            <a:ext cx="2724912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17043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152144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Tool Library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44768" y="1645920"/>
            <a:ext cx="2724912" cy="0"/>
          </a:xfrm>
          <a:prstGeom prst="line">
            <a:avLst/>
          </a:prstGeom>
          <a:noFill/>
          <a:ln w="508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281928" y="173736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SerperDev, Browserbase, File I/O, or build custom tools with the @tool decorator.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56032" y="2953512"/>
            <a:ext cx="2724912" cy="1828800"/>
          </a:xfrm>
          <a:prstGeom prst="rect">
            <a:avLst/>
          </a:prstGeom>
          <a:solidFill>
            <a:srgbClr val="231F1B"/>
          </a:solidFill>
          <a:ln w="889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56032" y="2953512"/>
            <a:ext cx="2724912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13639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77824" y="3118104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&amp; Context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256032" y="3611880"/>
            <a:ext cx="2724912" cy="0"/>
          </a:xfrm>
          <a:prstGeom prst="line">
            <a:avLst/>
          </a:prstGeom>
          <a:noFill/>
          <a:ln w="508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93192" y="370332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Short-term, long-term, entity, and contextual memory — agents remember across tasks and sessions.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00400" y="2953512"/>
            <a:ext cx="2724912" cy="1828800"/>
          </a:xfrm>
          <a:prstGeom prst="rect">
            <a:avLst/>
          </a:prstGeom>
          <a:solidFill>
            <a:srgbClr val="231F1B"/>
          </a:solidFill>
          <a:ln w="889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0" y="2953512"/>
            <a:ext cx="2724912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36392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22192" y="3118104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Agnostic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3200400" y="3611880"/>
            <a:ext cx="2724912" cy="0"/>
          </a:xfrm>
          <a:prstGeom prst="line">
            <a:avLst/>
          </a:prstGeom>
          <a:noFill/>
          <a:ln w="5080">
            <a:solidFill>
              <a:srgbClr val="FFD700">
                <a:alpha val="40000"/>
              </a:srgbClr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337560" y="370332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OpenAI, Anthropic, Google Gemini, Ollama, and any LangChain-compatible model.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44768" y="2953512"/>
            <a:ext cx="2724912" cy="1828800"/>
          </a:xfrm>
          <a:prstGeom prst="rect">
            <a:avLst/>
          </a:prstGeom>
          <a:solidFill>
            <a:srgbClr val="231F1B"/>
          </a:solidFill>
          <a:ln w="8890">
            <a:solidFill>
              <a:srgbClr val="E839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44768" y="2953512"/>
            <a:ext cx="2724912" cy="54864"/>
          </a:xfrm>
          <a:prstGeom prst="rect">
            <a:avLst/>
          </a:prstGeom>
          <a:solidFill>
            <a:srgbClr val="E8391D"/>
          </a:solidFill>
          <a:ln w="12700">
            <a:solidFill>
              <a:srgbClr val="E8391D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136392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66560" y="3118104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39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144768" y="3611880"/>
            <a:ext cx="2724912" cy="0"/>
          </a:xfrm>
          <a:prstGeom prst="line">
            <a:avLst/>
          </a:prstGeom>
          <a:noFill/>
          <a:ln w="5080">
            <a:solidFill>
              <a:srgbClr val="E8391D">
                <a:alpha val="40000"/>
              </a:srgbClr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281928" y="370332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execution for human feedback or approval at any step in the workflow.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31F1B"/>
          </a:solidFill>
          <a:ln w="12700">
            <a:solidFill>
              <a:srgbClr val="23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 Cases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solidFill>
            <a:srgbClr val="231F1B"/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54864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6152"/>
            <a:ext cx="411480" cy="411480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0607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Production Pipeline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408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 → Writer → Editor → SEO Agent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0" y="1078992"/>
            <a:ext cx="3291840" cy="713232"/>
          </a:xfrm>
          <a:prstGeom prst="rect">
            <a:avLst/>
          </a:prstGeom>
          <a:solidFill>
            <a:srgbClr val="1C1916"/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152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32120" y="1399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researched, written, edited, and optimised blog post — delivered automatically.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993392"/>
            <a:ext cx="8595360" cy="914400"/>
          </a:xfrm>
          <a:prstGeom prst="rect">
            <a:avLst/>
          </a:prstGeom>
          <a:solidFill>
            <a:srgbClr val="231F1B"/>
          </a:solidFill>
          <a:ln w="8890">
            <a:solidFill>
              <a:srgbClr val="FFB3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93392"/>
            <a:ext cx="54864" cy="9144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21992"/>
            <a:ext cx="411480" cy="411480"/>
          </a:xfrm>
          <a:prstGeom prst="ellipse">
            <a:avLst/>
          </a:prstGeom>
          <a:solidFill>
            <a:srgbClr val="FFB347">
              <a:alpha val="20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066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Stock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4140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Fetcher → Analyst → Risk Assessor → Report Writer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94960" y="2084832"/>
            <a:ext cx="3291840" cy="713232"/>
          </a:xfrm>
          <a:prstGeom prst="rect">
            <a:avLst/>
          </a:prstGeom>
          <a:solidFill>
            <a:srgbClr val="1C1916"/>
          </a:solidFill>
          <a:ln w="508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157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32120" y="2404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investment brief with risk scores, trends, and buy/sell signals.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999232"/>
            <a:ext cx="8595360" cy="914400"/>
          </a:xfrm>
          <a:prstGeom prst="rect">
            <a:avLst/>
          </a:prstGeom>
          <a:solidFill>
            <a:srgbClr val="231F1B"/>
          </a:solidFill>
          <a:ln w="8890">
            <a:solidFill>
              <a:srgbClr val="1ABC9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99232"/>
            <a:ext cx="54864" cy="9144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27832"/>
            <a:ext cx="411480" cy="411480"/>
          </a:xfrm>
          <a:prstGeom prst="ellipse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3072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Support Automation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419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 Classifier → Knowledge Base Agent → Resolution Agent → Escalation Agent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3090672"/>
            <a:ext cx="3291840" cy="713232"/>
          </a:xfrm>
          <a:prstGeom prst="rect">
            <a:avLst/>
          </a:prstGeom>
          <a:solidFill>
            <a:srgbClr val="1C1916"/>
          </a:solidFill>
          <a:ln w="5080">
            <a:solidFill>
              <a:srgbClr val="1ABC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32120" y="34107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tickets with context-aware answers and smart escalation.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005072"/>
            <a:ext cx="8595360" cy="914400"/>
          </a:xfrm>
          <a:prstGeom prst="rect">
            <a:avLst/>
          </a:prstGeom>
          <a:solidFill>
            <a:srgbClr val="231F1B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005072"/>
            <a:ext cx="54864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233672"/>
            <a:ext cx="411480" cy="411480"/>
          </a:xfrm>
          <a:prstGeom prst="ellipse">
            <a:avLst/>
          </a:prstGeom>
          <a:solidFill>
            <a:srgbClr val="2ECC71">
              <a:alpha val="2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" y="40782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Development Crew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4425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Agent → Developer Agent → QA Agent → DevOps Agent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4096512"/>
            <a:ext cx="3291840" cy="713232"/>
          </a:xfrm>
          <a:prstGeom prst="rect">
            <a:avLst/>
          </a:prstGeom>
          <a:solidFill>
            <a:srgbClr val="1C1916"/>
          </a:solidFill>
          <a:ln w="508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4169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32120" y="4416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 with tests, documentation, and deployment scripts.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31F1B"/>
          </a:solidFill>
          <a:ln w="12700">
            <a:solidFill>
              <a:srgbClr val="23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Start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31920" cy="420624"/>
          </a:xfrm>
          <a:prstGeom prst="rect">
            <a:avLst/>
          </a:prstGeom>
          <a:solidFill>
            <a:srgbClr val="1C1916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crewai crewai-tools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79392" y="9601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5303520" cy="3337560"/>
          </a:xfrm>
          <a:prstGeom prst="rect">
            <a:avLst/>
          </a:prstGeom>
          <a:solidFill>
            <a:srgbClr val="0D0B09"/>
          </a:solidFill>
          <a:ln w="10160">
            <a:solidFill>
              <a:srgbClr val="FFB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874520"/>
            <a:ext cx="5120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crewai import Agent, Task, Crew, Process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Agents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 = Agent(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role="Senior Research Analyst",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goal="Uncover cutting-edge AI developments",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backstory="Expert analyst at a top tech firm",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tools=[search_tool],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verbose=True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= Agent(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role="Tech Content Writer",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goal="Craft clear and engaging tech articles",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backstory="Experienced writer with a CS degree",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verbose=True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Tasks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research_task = Task(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description="Research the latest in LLM agents",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expected_output="A bullet-point summary of 5 key findings",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agent=researcher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write_task = Task(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description="Write a blog post based on the research",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expected_output="A 500-word engaging blog post",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agent=writer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Assemble &amp; Run the Crew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 = Crew(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agents=[researcher, writer],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tasks=[research_task, write_task],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process=Process.sequential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5EC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crew.kickoff()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5870448" y="987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 &amp; Notes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1444752"/>
            <a:ext cx="3063240" cy="804672"/>
          </a:xfrm>
          <a:prstGeom prst="rect">
            <a:avLst/>
          </a:prstGeom>
          <a:solidFill>
            <a:srgbClr val="231F1B"/>
          </a:solidFill>
          <a:ln w="762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4996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verbose=True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1810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detailed logging of agent thoughts and actions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359152"/>
            <a:ext cx="3063240" cy="804672"/>
          </a:xfrm>
          <a:prstGeom prst="rect">
            <a:avLst/>
          </a:prstGeom>
          <a:solidFill>
            <a:srgbClr val="231F1B"/>
          </a:solidFill>
          <a:ln w="762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4140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Process.sequential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27249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execute in order; use hierarchical for delegation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52160" y="3273552"/>
            <a:ext cx="3063240" cy="804672"/>
          </a:xfrm>
          <a:prstGeom prst="rect">
            <a:avLst/>
          </a:prstGeom>
          <a:solidFill>
            <a:srgbClr val="231F1B"/>
          </a:solidFill>
          <a:ln w="762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3284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crew.kickoff()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36393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crew. Pass inputs={} for dynamic variables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52160" y="4187952"/>
            <a:ext cx="3063240" cy="804672"/>
          </a:xfrm>
          <a:prstGeom prst="rect">
            <a:avLst/>
          </a:prstGeom>
          <a:solidFill>
            <a:srgbClr val="231F1B"/>
          </a:solidFill>
          <a:ln w="762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4242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 decorator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4553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 Python function to create a custom agent tool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31F1B"/>
          </a:solidFill>
          <a:ln w="12700">
            <a:solidFill>
              <a:srgbClr val="23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14416" y="0"/>
            <a:ext cx="54864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914400"/>
            <a:ext cx="201168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685800"/>
            <a:ext cx="2468880" cy="2468880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2160" y="3657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github.com/joaomdmoura/crewAI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0" y="4023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crewai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1480" y="502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411480" y="11155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CrewAI?</a:t>
            </a:r>
            <a:endParaRPr lang="en-US" sz="4200" dirty="0"/>
          </a:p>
        </p:txBody>
      </p:sp>
      <p:sp>
        <p:nvSpPr>
          <p:cNvPr id="11" name="Shape 8"/>
          <p:cNvSpPr/>
          <p:nvPr/>
        </p:nvSpPr>
        <p:spPr>
          <a:xfrm>
            <a:off x="274320" y="2011680"/>
            <a:ext cx="5120640" cy="594360"/>
          </a:xfrm>
          <a:prstGeom prst="rect">
            <a:avLst/>
          </a:prstGeom>
          <a:solidFill>
            <a:srgbClr val="231F1B"/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011680"/>
            <a:ext cx="54864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185416"/>
            <a:ext cx="228600" cy="2286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API — define agents in plain Python, no DSL overhead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74320" y="2724912"/>
            <a:ext cx="5120640" cy="594360"/>
          </a:xfrm>
          <a:prstGeom prst="rect">
            <a:avLst/>
          </a:prstGeom>
          <a:solidFill>
            <a:srgbClr val="231F1B"/>
          </a:solidFill>
          <a:ln w="8890">
            <a:solidFill>
              <a:srgbClr val="FFB34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724912"/>
            <a:ext cx="54864" cy="5943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898648"/>
            <a:ext cx="228600" cy="2286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28163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— used at scale by thousands of companies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74320" y="3438144"/>
            <a:ext cx="5120640" cy="594360"/>
          </a:xfrm>
          <a:prstGeom prst="rect">
            <a:avLst/>
          </a:prstGeom>
          <a:solidFill>
            <a:srgbClr val="231F1B"/>
          </a:solidFill>
          <a:ln w="8890">
            <a:solidFill>
              <a:srgbClr val="1ABC9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3438144"/>
            <a:ext cx="54864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3611880"/>
            <a:ext cx="228600" cy="2286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352958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LLM-agnostic — swap models without rewriting agent logic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74320" y="4151376"/>
            <a:ext cx="5120640" cy="594360"/>
          </a:xfrm>
          <a:prstGeom prst="rect">
            <a:avLst/>
          </a:prstGeom>
          <a:solidFill>
            <a:srgbClr val="231F1B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4151376"/>
            <a:ext cx="54864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4325112"/>
            <a:ext cx="228600" cy="2286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42428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ecosystem — growing tool library &amp; community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CrewAI - Multi-Agent AI Framework</dc:title>
  <dc:subject>PptxGenJS Presentation</dc:subject>
  <dc:creator>PptxGenJS</dc:creator>
  <cp:lastModifiedBy>PptxGenJS</cp:lastModifiedBy>
  <cp:revision>1</cp:revision>
  <dcterms:created xsi:type="dcterms:W3CDTF">2026-05-07T19:02:54Z</dcterms:created>
  <dcterms:modified xsi:type="dcterms:W3CDTF">2026-05-07T19:02:54Z</dcterms:modified>
</cp:coreProperties>
</file>