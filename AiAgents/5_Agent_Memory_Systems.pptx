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D1629"/>
          </a:solidFill>
          <a:ln w="12700">
            <a:solidFill>
              <a:srgbClr val="0D162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822960"/>
            <a:ext cx="2286000" cy="2286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640080"/>
            <a:ext cx="2651760" cy="2651760"/>
          </a:xfrm>
          <a:prstGeom prst="ellipse">
            <a:avLst/>
          </a:prstGeom>
          <a:solidFill>
            <a:srgbClr val="00C8FF">
              <a:alpha val="12000"/>
            </a:srgbClr>
          </a:solidFill>
          <a:ln w="19050">
            <a:solidFill>
              <a:srgbClr val="00C8FF">
                <a:alpha val="4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91440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00C8FF">
              <a:alpha val="18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914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FF"/>
                </a:solidFill>
              </a:rPr>
              <a:t>AI SYSTEMS SERIES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65760" y="13716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Memory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365760" y="21488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365760" y="299923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Agents Remember, Learn, and Recall Information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4160520"/>
            <a:ext cx="1280160" cy="685800"/>
          </a:xfrm>
          <a:prstGeom prst="rect">
            <a:avLst/>
          </a:prstGeom>
          <a:solidFill>
            <a:srgbClr val="1E3A5F"/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1605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FF"/>
                </a:solidFill>
              </a:rPr>
              <a:t>4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57200" y="45445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Memory Types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011680" y="4160520"/>
            <a:ext cx="1280160" cy="685800"/>
          </a:xfrm>
          <a:prstGeom prst="rect">
            <a:avLst/>
          </a:prstGeom>
          <a:solidFill>
            <a:srgbClr val="1E3A5F"/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011680" y="41605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FF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011680" y="45445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Storage Methods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566160" y="4160520"/>
            <a:ext cx="1280160" cy="685800"/>
          </a:xfrm>
          <a:prstGeom prst="rect">
            <a:avLst/>
          </a:prstGeom>
          <a:solidFill>
            <a:srgbClr val="1E3A5F"/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66160" y="41605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FF"/>
                </a:solidFill>
              </a:rPr>
              <a:t>∞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3566160" y="45445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Possibilities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560320" cy="34747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256032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1051560"/>
            <a:ext cx="2560320" cy="347472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1051560"/>
            <a:ext cx="25603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0" y="1051560"/>
            <a:ext cx="2560320" cy="3474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1051560"/>
            <a:ext cx="25603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371600"/>
            <a:ext cx="640080" cy="640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Memory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94360" y="26974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Short-term, Long-term, Semantic &amp; Episodic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4133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37160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91840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429000" y="26974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In-memory, File-based &amp; Vector Databases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383280" y="4133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37160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26480" y="2148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263640" y="26974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agents use each memory type in practice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217920" y="413308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Memory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14800" cy="1828800"/>
          </a:xfrm>
          <a:prstGeom prst="rect">
            <a:avLst/>
          </a:prstGeom>
          <a:solidFill>
            <a:srgbClr val="111827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14400"/>
            <a:ext cx="54864" cy="18288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1005840"/>
            <a:ext cx="914400" cy="228600"/>
          </a:xfrm>
          <a:prstGeom prst="roundRect">
            <a:avLst>
              <a:gd name="adj" fmla="val 20000"/>
            </a:avLst>
          </a:prstGeom>
          <a:solidFill>
            <a:srgbClr val="00C8FF">
              <a:alpha val="25000"/>
            </a:srgbClr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0058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8FF"/>
                </a:solidFill>
              </a:rPr>
              <a:t>VOLATILE</a:t>
            </a:r>
            <a:endParaRPr lang="en-US" sz="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0120" y="10789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Memory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0120" y="13898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Context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57200" y="17373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immediate context of an ongoing interaction. Like RAM — fast, temporary, limited capacity.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54880" y="914400"/>
            <a:ext cx="4114800" cy="1828800"/>
          </a:xfrm>
          <a:prstGeom prst="rect">
            <a:avLst/>
          </a:prstGeom>
          <a:solidFill>
            <a:srgbClr val="111827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54880" y="914400"/>
            <a:ext cx="54864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863840" y="1005840"/>
            <a:ext cx="914400" cy="228600"/>
          </a:xfrm>
          <a:prstGeom prst="roundRect">
            <a:avLst>
              <a:gd name="adj" fmla="val 20000"/>
            </a:avLst>
          </a:prstGeom>
          <a:solidFill>
            <a:srgbClr val="7C3AED">
              <a:alpha val="2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63840" y="10058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C3AED"/>
                </a:solidFill>
              </a:rPr>
              <a:t>PERSISTENT</a:t>
            </a:r>
            <a:endParaRPr lang="en-US" sz="7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97280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40680" y="10789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Memory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440680" y="13898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4937760" y="17373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information across sessions. Stores embeddings for semantic similarity search at scale.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274320" y="2926080"/>
            <a:ext cx="4114800" cy="1828800"/>
          </a:xfrm>
          <a:prstGeom prst="rect">
            <a:avLst/>
          </a:prstGeom>
          <a:solidFill>
            <a:srgbClr val="111827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74320" y="2926080"/>
            <a:ext cx="54864" cy="1828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383280" y="3017520"/>
            <a:ext cx="914400" cy="228600"/>
          </a:xfrm>
          <a:prstGeom prst="roundRect">
            <a:avLst>
              <a:gd name="adj" fmla="val 20000"/>
            </a:avLst>
          </a:prstGeom>
          <a:solidFill>
            <a:srgbClr val="10B981">
              <a:alpha val="25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383280" y="3017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</a:rPr>
              <a:t>KNOWLEDGE</a:t>
            </a:r>
            <a:endParaRPr lang="en-US" sz="7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08960"/>
            <a:ext cx="411480" cy="4114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60120" y="30906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Memory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960120" y="34015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&amp; Knowledge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457200" y="37490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world knowledge — concepts, facts, language rules. The agent's understanding of how the world works.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754880" y="2926080"/>
            <a:ext cx="4114800" cy="1828800"/>
          </a:xfrm>
          <a:prstGeom prst="rect">
            <a:avLst/>
          </a:prstGeom>
          <a:solidFill>
            <a:srgbClr val="11182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4754880" y="2926080"/>
            <a:ext cx="54864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863840" y="3017520"/>
            <a:ext cx="914400" cy="228600"/>
          </a:xfrm>
          <a:prstGeom prst="roundRect">
            <a:avLst>
              <a:gd name="adj" fmla="val 20000"/>
            </a:avLst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7863840" y="3017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EXPERIENTIAL</a:t>
            </a:r>
            <a:endParaRPr lang="en-US" sz="7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08960"/>
            <a:ext cx="411480" cy="41148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440680" y="30906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5440680" y="34015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Experiences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4937760" y="37490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of specific past events and interactions. Enables agents to recall what happened during prior sessions.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vs Long-Term Memory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39319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502920"/>
          </a:xfrm>
          <a:prstGeom prst="rect">
            <a:avLst/>
          </a:prstGeom>
          <a:solidFill>
            <a:srgbClr val="00C8FF">
              <a:alpha val="85000"/>
            </a:srgbClr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7840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9144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Memory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645920"/>
            <a:ext cx="164592" cy="164592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160020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current conversation window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148840"/>
            <a:ext cx="164592" cy="164592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210312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as a prompt/context buffer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651760"/>
            <a:ext cx="164592" cy="164592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260604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limited to 4k – 128k tokens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3154680"/>
            <a:ext cx="164592" cy="164592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310896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when the session ends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657600"/>
            <a:ext cx="164592" cy="164592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361188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retrieval — O(1) lookup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4160520"/>
            <a:ext cx="164592" cy="164592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411480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Chat history in a session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754880" y="914400"/>
            <a:ext cx="4114800" cy="393192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54880" y="914400"/>
            <a:ext cx="4114800" cy="502920"/>
          </a:xfrm>
          <a:prstGeom prst="rect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978408"/>
            <a:ext cx="347472" cy="34747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349240" y="9144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Memory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4937760" y="164592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212080" y="160020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across multiple sessions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937760" y="214884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212080" y="210312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vector databases or files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937760" y="265176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212080" y="260604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millions of memories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937760" y="315468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212080" y="310896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via semantic similarity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4937760" y="365760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212080" y="361188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context, but durable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4937760" y="416052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212080" y="411480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Pinecone, ChromaDB, FAISS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4160520" y="2651760"/>
            <a:ext cx="594360" cy="59436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16052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FF"/>
                </a:solidFill>
              </a:rPr>
              <a:t>VS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&amp; Episodic Memory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23360" cy="3840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4023360" cy="457200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0058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960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Memory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1480" y="15361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knowledge &amp; facts the agent knows.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11480" y="199339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325880" y="1993392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knowledge, language rules, domain facts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11480" y="249631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325880" y="2496312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model weights or knowledge base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11480" y="299923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Retrieval: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325880" y="2999232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in the model or fetched from KB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11480" y="350215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325880" y="3502152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'Paris is the capital of France'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11480" y="40050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325880" y="4005072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factual questions without prior context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663440" y="960120"/>
            <a:ext cx="4206240" cy="384048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63440" y="960120"/>
            <a:ext cx="4206240" cy="45720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005840"/>
            <a:ext cx="320040" cy="32004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212080" y="960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4800600" y="15361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of specific events and past interactions.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4800600" y="199339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5715000" y="199339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logs of past sessions/events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800600" y="249631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5715000" y="249631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history, stored externally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4800600" y="299923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Retrieval: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5715000" y="299923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or semantic search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4800600" y="350215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5715000" y="350215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'User asked about X on Monday'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4800600" y="40050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5715000" y="400507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Personalisation, continuity across sessions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Approaches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834640" cy="3931920"/>
          </a:xfrm>
          <a:prstGeom prst="rect">
            <a:avLst/>
          </a:prstGeom>
          <a:solidFill>
            <a:srgbClr val="111827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960120"/>
            <a:ext cx="283464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109728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0789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Storage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135331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&amp; Queues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28600" y="1627632"/>
            <a:ext cx="2834640" cy="0"/>
          </a:xfrm>
          <a:prstGeom prst="line">
            <a:avLst/>
          </a:prstGeom>
          <a:noFill/>
          <a:ln w="6350">
            <a:solidFill>
              <a:srgbClr val="00C8FF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8328" y="1719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38328" y="19933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Instant read/write speed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" y="231343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Simple to implement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38328" y="263347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external dependencies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38328" y="30906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Cons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38328" y="33649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Lost on process exit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38328" y="368503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Limited by RAM capacity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01752" y="4096512"/>
            <a:ext cx="2688336" cy="621792"/>
          </a:xfrm>
          <a:prstGeom prst="rect">
            <a:avLst/>
          </a:prstGeom>
          <a:solidFill>
            <a:srgbClr val="050A14"/>
          </a:solidFill>
          <a:ln w="6350">
            <a:solidFill>
              <a:srgbClr val="00C8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411480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 = {}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 = deque(maxlen=10)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200400" y="960120"/>
            <a:ext cx="2834640" cy="3931920"/>
          </a:xfrm>
          <a:prstGeom prst="rect">
            <a:avLst/>
          </a:prstGeom>
          <a:solidFill>
            <a:srgbClr val="111827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200400" y="960120"/>
            <a:ext cx="28346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097280"/>
            <a:ext cx="384048" cy="38404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794760" y="10789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Storage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3794760" y="135331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&amp; SQLite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3200400" y="1627632"/>
            <a:ext cx="2834640" cy="0"/>
          </a:xfrm>
          <a:prstGeom prst="line">
            <a:avLst/>
          </a:prstGeom>
          <a:noFill/>
          <a:ln w="635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310128" y="1719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Pros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3310128" y="19933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Persists across restarts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3310128" y="231343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Human-readable (JSON)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3310128" y="263347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server needed (SQLite)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3310128" y="30906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Cons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3310128" y="33649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Slower than in-memory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3310128" y="368503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semantic search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3273552" y="4096512"/>
            <a:ext cx="2688336" cy="621792"/>
          </a:xfrm>
          <a:prstGeom prst="rect">
            <a:avLst/>
          </a:prstGeom>
          <a:solidFill>
            <a:srgbClr val="050A14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337560" y="411480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json.dump(data, f)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cursor.execute("SELECT...")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6172200" y="960120"/>
            <a:ext cx="2834640" cy="3931920"/>
          </a:xfrm>
          <a:prstGeom prst="rect">
            <a:avLst/>
          </a:prstGeom>
          <a:solidFill>
            <a:srgbClr val="111827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172200" y="960120"/>
            <a:ext cx="28346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097280"/>
            <a:ext cx="384048" cy="384048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766560" y="10789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</a:t>
            </a:r>
            <a:endParaRPr lang="en-US" sz="1250" dirty="0"/>
          </a:p>
        </p:txBody>
      </p:sp>
      <p:sp>
        <p:nvSpPr>
          <p:cNvPr id="40" name="Text 35"/>
          <p:cNvSpPr/>
          <p:nvPr/>
        </p:nvSpPr>
        <p:spPr>
          <a:xfrm>
            <a:off x="6766560" y="135331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Pinecone, Chroma, FAISS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6172200" y="1627632"/>
            <a:ext cx="2834640" cy="0"/>
          </a:xfrm>
          <a:prstGeom prst="line">
            <a:avLst/>
          </a:prstGeom>
          <a:noFill/>
          <a:ln w="635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6281928" y="1719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Pros</a:t>
            </a:r>
            <a:endParaRPr lang="en-US" sz="950" dirty="0"/>
          </a:p>
        </p:txBody>
      </p:sp>
      <p:sp>
        <p:nvSpPr>
          <p:cNvPr id="43" name="Text 38"/>
          <p:cNvSpPr/>
          <p:nvPr/>
        </p:nvSpPr>
        <p:spPr>
          <a:xfrm>
            <a:off x="6281928" y="19933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Semantic similarity search</a:t>
            </a:r>
            <a:endParaRPr lang="en-US" sz="950" dirty="0"/>
          </a:p>
        </p:txBody>
      </p:sp>
      <p:sp>
        <p:nvSpPr>
          <p:cNvPr id="44" name="Text 39"/>
          <p:cNvSpPr/>
          <p:nvPr/>
        </p:nvSpPr>
        <p:spPr>
          <a:xfrm>
            <a:off x="6281928" y="231343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Scales to millions of docs</a:t>
            </a:r>
            <a:endParaRPr lang="en-US" sz="950" dirty="0"/>
          </a:p>
        </p:txBody>
      </p:sp>
      <p:sp>
        <p:nvSpPr>
          <p:cNvPr id="45" name="Text 40"/>
          <p:cNvSpPr/>
          <p:nvPr/>
        </p:nvSpPr>
        <p:spPr>
          <a:xfrm>
            <a:off x="6281928" y="263347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Ideal for LLM applications</a:t>
            </a:r>
            <a:endParaRPr lang="en-US" sz="950" dirty="0"/>
          </a:p>
        </p:txBody>
      </p:sp>
      <p:sp>
        <p:nvSpPr>
          <p:cNvPr id="46" name="Text 41"/>
          <p:cNvSpPr/>
          <p:nvPr/>
        </p:nvSpPr>
        <p:spPr>
          <a:xfrm>
            <a:off x="6281928" y="30906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Cons</a:t>
            </a:r>
            <a:endParaRPr lang="en-US" sz="950" dirty="0"/>
          </a:p>
        </p:txBody>
      </p:sp>
      <p:sp>
        <p:nvSpPr>
          <p:cNvPr id="47" name="Text 42"/>
          <p:cNvSpPr/>
          <p:nvPr/>
        </p:nvSpPr>
        <p:spPr>
          <a:xfrm>
            <a:off x="6281928" y="33649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More complex setup</a:t>
            </a:r>
            <a:endParaRPr lang="en-US" sz="950" dirty="0"/>
          </a:p>
        </p:txBody>
      </p:sp>
      <p:sp>
        <p:nvSpPr>
          <p:cNvPr id="48" name="Text 43"/>
          <p:cNvSpPr/>
          <p:nvPr/>
        </p:nvSpPr>
        <p:spPr>
          <a:xfrm>
            <a:off x="6281928" y="368503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Cost at scale</a:t>
            </a:r>
            <a:endParaRPr lang="en-US" sz="950" dirty="0"/>
          </a:p>
        </p:txBody>
      </p:sp>
      <p:sp>
        <p:nvSpPr>
          <p:cNvPr id="49" name="Shape 44"/>
          <p:cNvSpPr/>
          <p:nvPr/>
        </p:nvSpPr>
        <p:spPr>
          <a:xfrm>
            <a:off x="6245352" y="4096512"/>
            <a:ext cx="2688336" cy="621792"/>
          </a:xfrm>
          <a:prstGeom prst="rect">
            <a:avLst/>
          </a:prstGeom>
          <a:solidFill>
            <a:srgbClr val="050A14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6309360" y="411480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index.upsert(vectors)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index.query(embedding)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Databases: Pinecone, Chroma &amp; FAISS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8961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Vector Memory Works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969264" cy="457200"/>
          </a:xfrm>
          <a:prstGeom prst="rect">
            <a:avLst/>
          </a:prstGeom>
          <a:solidFill>
            <a:srgbClr val="00C8FF">
              <a:alpha val="8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298448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Input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225296" y="1527048"/>
            <a:ext cx="10972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35024" y="1298448"/>
            <a:ext cx="969264" cy="45720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5024" y="1298448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(LLM)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304288" y="1527048"/>
            <a:ext cx="10972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14016" y="1298448"/>
            <a:ext cx="969264" cy="45720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14016" y="1298448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Vector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83280" y="1527048"/>
            <a:ext cx="10972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93008" y="1298448"/>
            <a:ext cx="969264" cy="45720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93008" y="1298448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Vector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462272" y="1527048"/>
            <a:ext cx="10972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298448"/>
            <a:ext cx="969264" cy="45720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298448"/>
            <a:ext cx="96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Top-K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74320" y="1938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Comparison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86000"/>
          <a:ext cx="5212080" cy="256032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371600"/>
                <a:gridCol w="128016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Pinecone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apps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(managed)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Billions of vecs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dev / 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or 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Millions of vecs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 / speed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Highly scalable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5806440" y="8961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760720" y="1298448"/>
            <a:ext cx="3154680" cy="1097280"/>
          </a:xfrm>
          <a:prstGeom prst="rect">
            <a:avLst/>
          </a:prstGeom>
          <a:solidFill>
            <a:srgbClr val="111827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760720" y="1298448"/>
            <a:ext cx="64008" cy="10972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43600" y="13898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943600" y="170992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text → high-dim vector using a model (e.g. text-embedding-ada-002)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760720" y="2532888"/>
            <a:ext cx="3154680" cy="1097280"/>
          </a:xfrm>
          <a:prstGeom prst="rect">
            <a:avLst/>
          </a:prstGeom>
          <a:solidFill>
            <a:srgbClr val="111827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760720" y="2532888"/>
            <a:ext cx="6400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0" y="26243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943600" y="294436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vectors closest to a query using cosine or L2 distance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760720" y="3767328"/>
            <a:ext cx="3154680" cy="1097280"/>
          </a:xfrm>
          <a:prstGeom prst="rect">
            <a:avLst/>
          </a:prstGeom>
          <a:solidFill>
            <a:srgbClr val="111827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760720" y="3767328"/>
            <a:ext cx="64008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0" y="38587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Retrieval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943600" y="417880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K most relevant memories to inject into the prompt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60C18"/>
          </a:solidFill>
          <a:ln w="12700">
            <a:solidFill>
              <a:srgbClr val="060C1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6583680" y="1188720"/>
            <a:ext cx="1828800" cy="1828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274320" y="1005840"/>
            <a:ext cx="5394960" cy="777240"/>
          </a:xfrm>
          <a:prstGeom prst="rect">
            <a:avLst/>
          </a:prstGeom>
          <a:solidFill>
            <a:srgbClr val="111827"/>
          </a:solidFill>
          <a:ln w="10160">
            <a:solidFill>
              <a:srgbClr val="00C8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1005840"/>
            <a:ext cx="502920" cy="777240"/>
          </a:xfrm>
          <a:prstGeom prst="rect">
            <a:avLst/>
          </a:prstGeom>
          <a:solidFill>
            <a:srgbClr val="00C8FF">
              <a:alpha val="85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10058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60120" y="109728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memory type to need — use short-term for context, long-term for persistence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74320" y="1965960"/>
            <a:ext cx="5394960" cy="777240"/>
          </a:xfrm>
          <a:prstGeom prst="rect">
            <a:avLst/>
          </a:prstGeom>
          <a:solidFill>
            <a:srgbClr val="111827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1965960"/>
            <a:ext cx="502920" cy="777240"/>
          </a:xfrm>
          <a:prstGeom prst="rect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19659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60120" y="205740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memory is baked into the model; episodic memory must be explicitly stored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274320" y="2926080"/>
            <a:ext cx="5394960" cy="777240"/>
          </a:xfrm>
          <a:prstGeom prst="rect">
            <a:avLst/>
          </a:prstGeom>
          <a:solidFill>
            <a:srgbClr val="111827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4320" y="2926080"/>
            <a:ext cx="502920" cy="777240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29260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60120" y="301752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simple — in-memory or JSON before reaching for a vector DB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274320" y="3886200"/>
            <a:ext cx="5394960" cy="777240"/>
          </a:xfrm>
          <a:prstGeom prst="rect">
            <a:avLst/>
          </a:prstGeom>
          <a:solidFill>
            <a:srgbClr val="11182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74320" y="3886200"/>
            <a:ext cx="502920" cy="77724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320" y="38862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60120" y="397764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unlock semantic search: retrieve by meaning, not just keywords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03504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memory for the right job.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035040" y="3840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Memory Systems</dc:title>
  <dc:subject>PptxGenJS Presentation</dc:subject>
  <dc:creator>PptxGenJS</dc:creator>
  <cp:lastModifiedBy>PptxGenJS</cp:lastModifiedBy>
  <cp:revision>1</cp:revision>
  <dcterms:created xsi:type="dcterms:W3CDTF">2026-05-07T18:55:24Z</dcterms:created>
  <dcterms:modified xsi:type="dcterms:W3CDTF">2026-05-07T18:55:24Z</dcterms:modified>
</cp:coreProperties>
</file>