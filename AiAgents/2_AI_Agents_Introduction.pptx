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AI Agents?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Autonomous and Multi-Agent AI Systems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4747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AI Agent?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1188720"/>
          </a:xfrm>
          <a:prstGeom prst="rect">
            <a:avLst/>
          </a:prstGeom>
          <a:solidFill>
            <a:srgbClr val="97BC62">
              <a:alpha val="8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716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is a software program that can perceive its environment, make decisions, and take actions to achieve specific goals with varying degrees of autonomy.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Components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57200" y="3200400"/>
            <a:ext cx="2560320" cy="1645920"/>
          </a:xfrm>
          <a:prstGeom prst="rect">
            <a:avLst/>
          </a:prstGeom>
          <a:solidFill>
            <a:srgbClr val="FAFAF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3832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40080" y="4206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sense and interpret the environment or input data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291840" y="3200400"/>
            <a:ext cx="2560320" cy="1645920"/>
          </a:xfrm>
          <a:prstGeom prst="rect">
            <a:avLst/>
          </a:prstGeom>
          <a:solidFill>
            <a:srgbClr val="FAFAF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33832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9184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3474720" y="4206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information and choosing actions based on goals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126480" y="3200400"/>
            <a:ext cx="2560320" cy="1645920"/>
          </a:xfrm>
          <a:prstGeom prst="rect">
            <a:avLst/>
          </a:prstGeom>
          <a:solidFill>
            <a:srgbClr val="FAFAF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38328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2648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6309360" y="4206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 tasks or interactions to achieve objectives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Characteristics of AI Agents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280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137160" cy="1280160"/>
          </a:xfrm>
          <a:prstGeom prst="rect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71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1737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operate independently without constant human intervention, making decisions based on their programming and learning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1280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6"/>
          <p:cNvSpPr/>
          <p:nvPr/>
        </p:nvSpPr>
        <p:spPr>
          <a:xfrm>
            <a:off x="4663440" y="1188720"/>
            <a:ext cx="137160" cy="1280160"/>
          </a:xfrm>
          <a:prstGeom prst="rect">
            <a:avLst/>
          </a:prstGeom>
          <a:solidFill>
            <a:srgbClr val="97BC6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716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371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Goal-Oriented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983480" y="1737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achieve specific objectives by planning and executing sequences of actions toward a defined outcome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2651760"/>
            <a:ext cx="4023360" cy="1280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0"/>
          <p:cNvSpPr/>
          <p:nvPr/>
        </p:nvSpPr>
        <p:spPr>
          <a:xfrm>
            <a:off x="457200" y="2651760"/>
            <a:ext cx="137160" cy="1280160"/>
          </a:xfrm>
          <a:prstGeom prst="rect">
            <a:avLst/>
          </a:prstGeom>
          <a:solidFill>
            <a:srgbClr val="2C5F2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8346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Reactivity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777240" y="32004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Perceives and responds to changes in the environment in real-time, adapting behavior based on current conditions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663440" y="2651760"/>
            <a:ext cx="4023360" cy="1280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4"/>
          <p:cNvSpPr/>
          <p:nvPr/>
        </p:nvSpPr>
        <p:spPr>
          <a:xfrm>
            <a:off x="4663440" y="2651760"/>
            <a:ext cx="137160" cy="1280160"/>
          </a:xfrm>
          <a:prstGeom prst="rect">
            <a:avLst/>
          </a:prstGeom>
          <a:solidFill>
            <a:srgbClr val="97BC6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83464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4068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Proactivity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4983480" y="32004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initiative and anticipates future needs, acting to prevent problems or seize opportunities before they arise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57200" y="4114800"/>
            <a:ext cx="4023360" cy="1280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Shape 18"/>
          <p:cNvSpPr/>
          <p:nvPr/>
        </p:nvSpPr>
        <p:spPr>
          <a:xfrm>
            <a:off x="457200" y="4114800"/>
            <a:ext cx="137160" cy="1280160"/>
          </a:xfrm>
          <a:prstGeom prst="rect">
            <a:avLst/>
          </a:prstGeom>
          <a:solidFill>
            <a:srgbClr val="2C5F2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2976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34440" y="4297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Capability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777240" y="46634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improve performance over time through experience, feedback, and data analysis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663440" y="4114800"/>
            <a:ext cx="4023360" cy="1280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Shape 22"/>
          <p:cNvSpPr/>
          <p:nvPr/>
        </p:nvSpPr>
        <p:spPr>
          <a:xfrm>
            <a:off x="4663440" y="4114800"/>
            <a:ext cx="137160" cy="1280160"/>
          </a:xfrm>
          <a:prstGeom prst="rect">
            <a:avLst/>
          </a:prstGeom>
          <a:solidFill>
            <a:srgbClr val="97BC62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429768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440680" y="4297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Ability</a:t>
            </a:r>
            <a:endParaRPr lang="en-US" sz="2000" dirty="0"/>
          </a:p>
        </p:txBody>
      </p:sp>
      <p:sp>
        <p:nvSpPr>
          <p:cNvPr id="32" name="Text 24"/>
          <p:cNvSpPr/>
          <p:nvPr/>
        </p:nvSpPr>
        <p:spPr>
          <a:xfrm>
            <a:off x="4983480" y="46634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interact with other agents and humans through communication protocols and collaboration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vs Semi-Autonomous Agents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exist on a spectrum of autonomy, from fully automated to human-in-the-loop systems.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2743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1E462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945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955280" y="164592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21945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023360" cy="24688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34640"/>
            <a:ext cx="4023360" cy="457200"/>
          </a:xfrm>
          <a:prstGeom prst="rect">
            <a:avLst/>
          </a:prstGeom>
          <a:solidFill>
            <a:srgbClr val="1E4620">
              <a:alpha val="80000"/>
            </a:srgbClr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2608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2926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Semi-Autonomous Agents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40080" y="34747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human input or approval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within defined boundaries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complex decisions to humans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400" dirty="0"/>
          </a:p>
          <a:p>
            <a:pPr lvl="1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auto-responses with approval, chatbots with human handoff, automated trading with limits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63440" y="2834640"/>
            <a:ext cx="4023360" cy="24688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Shape 12"/>
          <p:cNvSpPr/>
          <p:nvPr/>
        </p:nvSpPr>
        <p:spPr>
          <a:xfrm>
            <a:off x="4663440" y="2834640"/>
            <a:ext cx="4023360" cy="457200"/>
          </a:xfrm>
          <a:prstGeom prst="rect">
            <a:avLst/>
          </a:prstGeom>
          <a:solidFill>
            <a:srgbClr val="2C5F2D">
              <a:alpha val="80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92608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57800" y="2926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Fully Autonomous Agents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846320" y="34747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independently without oversight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all decisions automatically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unexpected situations autonomously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400" dirty="0"/>
          </a:p>
          <a:p>
            <a:pPr lvl="1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cars, automated factories, smart home systems, algorithmic trading bots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Levels of Agent Autonomy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can be classified into different levels based on their degree of independence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8229600" cy="77724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920240" y="18288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49040" y="18288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performs all tasks; agent provides no assistance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8229600" cy="7772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 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20240" y="27432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49040" y="27432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offers suggestions; human makes all decisions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7772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57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 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20240" y="36576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49040" y="36576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acts in specific scenarios; human monitors and intervenes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480560"/>
            <a:ext cx="8229600" cy="777240"/>
          </a:xfrm>
          <a:prstGeom prst="rect">
            <a:avLst/>
          </a:prstGeom>
          <a:solidFill>
            <a:srgbClr val="5C8F3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720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 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20240" y="45720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Autonomy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49040" y="45720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handles most tasks; human intervention only for edge cases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394960"/>
            <a:ext cx="8229600" cy="777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4864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 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920240" y="54864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749040" y="54864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operates completely independently in all scenarios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Agent Systems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371600" cy="13716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002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16459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agent operates independently to accomplish tasks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Characteristics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329184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in isolation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complete control over its domain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decisions independently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need to coordinate with other agents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to design and implement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754880" y="2834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Examples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754880" y="3291840"/>
            <a:ext cx="393192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7"/>
          <p:cNvSpPr/>
          <p:nvPr/>
        </p:nvSpPr>
        <p:spPr>
          <a:xfrm>
            <a:off x="4937760" y="33832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Personal Assistants</a:t>
            </a:r>
            <a:endParaRPr lang="en-US" sz="1500" dirty="0"/>
          </a:p>
          <a:p>
            <a:pPr lvl="1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Siri, Alexa, Google Assistant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1500" dirty="0"/>
          </a:p>
          <a:p>
            <a:pPr lvl="1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Netflix, Spotify, Amazon product suggestions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Service Chatbots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Scheduling and Calendar Management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Systems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463040" y="164592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7830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5840" y="1645920"/>
            <a:ext cx="822960" cy="36576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28016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457200" cy="457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383280" y="1645920"/>
            <a:ext cx="-1554480" cy="36576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017520" y="128016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417320"/>
            <a:ext cx="457200" cy="4572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005840" y="3108960"/>
            <a:ext cx="822960" cy="-109728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80360"/>
            <a:ext cx="457200" cy="4572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383280" y="3108960"/>
            <a:ext cx="-1554480" cy="-109728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3017520" y="274320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2880360"/>
            <a:ext cx="457200" cy="4572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00400" y="1463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agents collaborate to solve complex problems</a:t>
            </a:r>
            <a:endParaRPr lang="en-US" sz="2000" dirty="0"/>
          </a:p>
        </p:txBody>
      </p:sp>
      <p:sp>
        <p:nvSpPr>
          <p:cNvPr id="18" name="Text 11"/>
          <p:cNvSpPr/>
          <p:nvPr/>
        </p:nvSpPr>
        <p:spPr>
          <a:xfrm>
            <a:off x="457200" y="3200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19" name="Text 12"/>
          <p:cNvSpPr/>
          <p:nvPr/>
        </p:nvSpPr>
        <p:spPr>
          <a:xfrm>
            <a:off x="457200" y="3657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problem-solving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and coordination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roles for different agents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collective behavior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and fault tolerance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4754880" y="3200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Advantages</a:t>
            </a:r>
            <a:endParaRPr lang="en-US" sz="2400" dirty="0"/>
          </a:p>
        </p:txBody>
      </p:sp>
      <p:sp>
        <p:nvSpPr>
          <p:cNvPr id="21" name="Shape 14"/>
          <p:cNvSpPr/>
          <p:nvPr/>
        </p:nvSpPr>
        <p:spPr>
          <a:xfrm>
            <a:off x="4754880" y="3657600"/>
            <a:ext cx="393192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15"/>
          <p:cNvSpPr/>
          <p:nvPr/>
        </p:nvSpPr>
        <p:spPr>
          <a:xfrm>
            <a:off x="4937760" y="37490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complex, large-scale problems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processing increases efficiency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- system continues if one agent fails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to add or remove agents dynamically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System Architectures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103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solidFill>
            <a:srgbClr val="2C5F2D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Cooperative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work together toward common goals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information and resources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actions for optimal outcomes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Warehouse robots coordinating to fulfill orders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2103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solidFill>
            <a:srgbClr val="D97706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pursue conflicting objectives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for limited resources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decision-making against others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Game-playing AI agents or market trading bots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3931920" cy="2103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566160"/>
            <a:ext cx="3931920" cy="457200"/>
          </a:xfrm>
          <a:prstGeom prst="rect">
            <a:avLst/>
          </a:prstGeom>
          <a:solidFill>
            <a:srgbClr val="97BC62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66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Hierarchical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organized in supervisor-subordinate structure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Higher-level agents delegate tasks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chain of command and responsibility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Manufacturing control systems with manager agents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3566160"/>
            <a:ext cx="3931920" cy="2103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3566160"/>
            <a:ext cx="3931920" cy="457200"/>
          </a:xfrm>
          <a:prstGeom prst="rect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566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Distributed/Peer-to-Peer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37760" y="42062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have equal status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control or coordination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Self-organization through local interactions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Blockchain networks or distributed sensor networks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System Examples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417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137160" cy="14173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Vehicle Fleets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 communicate to optimize traffic flow, coordinate lane changes, and avoid collisions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417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4663440" y="1188720"/>
            <a:ext cx="137160" cy="14173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Grid Management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83480" y="1737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manage power generation, distribution, and consumption across the electrical grid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4023360" cy="1417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788920"/>
            <a:ext cx="137160" cy="14173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E-commerce and Supply Chain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33375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handle inventory, pricing, supplier negotiations, and logistics coordination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788920"/>
            <a:ext cx="4023360" cy="1417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2788920"/>
            <a:ext cx="137160" cy="14173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Gaming NPCs and Simulations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83480" y="33375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Non-player characters with independent behaviors create realistic, dynamic game worlds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4023360" cy="1417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4389120"/>
            <a:ext cx="137160" cy="14173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572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Coordination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49377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coordinate patient scheduling, resource allocation, and treatment recommendations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4389120"/>
            <a:ext cx="4023360" cy="1417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4389120"/>
            <a:ext cx="137160" cy="14173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4572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Trading Systems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983480" y="49377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agents analyze markets, execute trades, and manage portfolios autonomously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vs Multi-Agent Systems</a:t>
            </a:r>
            <a:endParaRPr lang="en-US" sz="4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84048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Single Agent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Multi-Agent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Complexity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Simple to design and implement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More complex with coordination needs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Scalability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Limited by single agent's capacity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Highly scalable by adding agents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Problem Scope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Best for focused, well-defined tasks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Handles complex, distributed problems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Fault Tolerance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Single point of failure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Robust - continues if agents fail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Decision Making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Centralized with full information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Distributed with partial information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Communication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No inter-agent communication needed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Requires protocols and coordination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Best Use Cases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Personal assistants, chatbots, recommendations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Robotics, smart grids, autonomous vehicles, trading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4864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920240"/>
            <a:ext cx="3931920" cy="1188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280160" y="21031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 autonomous systems that perceive, decide, and act to achieve goals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754880" y="1920240"/>
            <a:ext cx="3931920" cy="1188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493776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577840" y="21031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exists on a spectrum from assisted to fully independent operation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291840"/>
            <a:ext cx="3931920" cy="1188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1280160" y="34747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agents excel at focused tasks while multi-agent systems tackle complex problems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754880" y="3291840"/>
            <a:ext cx="3931920" cy="1188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5577840" y="34747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 offer scalability, robustness, and distributed problem-solving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7200" y="4663440"/>
            <a:ext cx="8229600" cy="640080"/>
          </a:xfrm>
          <a:prstGeom prst="rect">
            <a:avLst/>
          </a:prstGeom>
          <a:solidFill>
            <a:srgbClr val="97BC62">
              <a:alpha val="7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754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between single and multi-agent systems depends on problem complexity, scale, and coordination requirements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AI Agents and Their Systems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2918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single autonomous agents to complex multi-agent systems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are AI Agents?</dc:title>
  <dc:subject>PptxGenJS Presentation</dc:subject>
  <dc:creator>AI Agents Guide</dc:creator>
  <cp:lastModifiedBy>AI Agents Guide</cp:lastModifiedBy>
  <cp:revision>1</cp:revision>
  <dcterms:created xsi:type="dcterms:W3CDTF">2026-05-07T18:01:31Z</dcterms:created>
  <dcterms:modified xsi:type="dcterms:W3CDTF">2026-05-07T18:01:31Z</dcterms:modified>
</cp:coreProperties>
</file>