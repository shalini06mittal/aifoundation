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2A829"/>
          </a:solidFill>
          <a:ln w="12700">
            <a:solidFill>
              <a:srgbClr val="E2A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Look at Reactive, Deliberative, Hybrid &amp; Learning Agents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" y="3017520"/>
            <a:ext cx="169164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017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52344" y="3017520"/>
            <a:ext cx="1691640" cy="548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2344" y="3017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0016" y="3017520"/>
            <a:ext cx="16916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3017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47688" y="3017520"/>
            <a:ext cx="1691640" cy="548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47688" y="30175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96312" y="3291840"/>
            <a:ext cx="4151376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0" y="475488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 Series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E2A829"/>
          </a:solidFill>
          <a:ln w="12700">
            <a:solidFill>
              <a:srgbClr val="E2A82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Four Agent Archetypes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45720"/>
          </a:xfrm>
          <a:prstGeom prst="rect">
            <a:avLst/>
          </a:prstGeom>
          <a:solidFill>
            <a:srgbClr val="E2A829"/>
          </a:solidFill>
          <a:ln w="12700">
            <a:solidFill>
              <a:srgbClr val="E2A8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differ fundamentally in how they process information, make decisions, and adapt over time. Understanding each type helps in selecting the right architecture for any given problem.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920240" cy="2606040"/>
          </a:xfrm>
          <a:prstGeom prst="rect">
            <a:avLst/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920240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0352" y="25877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→ Response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898648"/>
            <a:ext cx="1463040" cy="0"/>
          </a:xfrm>
          <a:prstGeom prst="line">
            <a:avLst/>
          </a:prstGeom>
          <a:noFill/>
          <a:ln w="9525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0088"/>
            <a:ext cx="17373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directly on current input with no internal model. Fast, simple, real-time.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0" y="1691640"/>
            <a:ext cx="1920240" cy="260604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691640"/>
            <a:ext cx="1920240" cy="82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7830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60320" y="22585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33472" y="25877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2898648"/>
            <a:ext cx="1463040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990088"/>
            <a:ext cx="17373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internal world model and reasons through plans before acting.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920240" cy="2606040"/>
          </a:xfrm>
          <a:prstGeom prst="rect">
            <a:avLst/>
          </a:prstGeom>
          <a:solidFill>
            <a:srgbClr val="F5F3FF"/>
          </a:solidFill>
          <a:ln w="1524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691640"/>
            <a:ext cx="19202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7830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63440" y="22585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36592" y="25877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Plan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898648"/>
            <a:ext cx="1463040" cy="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90088"/>
            <a:ext cx="17373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fast reactive layers with deliberative planning for flexibility.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1691640"/>
            <a:ext cx="1920240" cy="260604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691640"/>
            <a:ext cx="1920240" cy="822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7830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766560" y="225856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39712" y="2587752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→ Improve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95160" y="2898648"/>
            <a:ext cx="146304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990088"/>
            <a:ext cx="173736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behaviour over time using feedback, rewards, or example data.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Adaptability →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19072" y="4626864"/>
            <a:ext cx="219456" cy="21945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2272" y="4626864"/>
            <a:ext cx="219456" cy="21945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05472" y="462686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48672" y="4626864"/>
            <a:ext cx="219456" cy="21945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1051560"/>
          </a:xfrm>
          <a:prstGeom prst="rect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8288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371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REACTIVE AGENTS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 → Response  |  No Internal State  |  Real-Time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agents respond directly to environmental stimuli using pre-defined condition-action rules. They maintain no memory of past events and do not build internal models of the world — making them extremely fast but limited in scope.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3977640" cy="2834640"/>
          </a:xfrm>
          <a:prstGeom prst="rect">
            <a:avLst/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3977640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11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505456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25054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3232" y="24505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Perceives current environment state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3008376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0083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3232" y="295351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state to condition-action rules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" y="3511296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5112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3232" y="34564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fires corresponding action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1480" y="4014216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40142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13232" y="395935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planning, memory, or learning involved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434840" y="1920240"/>
            <a:ext cx="4434840" cy="2834640"/>
          </a:xfrm>
          <a:prstGeom prst="rect">
            <a:avLst/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34840" y="1920240"/>
            <a:ext cx="4434840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34840" y="201168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&amp; Trade-offs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57200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0" y="26974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Extremely fast response time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0" y="3044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 to design and debug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0" y="33924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 computational cost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583680" y="2423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583680" y="26974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handle complex situations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583680" y="304495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learning or adaptation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83680" y="339242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Brittle in novel environments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0" y="3794760"/>
            <a:ext cx="4160520" cy="0"/>
          </a:xfrm>
          <a:prstGeom prst="line">
            <a:avLst/>
          </a:prstGeom>
          <a:noFill/>
          <a:ln w="9525">
            <a:solidFill>
              <a:srgbClr val="99F6E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0" y="385876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 Thermostats  ·  Traffic lights  ·  Video game NPCs  ·  Spam filters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274320" y="4919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406640" y="49194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10515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8288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371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DELIBERATIVE AGENTS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World  |  Plan Ahead  |  Goal-Oriented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 agents maintain an internal symbolic model of the world, reason about possible future states, and generate action plans to achieve specified goals. They trade speed for depth of understanding.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3977640" cy="283464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3977640" cy="82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11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BDI Architecture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487168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487168"/>
            <a:ext cx="82296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25237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" y="279806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knowledge of the current world state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11480" y="3218688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3218688"/>
            <a:ext cx="82296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2552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35295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or outcomes the agent wants to achieve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11480" y="3950208"/>
            <a:ext cx="3703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950208"/>
            <a:ext cx="82296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398678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42611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plans the agent will carry out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34840" y="1920240"/>
            <a:ext cx="4434840" cy="283464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34840" y="1920240"/>
            <a:ext cx="4434840" cy="82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34840" y="201168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Trade-offs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0" y="2450592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36008" y="245973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Sense world state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72200" y="2798064"/>
            <a:ext cx="0" cy="54864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0" y="2852928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36008" y="286207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Update internal model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72200" y="3200400"/>
            <a:ext cx="0" cy="54864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0" y="3255264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36008" y="326440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Search for action plans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172200" y="3602736"/>
            <a:ext cx="0" cy="54864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0" y="3657600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36008" y="366674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Evaluate plans against goals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172200" y="4005072"/>
            <a:ext cx="0" cy="54864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4059936"/>
            <a:ext cx="32461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36008" y="406908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Execute best plan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572000" y="4370832"/>
            <a:ext cx="3246120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0" y="4434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 Chess engines  ·  Route planning  ·  Robot navigation  ·  Scheduling systems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74320" y="4919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406640" y="49194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105156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8288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371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HYBRID AGENTS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Speed  +  Deliberative Depth  |  Layered 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agents combine a fast reactive layer (for immediate responses) with a slower deliberative layer (for planning and reasoning). Each layer operates independently but can influence the other, offering both speed and intelligence.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3977640" cy="2834640"/>
          </a:xfrm>
          <a:prstGeom prst="rect">
            <a:avLst/>
          </a:prstGeom>
          <a:solidFill>
            <a:srgbClr val="F5F3FF"/>
          </a:solidFill>
          <a:ln w="1524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39776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11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468880"/>
            <a:ext cx="3703320" cy="603504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468880"/>
            <a:ext cx="82296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250545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 Layer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" y="2770632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reasoning, long-term planning, world model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148840" y="3072384"/>
            <a:ext cx="0" cy="10972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3182112"/>
            <a:ext cx="3703320" cy="603504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3182112"/>
            <a:ext cx="82296" cy="60350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" y="3218688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Layer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6072" y="348386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coordination, behaviour sequencing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148840" y="3785616"/>
            <a:ext cx="0" cy="109728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3895344"/>
            <a:ext cx="3703320" cy="603504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3895344"/>
            <a:ext cx="82296" cy="6035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" y="3931920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Layer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6072" y="4197096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reflex responses to environment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434840" y="1920240"/>
            <a:ext cx="4434840" cy="2834640"/>
          </a:xfrm>
          <a:prstGeom prst="rect">
            <a:avLst/>
          </a:prstGeom>
          <a:solidFill>
            <a:srgbClr val="F5F3FF"/>
          </a:solidFill>
          <a:ln w="1524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34840" y="1920240"/>
            <a:ext cx="44348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34840" y="201168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0" y="2450592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0" y="2450592"/>
            <a:ext cx="82296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2487168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27448" y="2761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layer handles time-critical actions instantly without waiting for deliberation.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572000" y="3200400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0" y="3200400"/>
            <a:ext cx="82296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27448" y="3236976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727448" y="35112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fall back to reactive behaviour when planning is too slow or model is incomplete.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572000" y="3950208"/>
            <a:ext cx="3246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0" y="3950208"/>
            <a:ext cx="82296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27448" y="3986784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27448" y="42611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 layer can override or guide reactive responses for complex goals.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72000" y="4681728"/>
            <a:ext cx="3246120" cy="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72000" y="473659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 Autonomous robots  ·  Self-driving cars  ·  Drone control  ·  Industrial automation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274320" y="4919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406640" y="49194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8288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371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LEARNING AGENTS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9601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from Experience  |  Improve over Time  |  Data-Driven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1170432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agents autonomously improve their behaviour based on experience, feedback, or reward signals. They can start with minimal knowledge and develop increasingly sophisticated strategies through interaction with their environment.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920240"/>
            <a:ext cx="3977640" cy="283464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920240"/>
            <a:ext cx="3977640" cy="822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011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468880"/>
            <a:ext cx="3703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468880"/>
            <a:ext cx="82296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" y="249631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Element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6072" y="270662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behaviour based on feedback and past experience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3017520"/>
            <a:ext cx="3703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1480" y="3017520"/>
            <a:ext cx="82296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" y="30449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Element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6072" y="325526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actions and executes them in the environment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566160"/>
            <a:ext cx="3703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566160"/>
            <a:ext cx="82296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359359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6072" y="380390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how well the agent is performing vs. its standard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1480" y="4114800"/>
            <a:ext cx="37033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1480" y="4114800"/>
            <a:ext cx="82296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6072" y="414223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Generator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76072" y="435254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new actions to explore and gather more experience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34840" y="1920240"/>
            <a:ext cx="4434840" cy="283464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34840" y="1920240"/>
            <a:ext cx="4434840" cy="822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34840" y="201168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Approaches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0" y="2450592"/>
            <a:ext cx="3246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45152" y="247802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645152" y="26974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input-output examples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0" y="2999232"/>
            <a:ext cx="3246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45152" y="302666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645152" y="32461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maximising cumulative reward signals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572000" y="3547872"/>
            <a:ext cx="3246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645152" y="35753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645152" y="37947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patterns from unlabelled data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572000" y="4096512"/>
            <a:ext cx="32461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45152" y="41239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645152" y="43434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prior knowledge to new tasks or domains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572000" y="4645152"/>
            <a:ext cx="324612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 ChatGPT  ·  AlphaGo  ·  Recommendation engines  ·  Fraud detection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274320" y="4919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AI Agents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406640" y="49194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45720"/>
          </a:xfrm>
          <a:prstGeom prst="rect">
            <a:avLst/>
          </a:prstGeom>
          <a:solidFill>
            <a:srgbClr val="E2A829"/>
          </a:solidFill>
          <a:ln w="12700">
            <a:solidFill>
              <a:srgbClr val="E2A8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1645920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987552"/>
            <a:ext cx="164592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987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987552"/>
            <a:ext cx="164592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987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94960" y="987552"/>
            <a:ext cx="1645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987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987552"/>
            <a:ext cx="164592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987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137160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39903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03120" y="137160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6272" y="139903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39903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world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37160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39903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371600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4032" y="139903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1901952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1929384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03120" y="1901952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1929384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1901952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1929384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plans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1901952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1929384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901952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14032" y="1929384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432304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2459736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103120" y="2432304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2459736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2432304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22192" y="2459736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2432304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68112" y="2459736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2432304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2459736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2962656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2990088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103120" y="2962656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76272" y="2990088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2962656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22192" y="2990088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2962656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2990088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040880" y="2962656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14032" y="2990088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493008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" y="3520440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103120" y="3493008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76272" y="3520440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49040" y="3493008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22192" y="3520440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394960" y="3493008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68112" y="3520440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40880" y="3493008"/>
            <a:ext cx="1645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14032" y="3520440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023360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" y="405079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103120" y="4023360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76272" y="405079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tasks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49040" y="4023360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22192" y="405079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goals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394960" y="4023360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68112" y="405079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envs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040880" y="4023360"/>
            <a:ext cx="16459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14032" y="4050792"/>
            <a:ext cx="1499616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tasks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Agent Type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45720"/>
          </a:xfrm>
          <a:prstGeom prst="rect">
            <a:avLst/>
          </a:prstGeom>
          <a:solidFill>
            <a:srgbClr val="E2A829"/>
          </a:solidFill>
          <a:ln w="12700">
            <a:solidFill>
              <a:srgbClr val="E2A8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agent type depends on your task's time constraints, complexity, and need for adaptability. Use this guide to match your requirements: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920240" cy="3017520"/>
          </a:xfrm>
          <a:prstGeom prst="rect">
            <a:avLst/>
          </a:prstGeom>
          <a:solidFill>
            <a:srgbClr val="F0FDFA"/>
          </a:solidFill>
          <a:ln w="15240">
            <a:solidFill>
              <a:srgbClr val="99F6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72768"/>
            <a:ext cx="1920240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8249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Reactive when…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1737360" cy="0"/>
          </a:xfrm>
          <a:prstGeom prst="line">
            <a:avLst/>
          </a:prstGeom>
          <a:noFill/>
          <a:ln w="9525">
            <a:solidFill>
              <a:srgbClr val="99F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 is critical (&lt; ms)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 is well-defined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or planning not required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8221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compute resources available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0" y="1572768"/>
            <a:ext cx="1920240" cy="3017520"/>
          </a:xfrm>
          <a:prstGeom prst="rect">
            <a:avLst/>
          </a:prstGeom>
          <a:solidFill>
            <a:srgbClr val="EFF6FF"/>
          </a:solidFill>
          <a:ln w="1524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572768"/>
            <a:ext cx="1920240" cy="82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68249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Deliberative when…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51760" y="2212848"/>
            <a:ext cx="1737360" cy="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multi-step goals exist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7980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world knowledge is available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51760" y="3310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response is acceptable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51760" y="38221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is needed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572768"/>
            <a:ext cx="1920240" cy="3017520"/>
          </a:xfrm>
          <a:prstGeom prst="rect">
            <a:avLst/>
          </a:prstGeom>
          <a:solidFill>
            <a:srgbClr val="F5F3FF"/>
          </a:solidFill>
          <a:ln w="15240">
            <a:solidFill>
              <a:srgbClr val="DDD6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572768"/>
            <a:ext cx="19202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8249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Hybrid when…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1737360" cy="0"/>
          </a:xfrm>
          <a:prstGeom prst="line">
            <a:avLst/>
          </a:prstGeom>
          <a:noFill/>
          <a:ln w="9525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 dynamic &amp; complex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27980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speed and planning are needed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310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decisions required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38221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robotics or autonomy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1572768"/>
            <a:ext cx="1920240" cy="3017520"/>
          </a:xfrm>
          <a:prstGeom prst="rect">
            <a:avLst/>
          </a:prstGeom>
          <a:solidFill>
            <a:srgbClr val="FFFBEB"/>
          </a:solidFill>
          <a:ln w="15240">
            <a:solidFill>
              <a:srgbClr val="FDE68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1572768"/>
            <a:ext cx="1920240" cy="822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68249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Learning when…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58000" y="2212848"/>
            <a:ext cx="1737360" cy="0"/>
          </a:xfrm>
          <a:prstGeom prst="line">
            <a:avLst/>
          </a:prstGeom>
          <a:noFill/>
          <a:ln w="9525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is too complex to hand-code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58000" y="27980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training data is available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0" y="33101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must improve over time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38221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rules keep changing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E2A829"/>
          </a:solidFill>
          <a:ln w="12700">
            <a:solidFill>
              <a:srgbClr val="E2A8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6632"/>
            <a:ext cx="9144000" cy="82296"/>
          </a:xfrm>
          <a:prstGeom prst="rect">
            <a:avLst/>
          </a:prstGeom>
          <a:solidFill>
            <a:srgbClr val="E2A829"/>
          </a:solidFill>
          <a:ln w="12700">
            <a:solidFill>
              <a:srgbClr val="E2A8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920240" cy="3200400"/>
          </a:xfrm>
          <a:prstGeom prst="rect">
            <a:avLst/>
          </a:prstGeom>
          <a:solidFill>
            <a:srgbClr val="0A3D38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1920240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975104"/>
            <a:ext cx="1280160" cy="0"/>
          </a:xfrm>
          <a:prstGeom prst="line">
            <a:avLst/>
          </a:prstGeom>
          <a:noFill/>
          <a:ln w="952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66544"/>
            <a:ext cx="170078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rule-based agents that respond to stimuli with no memory or planning — ideal for real-time, constrained tasks.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987552"/>
            <a:ext cx="1920240" cy="3200400"/>
          </a:xfrm>
          <a:prstGeom prst="rect">
            <a:avLst/>
          </a:prstGeom>
          <a:solidFill>
            <a:srgbClr val="1E3A7A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987552"/>
            <a:ext cx="1920240" cy="822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0972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1581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80360" y="1975104"/>
            <a:ext cx="1280160" cy="0"/>
          </a:xfrm>
          <a:prstGeom prst="line">
            <a:avLst/>
          </a:prstGeom>
          <a:noFill/>
          <a:ln w="9525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2066544"/>
            <a:ext cx="170078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agents that build world representations and plan sequences of actions to reach complex goals.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987552"/>
            <a:ext cx="1920240" cy="3200400"/>
          </a:xfrm>
          <a:prstGeom prst="rect">
            <a:avLst/>
          </a:prstGeom>
          <a:solidFill>
            <a:srgbClr val="3B1F7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87552"/>
            <a:ext cx="1920240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972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63440" y="1581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1975104"/>
            <a:ext cx="1280160" cy="0"/>
          </a:xfrm>
          <a:prstGeom prst="line">
            <a:avLst/>
          </a:prstGeom>
          <a:noFill/>
          <a:ln w="9525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066544"/>
            <a:ext cx="170078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agents combining reactive reflexes and deliberative planning for dynamic, real-world environments.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987552"/>
            <a:ext cx="1920240" cy="3200400"/>
          </a:xfrm>
          <a:prstGeom prst="rect">
            <a:avLst/>
          </a:prstGeom>
          <a:solidFill>
            <a:srgbClr val="5C3006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987552"/>
            <a:ext cx="1920240" cy="822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09728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66560" y="1581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86600" y="1975104"/>
            <a:ext cx="1280160" cy="0"/>
          </a:xfrm>
          <a:prstGeom prst="line">
            <a:avLst/>
          </a:prstGeom>
          <a:noFill/>
          <a:ln w="9525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2066544"/>
            <a:ext cx="170078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agents that improve over time through experience, feedback, and various machine learning strategies.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AI Agents</dc:title>
  <dc:subject>PptxGenJS Presentation</dc:subject>
  <dc:creator>PptxGenJS</dc:creator>
  <cp:lastModifiedBy>PptxGenJS</cp:lastModifiedBy>
  <cp:revision>1</cp:revision>
  <dcterms:created xsi:type="dcterms:W3CDTF">2026-05-07T18:06:53Z</dcterms:created>
  <dcterms:modified xsi:type="dcterms:W3CDTF">2026-05-07T18:06:53Z</dcterms:modified>
</cp:coreProperties>
</file>