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2286000"/>
            <a:ext cx="1828800" cy="182880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3200400"/>
            <a:ext cx="914400" cy="91440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48640"/>
            <a:ext cx="1280160" cy="411480"/>
          </a:xfrm>
          <a:prstGeom prst="roundRect">
            <a:avLst>
              <a:gd name="adj" fmla="val 22222"/>
            </a:avLst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54864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n8n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" y="11887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Automation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0040" y="20574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Everyone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20040" y="2880360"/>
            <a:ext cx="5943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apps, automate tasks, and build powerful workflows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writing a single line of code.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0040" y="4389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6D00"/>
                </a:solidFill>
              </a:rPr>
              <a:t>What · Why · Who · How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4560"/>
                </a:solidFill>
              </a:rPr>
              <a:t>WHAT 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n8n?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is an open-source, self-hostable workflow automation tool that lets you connect apps, APIs, and services using a visual drag-and-drop interface — with code escapes when you need them.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28600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🔗  Connect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350+ built-in integrations with apps like Slack, Google Sheets, Notion, GitHub, and more.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28600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228600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 Automate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workflows on schedules, webhooks, or events to automate repetitive tasks.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09360" y="2286000"/>
            <a:ext cx="27432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2286000"/>
            <a:ext cx="274320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4231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🛠  Customize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926080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JavaScript/Python nodes for custom logic when no-code isn't enough.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6D00"/>
                </a:solidFill>
              </a:rPr>
              <a:t>WHY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n8n?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51560"/>
            <a:ext cx="2651760" cy="15087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051560"/>
            <a:ext cx="64008" cy="15087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161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🔓  Open Source &amp; Free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it yourself — no per-task pricing. Full code transparency and community support.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2651760" cy="15087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154680" y="1051560"/>
            <a:ext cx="64008" cy="1508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3319272" y="1161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 Self-Hostable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19272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data on your own servers. Perfect for privacy-conscious teams and enterprises.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89320" y="1051560"/>
            <a:ext cx="2651760" cy="15087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89320" y="1051560"/>
            <a:ext cx="64008" cy="1508760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5" name="Text 13"/>
          <p:cNvSpPr/>
          <p:nvPr/>
        </p:nvSpPr>
        <p:spPr>
          <a:xfrm>
            <a:off x="6153912" y="11612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💡  Fair Code License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53912" y="160020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personal/internal use. Source-available so you can audit and customize freely.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743200"/>
            <a:ext cx="2651760" cy="15087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743200"/>
            <a:ext cx="64008" cy="150876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🧩  Highly Extensible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custom nodes, use npm packages, and integrate with any REST API or database.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54680" y="2743200"/>
            <a:ext cx="2651760" cy="15087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154680" y="2743200"/>
            <a:ext cx="64008" cy="1508760"/>
          </a:xfrm>
          <a:prstGeom prst="rect">
            <a:avLst/>
          </a:prstGeom>
          <a:solidFill>
            <a:srgbClr val="CE93D8"/>
          </a:solidFill>
          <a:ln/>
        </p:spPr>
      </p:sp>
      <p:sp>
        <p:nvSpPr>
          <p:cNvPr id="23" name="Text 21"/>
          <p:cNvSpPr/>
          <p:nvPr/>
        </p:nvSpPr>
        <p:spPr>
          <a:xfrm>
            <a:off x="3319272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🆚  vs. Zapier / Make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1927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task limits, no black-box pricing surprises. 10x more flexible for technical users.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89320" y="2743200"/>
            <a:ext cx="2651760" cy="15087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76200" dist="25400" dir="162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89320" y="2743200"/>
            <a:ext cx="64008" cy="1508760"/>
          </a:xfrm>
          <a:prstGeom prst="rect">
            <a:avLst/>
          </a:prstGeom>
          <a:solidFill>
            <a:srgbClr val="80CBC4"/>
          </a:solidFill>
          <a:ln/>
        </p:spPr>
      </p:sp>
      <p:sp>
        <p:nvSpPr>
          <p:cNvPr id="27" name="Text 25"/>
          <p:cNvSpPr/>
          <p:nvPr/>
        </p:nvSpPr>
        <p:spPr>
          <a:xfrm>
            <a:off x="6153912" y="285292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 AI-Native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5391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AI agent nodes — connect LLMs, vector databases, and build AI workflows.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WHO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Should Use n8n?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011680" cy="73152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051560"/>
            <a:ext cx="20116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👨‍💻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74320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945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Developers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03120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internal tools fast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761488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" y="26883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API integrations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1480" y="3419856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CI/CD pipelines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4078224"/>
            <a:ext cx="128016" cy="128016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" y="4005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AI workflows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32304" y="105156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32304" y="1051560"/>
            <a:ext cx="2011680" cy="73152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20" name="Shape 18"/>
          <p:cNvSpPr/>
          <p:nvPr/>
        </p:nvSpPr>
        <p:spPr>
          <a:xfrm>
            <a:off x="2432304" y="1051560"/>
            <a:ext cx="20116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2432304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432304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Operations Teams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569464" y="2103120"/>
            <a:ext cx="128016" cy="12801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4" name="Text 22"/>
          <p:cNvSpPr/>
          <p:nvPr/>
        </p:nvSpPr>
        <p:spPr>
          <a:xfrm>
            <a:off x="2779776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data across tools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569464" y="2761488"/>
            <a:ext cx="128016" cy="12801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6" name="Text 24"/>
          <p:cNvSpPr/>
          <p:nvPr/>
        </p:nvSpPr>
        <p:spPr>
          <a:xfrm>
            <a:off x="2779776" y="26883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reports &amp; alerts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569464" y="3419856"/>
            <a:ext cx="128016" cy="12801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28" name="Text 26"/>
          <p:cNvSpPr/>
          <p:nvPr/>
        </p:nvSpPr>
        <p:spPr>
          <a:xfrm>
            <a:off x="2779776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HR/Finance flows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569464" y="4078224"/>
            <a:ext cx="128016" cy="128016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30" name="Text 28"/>
          <p:cNvSpPr/>
          <p:nvPr/>
        </p:nvSpPr>
        <p:spPr>
          <a:xfrm>
            <a:off x="2779776" y="4005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friendly UI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90288" y="105156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90288" y="1051560"/>
            <a:ext cx="2011680" cy="73152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3" name="Shape 31"/>
          <p:cNvSpPr/>
          <p:nvPr/>
        </p:nvSpPr>
        <p:spPr>
          <a:xfrm>
            <a:off x="4590288" y="1051560"/>
            <a:ext cx="20116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4" name="Text 32"/>
          <p:cNvSpPr/>
          <p:nvPr/>
        </p:nvSpPr>
        <p:spPr>
          <a:xfrm>
            <a:off x="4590288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4590288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Startups &amp; SMBs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27448" y="2103120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expensive tools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27448" y="2761488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26883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 &amp; save costs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27448" y="3419856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41" name="Text 39"/>
          <p:cNvSpPr/>
          <p:nvPr/>
        </p:nvSpPr>
        <p:spPr>
          <a:xfrm>
            <a:off x="4937760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automations freely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727448" y="4078224"/>
            <a:ext cx="128016" cy="128016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4005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MVP automation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6748272" y="1051560"/>
            <a:ext cx="201168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748272" y="1051560"/>
            <a:ext cx="2011680" cy="7315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6" name="Shape 44"/>
          <p:cNvSpPr/>
          <p:nvPr/>
        </p:nvSpPr>
        <p:spPr>
          <a:xfrm>
            <a:off x="6748272" y="1051560"/>
            <a:ext cx="2011680" cy="8686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7" name="Text 45"/>
          <p:cNvSpPr/>
          <p:nvPr/>
        </p:nvSpPr>
        <p:spPr>
          <a:xfrm>
            <a:off x="6748272" y="1097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🔬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6748272" y="15087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89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AI Teams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885432" y="2103120"/>
            <a:ext cx="128016" cy="12801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0" name="Text 48"/>
          <p:cNvSpPr/>
          <p:nvPr/>
        </p:nvSpPr>
        <p:spPr>
          <a:xfrm>
            <a:off x="7095744" y="202996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&amp; data pipelines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885432" y="2761488"/>
            <a:ext cx="128016" cy="12801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2" name="Text 50"/>
          <p:cNvSpPr/>
          <p:nvPr/>
        </p:nvSpPr>
        <p:spPr>
          <a:xfrm>
            <a:off x="7095744" y="2688336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agent workflows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885432" y="3419856"/>
            <a:ext cx="128016" cy="12801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4" name="Text 52"/>
          <p:cNvSpPr/>
          <p:nvPr/>
        </p:nvSpPr>
        <p:spPr>
          <a:xfrm>
            <a:off x="7095744" y="3346704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 integrations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6885432" y="4078224"/>
            <a:ext cx="128016" cy="128016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56" name="Text 54"/>
          <p:cNvSpPr/>
          <p:nvPr/>
        </p:nvSpPr>
        <p:spPr>
          <a:xfrm>
            <a:off x="7095744" y="40050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ML jobs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94560"/>
                </a:solidFill>
              </a:rPr>
              <a:t>SIMPLE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Example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New Support Email → Auto-route to Slack &amp; Log to Sheets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1920240" cy="2286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508760"/>
            <a:ext cx="1920240" cy="54864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" y="1645920"/>
            <a:ext cx="594360" cy="594360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9" name="Text 7"/>
          <p:cNvSpPr/>
          <p:nvPr/>
        </p:nvSpPr>
        <p:spPr>
          <a:xfrm>
            <a:off x="941832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Gmail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2971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212848" y="2633472"/>
            <a:ext cx="365760" cy="0"/>
          </a:xfrm>
          <a:prstGeom prst="line">
            <a:avLst/>
          </a:prstGeom>
          <a:noFill/>
          <a:ln w="31750">
            <a:solidFill>
              <a:srgbClr val="FF6D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50592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D00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1508760"/>
            <a:ext cx="1920240" cy="2286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331720" y="1508760"/>
            <a:ext cx="1920240" cy="54864"/>
          </a:xfrm>
          <a:prstGeom prst="rect">
            <a:avLst/>
          </a:prstGeom>
          <a:solidFill>
            <a:srgbClr val="FF6D00"/>
          </a:solidFill>
          <a:ln/>
        </p:spPr>
      </p:sp>
      <p:sp>
        <p:nvSpPr>
          <p:cNvPr id="16" name="Shape 14"/>
          <p:cNvSpPr/>
          <p:nvPr/>
        </p:nvSpPr>
        <p:spPr>
          <a:xfrm>
            <a:off x="2999232" y="1645920"/>
            <a:ext cx="594360" cy="594360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7" name="Text 15"/>
          <p:cNvSpPr/>
          <p:nvPr/>
        </p:nvSpPr>
        <p:spPr>
          <a:xfrm>
            <a:off x="2999232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42316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 Node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(Filter)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423160" y="2971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has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'support'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2633472"/>
            <a:ext cx="365760" cy="0"/>
          </a:xfrm>
          <a:prstGeom prst="line">
            <a:avLst/>
          </a:prstGeom>
          <a:noFill/>
          <a:ln w="31750">
            <a:solidFill>
              <a:srgbClr val="FF6D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07992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D00"/>
                </a:solidFill>
              </a:rPr>
              <a:t>▶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389120" y="1508760"/>
            <a:ext cx="1920240" cy="2286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1508760"/>
            <a:ext cx="192024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4" name="Shape 22"/>
          <p:cNvSpPr/>
          <p:nvPr/>
        </p:nvSpPr>
        <p:spPr>
          <a:xfrm>
            <a:off x="5056632" y="1645920"/>
            <a:ext cx="594360" cy="59436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5" name="Text 23"/>
          <p:cNvSpPr/>
          <p:nvPr/>
        </p:nvSpPr>
        <p:spPr>
          <a:xfrm>
            <a:off x="5056632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💬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48056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Slack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Message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0" y="2971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#support channel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7648" y="2633472"/>
            <a:ext cx="365760" cy="0"/>
          </a:xfrm>
          <a:prstGeom prst="line">
            <a:avLst/>
          </a:prstGeom>
          <a:noFill/>
          <a:ln w="31750">
            <a:solidFill>
              <a:srgbClr val="FF6D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5392" y="2496312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6D00"/>
                </a:solidFill>
              </a:rPr>
              <a:t>▶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46520" y="1508760"/>
            <a:ext cx="1920240" cy="228600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25400" dir="16200000">
              <a:srgbClr val="00000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446520" y="1508760"/>
            <a:ext cx="1920240" cy="54864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2" name="Shape 30"/>
          <p:cNvSpPr/>
          <p:nvPr/>
        </p:nvSpPr>
        <p:spPr>
          <a:xfrm>
            <a:off x="7114032" y="1645920"/>
            <a:ext cx="594360" cy="59436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33" name="Text 31"/>
          <p:cNvSpPr/>
          <p:nvPr/>
        </p:nvSpPr>
        <p:spPr>
          <a:xfrm>
            <a:off x="7114032" y="16459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537960" y="2331720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Sheets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537960" y="297180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email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to row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74320" y="3977640"/>
            <a:ext cx="8595360" cy="777240"/>
          </a:xfrm>
          <a:prstGeom prst="rect">
            <a:avLst/>
          </a:prstGeom>
          <a:solidFill>
            <a:srgbClr val="0D213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Result: Every support email is instantly pinged to your team on Slack AND recorded in a Google Sheet — zero manual effort.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C896"/>
                </a:solidFill>
              </a:rPr>
              <a:t>GET STARTED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Begin with n8n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8412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566928" cy="566928"/>
          </a:xfrm>
          <a:prstGeom prst="ellipse">
            <a:avLst/>
          </a:prstGeom>
          <a:solidFill>
            <a:srgbClr val="E9456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188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70432" y="114300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n8n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70432" y="1508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via Docker, npm, or use n8n Cloud. Self-hosted is free.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252728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0A0A1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2527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945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n8n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011680"/>
            <a:ext cx="8412480" cy="8412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48840"/>
            <a:ext cx="566928" cy="566928"/>
          </a:xfrm>
          <a:prstGeom prst="ellipse">
            <a:avLst/>
          </a:prstGeom>
          <a:solidFill>
            <a:srgbClr val="FF6D00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488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70432" y="21031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 Apps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70432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credentials for the tools you use — 350+ integrations available.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2212848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0A0A1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0" y="22128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6D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OAuth &amp; API keys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971800"/>
            <a:ext cx="8412480" cy="8412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566928" cy="566928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0432" y="3063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a Workflow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34290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nodes onto the canvas, connect them, and configure triggers.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3172968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0A0A1A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729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Visual editor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931920"/>
            <a:ext cx="8412480" cy="841248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63500" dist="25400" dir="162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4069080"/>
            <a:ext cx="566928" cy="566928"/>
          </a:xfrm>
          <a:prstGeom prst="ellipse">
            <a:avLst/>
          </a:prstGeom>
          <a:solidFill>
            <a:srgbClr val="4FC3F7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069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70432" y="402336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&amp; Activate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170432" y="43891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workflow in test mode, fix errors, then go live!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00800" y="4133088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0A0A1A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41330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FC3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One-click activate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4" name="Text 32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🌐  n8n.io  |  📖  docs.n8n.io  |  💬  community.n8n.io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- Workflow Automation</dc:title>
  <dc:subject>PptxGenJS Presentation</dc:subject>
  <dc:creator>PptxGenJS</dc:creator>
  <cp:lastModifiedBy>PptxGenJS</cp:lastModifiedBy>
  <cp:revision>1</cp:revision>
  <dcterms:created xsi:type="dcterms:W3CDTF">2026-05-08T03:36:13Z</dcterms:created>
  <dcterms:modified xsi:type="dcterms:W3CDTF">2026-05-08T03:36:13Z</dcterms:modified>
</cp:coreProperties>
</file>