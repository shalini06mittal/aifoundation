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18872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Components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24231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Core Building Blocks of Intelligent Agents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62940" y="3291840"/>
            <a:ext cx="1645920" cy="502920"/>
          </a:xfrm>
          <a:prstGeom prst="roundRect">
            <a:avLst>
              <a:gd name="adj" fmla="val 10909"/>
            </a:avLst>
          </a:prstGeom>
          <a:solidFill>
            <a:srgbClr val="2563EB">
              <a:alpha val="7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2940" y="32918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20340" y="3291840"/>
            <a:ext cx="1645920" cy="502920"/>
          </a:xfrm>
          <a:prstGeom prst="roundRect">
            <a:avLst>
              <a:gd name="adj" fmla="val 10909"/>
            </a:avLst>
          </a:prstGeom>
          <a:solidFill>
            <a:srgbClr val="16A34A">
              <a:alpha val="75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20340" y="32918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77740" y="3291840"/>
            <a:ext cx="1645920" cy="502920"/>
          </a:xfrm>
          <a:prstGeom prst="roundRect">
            <a:avLst>
              <a:gd name="adj" fmla="val 10909"/>
            </a:avLst>
          </a:prstGeom>
          <a:solidFill>
            <a:srgbClr val="EA580C">
              <a:alpha val="75000"/>
            </a:srgbClr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77740" y="32918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35140" y="3291840"/>
            <a:ext cx="1645920" cy="502920"/>
          </a:xfrm>
          <a:prstGeom prst="roundRect">
            <a:avLst>
              <a:gd name="adj" fmla="val 10909"/>
            </a:avLst>
          </a:prstGeom>
          <a:solidFill>
            <a:srgbClr val="9333EA">
              <a:alpha val="75000"/>
            </a:srgbClr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35140" y="32918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Architecture Overview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5056632"/>
            <a:ext cx="9144000" cy="822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Architecture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 agent perceives its environment, reasons through decisions, acts on the world, and maintains memory across interactions. These four components work in a continuous loop.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1691640" cy="1371600"/>
          </a:xfrm>
          <a:prstGeom prst="rect">
            <a:avLst/>
          </a:prstGeom>
          <a:solidFill>
            <a:srgbClr val="CBD5E1">
              <a:alpha val="40000"/>
            </a:srgbClr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1691640" cy="1371600"/>
          </a:xfrm>
          <a:prstGeom prst="rect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828800"/>
            <a:ext cx="1691640" cy="822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2024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239572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715768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Processing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85416" y="2514600"/>
            <a:ext cx="21945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ysDash"/>
          </a:ln>
        </p:spPr>
      </p:sp>
      <p:sp>
        <p:nvSpPr>
          <p:cNvPr id="12" name="Shape 10"/>
          <p:cNvSpPr/>
          <p:nvPr/>
        </p:nvSpPr>
        <p:spPr>
          <a:xfrm>
            <a:off x="2468880" y="1874520"/>
            <a:ext cx="1691640" cy="1371600"/>
          </a:xfrm>
          <a:prstGeom prst="rect">
            <a:avLst/>
          </a:prstGeom>
          <a:solidFill>
            <a:srgbClr val="CBD5E1">
              <a:alpha val="40000"/>
            </a:srgbClr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23160" y="1828800"/>
            <a:ext cx="1691640" cy="1371600"/>
          </a:xfrm>
          <a:prstGeom prst="rect">
            <a:avLst/>
          </a:prstGeom>
          <a:solidFill>
            <a:srgbClr val="F0FDF4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23160" y="1828800"/>
            <a:ext cx="1691640" cy="8229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23160" y="192024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423160" y="239572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423160" y="2715768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Making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51376" y="2514600"/>
            <a:ext cx="21945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ysDash"/>
          </a:ln>
        </p:spPr>
      </p:sp>
      <p:sp>
        <p:nvSpPr>
          <p:cNvPr id="19" name="Shape 17"/>
          <p:cNvSpPr/>
          <p:nvPr/>
        </p:nvSpPr>
        <p:spPr>
          <a:xfrm>
            <a:off x="4434840" y="1874520"/>
            <a:ext cx="1691640" cy="1371600"/>
          </a:xfrm>
          <a:prstGeom prst="rect">
            <a:avLst/>
          </a:prstGeom>
          <a:solidFill>
            <a:srgbClr val="CBD5E1">
              <a:alpha val="40000"/>
            </a:srgbClr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89120" y="1828800"/>
            <a:ext cx="1691640" cy="1371600"/>
          </a:xfrm>
          <a:prstGeom prst="rect">
            <a:avLst/>
          </a:prstGeom>
          <a:solidFill>
            <a:srgbClr val="FFF7ED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0" y="1828800"/>
            <a:ext cx="1691640" cy="8229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0" y="192024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389120" y="239572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389120" y="2715768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Execution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17336" y="2514600"/>
            <a:ext cx="21945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ysDash"/>
          </a:ln>
        </p:spPr>
      </p:sp>
      <p:sp>
        <p:nvSpPr>
          <p:cNvPr id="26" name="Shape 24"/>
          <p:cNvSpPr/>
          <p:nvPr/>
        </p:nvSpPr>
        <p:spPr>
          <a:xfrm>
            <a:off x="6400800" y="1874520"/>
            <a:ext cx="1691640" cy="1371600"/>
          </a:xfrm>
          <a:prstGeom prst="rect">
            <a:avLst/>
          </a:prstGeom>
          <a:solidFill>
            <a:srgbClr val="CBD5E1">
              <a:alpha val="40000"/>
            </a:srgbClr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55080" y="1828800"/>
            <a:ext cx="1691640" cy="1371600"/>
          </a:xfrm>
          <a:prstGeom prst="rect">
            <a:avLst/>
          </a:prstGeom>
          <a:solidFill>
            <a:srgbClr val="FDF4FF"/>
          </a:solidFill>
          <a:ln w="19050">
            <a:solidFill>
              <a:srgbClr val="9333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55080" y="1828800"/>
            <a:ext cx="1691640" cy="82296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192024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355080" y="239572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355080" y="2715768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3429000"/>
            <a:ext cx="822960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4930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Continuous Feedback Loop →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3931920"/>
            <a:ext cx="82296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8368" y="3977640"/>
            <a:ext cx="7909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Unlike traditional software, agents operate in a closed-loop cycle — constantly perceiving new inputs, updating beliefs, selecting actions, and revising their memory to improve future performance.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109728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01168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6459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PERCEPTION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1005840" y="65836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Processing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74320" y="1234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is the agent's ability to receive and interpret raw data from its environment — the sensory system that converts external signals into meaningful internal representations.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74320" y="1965960"/>
            <a:ext cx="2651760" cy="21031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4320" y="1965960"/>
            <a:ext cx="265176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" y="20574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Types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84048" y="2441448"/>
            <a:ext cx="2432304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images, audio, video, sensor data, API responses, structured data, user interactions, environmental signals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081528" y="1965960"/>
            <a:ext cx="2651760" cy="21031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081528" y="1965960"/>
            <a:ext cx="265176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081528" y="20574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Steps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191256" y="2441448"/>
            <a:ext cx="2432304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 → Parsing → Feature extraction → Normalization → Encoding into agent-readable format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888736" y="1965960"/>
            <a:ext cx="2651760" cy="21031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888736" y="1965960"/>
            <a:ext cx="265176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88736" y="20574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998464" y="2441448"/>
            <a:ext cx="2432304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filtering, ambiguity resolution, multi-modal fusion, real-time processing, and grounding symbols to meaning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74320" y="48920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Components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315200" y="489204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1097280"/>
          </a:xfrm>
          <a:prstGeom prst="rect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01168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6459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REASONING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1005840" y="65836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Making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74320" y="1234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is the cognitive engine of the agent — it processes perceived inputs, applies logic and learned knowledge, evaluates options, and produces decisions or plans for what to do next.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74320" y="1965960"/>
            <a:ext cx="4114800" cy="283464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4320" y="1965960"/>
            <a:ext cx="4114800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" y="204825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Types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11480" y="2423160"/>
            <a:ext cx="3886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Deductive — applying rules to facts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Inductive — generalizing from examples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Abductive — best-guess inference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— uncertainty modeling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— cause-effect chains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0" y="1965960"/>
            <a:ext cx="4297680" cy="283464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0" y="1965960"/>
            <a:ext cx="4297680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0" y="2048256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Pipeline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709160" y="2450592"/>
            <a:ext cx="4023360" cy="347472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54880" y="2459736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Parse perceived context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709160" y="2889504"/>
            <a:ext cx="4023360" cy="347472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54880" y="2898648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Retrieve relevant knowledge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709160" y="3328416"/>
            <a:ext cx="4023360" cy="347472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54880" y="3337560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Generate candidate actions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709160" y="3767328"/>
            <a:ext cx="4023360" cy="347472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54880" y="3776472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Evaluate via utility function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709160" y="4206240"/>
            <a:ext cx="4023360" cy="347472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54880" y="4215384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Select optimal action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274320" y="48920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Components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7315200" y="489204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1097280"/>
          </a:xfrm>
          <a:prstGeom prst="rect">
            <a:avLst/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01168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6459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ACTION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1005840" y="65836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Execution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74320" y="1234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is the agent's output layer — it translates decisions into real-world effects by executing tools, generating content, sending messages, or interacting with systems and APIs.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74320" y="1947672"/>
            <a:ext cx="2011680" cy="219456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4320" y="1947672"/>
            <a:ext cx="2011680" cy="731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" y="203911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65760" y="2450592"/>
            <a:ext cx="18288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text/speech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messages/emails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UI responses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468880" y="1947672"/>
            <a:ext cx="2011680" cy="219456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468880" y="1947672"/>
            <a:ext cx="2011680" cy="731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468880" y="203911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560320" y="2450592"/>
            <a:ext cx="18288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external APIs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code/scripts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the web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663440" y="1947672"/>
            <a:ext cx="2011680" cy="219456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663440" y="1947672"/>
            <a:ext cx="2011680" cy="731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63440" y="203911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Interaction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754880" y="2450592"/>
            <a:ext cx="18288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devices/robots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files/databases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workflows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858000" y="1947672"/>
            <a:ext cx="2011680" cy="219456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858000" y="1947672"/>
            <a:ext cx="2011680" cy="731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858000" y="203911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Meta-Actions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949440" y="2450592"/>
            <a:ext cx="18288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 sub-agents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own goals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clarification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274320" y="4251960"/>
            <a:ext cx="8595360" cy="594360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74320" y="4251960"/>
            <a:ext cx="82296" cy="5943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75488" y="4297680"/>
            <a:ext cx="8275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Principle: Actions must be safe, reversible where possible, and verified before execution. An agent monitors outcomes and feeds results back into its perception loop.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274320" y="48920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Components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7315200" y="489204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1097280"/>
          </a:xfrm>
          <a:prstGeom prst="rect">
            <a:avLst/>
          </a:prstGeom>
          <a:solidFill>
            <a:srgbClr val="FDF4FF"/>
          </a:solidFill>
          <a:ln w="12700">
            <a:solidFill>
              <a:srgbClr val="FDF4F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01168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6459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MEMORY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1005840" y="65836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74320" y="1234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enables agents to persist knowledge across interactions, maintain context within a session, recall past experiences, and continuously improve through learning and state management.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74320" y="1965960"/>
            <a:ext cx="2560320" cy="347472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19659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Type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852928" y="1965960"/>
            <a:ext cx="1828800" cy="347472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852928" y="19659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00016" y="1965960"/>
            <a:ext cx="1828800" cy="347472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00016" y="19659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547104" y="1965960"/>
            <a:ext cx="2560320" cy="347472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47104" y="19659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Use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74320" y="2313432"/>
            <a:ext cx="2560320" cy="475488"/>
          </a:xfrm>
          <a:prstGeom prst="rect">
            <a:avLst/>
          </a:prstGeom>
          <a:solidFill>
            <a:srgbClr val="F5F3FF"/>
          </a:solidFill>
          <a:ln w="9525">
            <a:solidFill>
              <a:srgbClr val="E9D5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5760" y="233172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In-Context (Working)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852928" y="2313432"/>
            <a:ext cx="1828800" cy="475488"/>
          </a:xfrm>
          <a:prstGeom prst="rect">
            <a:avLst/>
          </a:prstGeom>
          <a:solidFill>
            <a:srgbClr val="F5F3FF"/>
          </a:solidFill>
          <a:ln w="9525">
            <a:solidFill>
              <a:srgbClr val="E9D5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944368" y="2331720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session only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700016" y="2313432"/>
            <a:ext cx="1828800" cy="475488"/>
          </a:xfrm>
          <a:prstGeom prst="rect">
            <a:avLst/>
          </a:prstGeom>
          <a:solidFill>
            <a:srgbClr val="F5F3FF"/>
          </a:solidFill>
          <a:ln w="9525">
            <a:solidFill>
              <a:srgbClr val="E9D5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91456" y="2331720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window / RAM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547104" y="2313432"/>
            <a:ext cx="2560320" cy="475488"/>
          </a:xfrm>
          <a:prstGeom prst="rect">
            <a:avLst/>
          </a:prstGeom>
          <a:solidFill>
            <a:srgbClr val="F5F3FF"/>
          </a:solidFill>
          <a:ln w="9525">
            <a:solidFill>
              <a:srgbClr val="E9D5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38544" y="233172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history, task state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274320" y="2816352"/>
            <a:ext cx="2560320" cy="475488"/>
          </a:xfrm>
          <a:prstGeom prst="rect">
            <a:avLst/>
          </a:prstGeom>
          <a:solidFill>
            <a:srgbClr val="FAF5FF"/>
          </a:solidFill>
          <a:ln w="9525">
            <a:solidFill>
              <a:srgbClr val="E9D5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65760" y="283464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(Long-term)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2852928" y="2816352"/>
            <a:ext cx="1828800" cy="475488"/>
          </a:xfrm>
          <a:prstGeom prst="rect">
            <a:avLst/>
          </a:prstGeom>
          <a:solidFill>
            <a:srgbClr val="FAF5FF"/>
          </a:solidFill>
          <a:ln w="9525">
            <a:solidFill>
              <a:srgbClr val="E9D5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944368" y="2834640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across sessions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700016" y="2816352"/>
            <a:ext cx="1828800" cy="475488"/>
          </a:xfrm>
          <a:prstGeom prst="rect">
            <a:avLst/>
          </a:prstGeom>
          <a:solidFill>
            <a:srgbClr val="FAF5FF"/>
          </a:solidFill>
          <a:ln w="9525">
            <a:solidFill>
              <a:srgbClr val="E9D5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791456" y="2834640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 / SQL / Files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547104" y="2816352"/>
            <a:ext cx="2560320" cy="475488"/>
          </a:xfrm>
          <a:prstGeom prst="rect">
            <a:avLst/>
          </a:prstGeom>
          <a:solidFill>
            <a:srgbClr val="FAF5FF"/>
          </a:solidFill>
          <a:ln w="9525">
            <a:solidFill>
              <a:srgbClr val="E9D5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638544" y="283464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profiles, knowledge bases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274320" y="3319272"/>
            <a:ext cx="2560320" cy="475488"/>
          </a:xfrm>
          <a:prstGeom prst="rect">
            <a:avLst/>
          </a:prstGeom>
          <a:solidFill>
            <a:srgbClr val="F5F3FF"/>
          </a:solidFill>
          <a:ln w="9525">
            <a:solidFill>
              <a:srgbClr val="E9D5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65760" y="333756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2852928" y="3319272"/>
            <a:ext cx="1828800" cy="475488"/>
          </a:xfrm>
          <a:prstGeom prst="rect">
            <a:avLst/>
          </a:prstGeom>
          <a:solidFill>
            <a:srgbClr val="F5F3FF"/>
          </a:solidFill>
          <a:ln w="9525">
            <a:solidFill>
              <a:srgbClr val="E9D5F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2944368" y="3337560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past events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00016" y="3319272"/>
            <a:ext cx="1828800" cy="475488"/>
          </a:xfrm>
          <a:prstGeom prst="rect">
            <a:avLst/>
          </a:prstGeom>
          <a:solidFill>
            <a:srgbClr val="F5F3FF"/>
          </a:solidFill>
          <a:ln w="9525">
            <a:solidFill>
              <a:srgbClr val="E9D5F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791456" y="3337560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event store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6547104" y="3319272"/>
            <a:ext cx="2560320" cy="475488"/>
          </a:xfrm>
          <a:prstGeom prst="rect">
            <a:avLst/>
          </a:prstGeom>
          <a:solidFill>
            <a:srgbClr val="F5F3FF"/>
          </a:solidFill>
          <a:ln w="9525">
            <a:solidFill>
              <a:srgbClr val="E9D5F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638544" y="333756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task outcomes, logs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274320" y="3822192"/>
            <a:ext cx="2560320" cy="475488"/>
          </a:xfrm>
          <a:prstGeom prst="rect">
            <a:avLst/>
          </a:prstGeom>
          <a:solidFill>
            <a:srgbClr val="FAF5FF"/>
          </a:solidFill>
          <a:ln w="9525">
            <a:solidFill>
              <a:srgbClr val="E9D5F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65760" y="384048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(World)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2852928" y="3822192"/>
            <a:ext cx="1828800" cy="475488"/>
          </a:xfrm>
          <a:prstGeom prst="rect">
            <a:avLst/>
          </a:prstGeom>
          <a:solidFill>
            <a:srgbClr val="FAF5FF"/>
          </a:solidFill>
          <a:ln w="9525">
            <a:solidFill>
              <a:srgbClr val="E9D5FF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2944368" y="3840480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facts &amp; concepts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4700016" y="3822192"/>
            <a:ext cx="1828800" cy="475488"/>
          </a:xfrm>
          <a:prstGeom prst="rect">
            <a:avLst/>
          </a:prstGeom>
          <a:solidFill>
            <a:srgbClr val="FAF5FF"/>
          </a:solidFill>
          <a:ln w="9525">
            <a:solidFill>
              <a:srgbClr val="E9D5FF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791456" y="3840480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/ Graph DB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6547104" y="3822192"/>
            <a:ext cx="2560320" cy="475488"/>
          </a:xfrm>
          <a:prstGeom prst="rect">
            <a:avLst/>
          </a:prstGeom>
          <a:solidFill>
            <a:srgbClr val="FAF5FF"/>
          </a:solidFill>
          <a:ln w="9525">
            <a:solidFill>
              <a:srgbClr val="E9D5FF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638544" y="384048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knowledge, ontologies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274320" y="48920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Components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7315200" y="489204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Components Interact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0" y="1645920"/>
            <a:ext cx="2194560" cy="2194560"/>
          </a:xfrm>
          <a:prstGeom prst="ellipse">
            <a:avLst/>
          </a:prstGeom>
          <a:solidFill>
            <a:srgbClr val="F3E8FF"/>
          </a:solidFill>
          <a:ln w="25400">
            <a:solidFill>
              <a:srgbClr val="933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0" y="164592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(State Hub)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2103120"/>
            <a:ext cx="1737360" cy="777240"/>
          </a:xfrm>
          <a:prstGeom prst="rect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2103120"/>
            <a:ext cx="173736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19456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0040" y="254203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Processing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703320" y="960120"/>
            <a:ext cx="1737360" cy="777240"/>
          </a:xfrm>
          <a:prstGeom prst="rect">
            <a:avLst/>
          </a:prstGeom>
          <a:solidFill>
            <a:srgbClr val="F0FDF4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03320" y="960120"/>
            <a:ext cx="173736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03320" y="105156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703320" y="139903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Making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086600" y="2103120"/>
            <a:ext cx="1737360" cy="777240"/>
          </a:xfrm>
          <a:prstGeom prst="rect">
            <a:avLst/>
          </a:prstGeom>
          <a:solidFill>
            <a:srgbClr val="FFF7ED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86600" y="2103120"/>
            <a:ext cx="1737360" cy="640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86600" y="219456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086600" y="254203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Execution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057400" y="2487168"/>
            <a:ext cx="1435608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26280" y="1737360"/>
            <a:ext cx="0" cy="68580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0" y="2487168"/>
            <a:ext cx="1435608" cy="0"/>
          </a:xfrm>
          <a:prstGeom prst="line">
            <a:avLst/>
          </a:prstGeom>
          <a:noFill/>
          <a:ln w="19050">
            <a:solidFill>
              <a:srgbClr val="EA580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657600"/>
            <a:ext cx="73152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365760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feeds raw input into memory as perceived state, and supplies context to the Reasoning module.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087368"/>
            <a:ext cx="73152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408736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reads from memory, deliberates, and writes decisions back — then triggers the Action module.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517136"/>
            <a:ext cx="73152" cy="34747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4517136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executes in the world, and its results are fed back to Perception — closing the loop.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965960" cy="3200400"/>
          </a:xfrm>
          <a:prstGeom prst="rect">
            <a:avLst/>
          </a:prstGeom>
          <a:solidFill>
            <a:srgbClr val="1E3D7A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196596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15568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1627632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011680"/>
            <a:ext cx="123444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103120"/>
            <a:ext cx="1746504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raw environment signals into structured internal representations the agent can process and reason about.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14600" y="1005840"/>
            <a:ext cx="1965960" cy="3200400"/>
          </a:xfrm>
          <a:prstGeom prst="rect">
            <a:avLst/>
          </a:prstGeom>
          <a:solidFill>
            <a:srgbClr val="14532D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14600" y="1005840"/>
            <a:ext cx="1965960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1115568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514600" y="1627632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880360" y="2011680"/>
            <a:ext cx="1234440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24328" y="2103120"/>
            <a:ext cx="1746504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cognitive core that evaluates context, applies logic, generates plans, and selects optimal actions using available knowledge.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1005840"/>
            <a:ext cx="1965960" cy="3200400"/>
          </a:xfrm>
          <a:prstGeom prst="rect">
            <a:avLst/>
          </a:prstGeom>
          <a:solidFill>
            <a:srgbClr val="7C2D12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1005840"/>
            <a:ext cx="1965960" cy="731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1115568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663440" y="1627632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0" y="2011680"/>
            <a:ext cx="1234440" cy="3657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2103120"/>
            <a:ext cx="1746504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decisions in the real world — through APIs, tools, messages, or physical actuators — and monitors outcomes.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12280" y="1005840"/>
            <a:ext cx="1965960" cy="3200400"/>
          </a:xfrm>
          <a:prstGeom prst="rect">
            <a:avLst/>
          </a:prstGeom>
          <a:solidFill>
            <a:srgbClr val="4A1D96"/>
          </a:solidFill>
          <a:ln w="19050">
            <a:solidFill>
              <a:srgbClr val="9333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12280" y="1005840"/>
            <a:ext cx="1965960" cy="73152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12280" y="1115568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812280" y="1627632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178040" y="2011680"/>
            <a:ext cx="1234440" cy="36576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22008" y="2103120"/>
            <a:ext cx="1746504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agent state within and across sessions, supporting learning, personalization, and contextual continuity.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Components</dc:title>
  <dc:subject>PptxGenJS Presentation</dc:subject>
  <dc:creator>PptxGenJS</dc:creator>
  <cp:lastModifiedBy>PptxGenJS</cp:lastModifiedBy>
  <cp:revision>1</cp:revision>
  <dcterms:created xsi:type="dcterms:W3CDTF">2026-05-07T13:03:00Z</dcterms:created>
  <dcterms:modified xsi:type="dcterms:W3CDTF">2026-05-07T13:03:00Z</dcterms:modified>
</cp:coreProperties>
</file>