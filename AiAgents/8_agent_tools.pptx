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54864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2926080"/>
            <a:ext cx="1645920" cy="164592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0C9A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AGENTIC AI 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Functions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Agents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Defining, selecting, and executing tools that extend agent capabilities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5486400" cy="22860"/>
          </a:xfrm>
          <a:prstGeom prst="rect">
            <a:avLst/>
          </a:prstGeom>
          <a:solidFill>
            <a:srgbClr val="64748B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  •  Dynamic Selection  •  Error Handling  •  Tool Categories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4747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Tools for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extend an agent's built-in capabilities, enabling real-world interactions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3464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834640" cy="10972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276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Tool?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5420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callable function exposed to the agent — search, calculate, call an API, read a file, and more.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83464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417320"/>
            <a:ext cx="2834640" cy="10972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2763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Use Them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5420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reasons about which tool to invoke, generates the arguments, and receives the result back as context.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83464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17320"/>
            <a:ext cx="2834640" cy="109728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2763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Tools Matter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5420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bridge the gap between language understanding and action, turning chat into autonomous workflow execution.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74320" y="4114800"/>
            <a:ext cx="8595360" cy="804672"/>
          </a:xfrm>
          <a:prstGeom prst="rect">
            <a:avLst>
              <a:gd name="adj" fmla="val 5682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16052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[{"name": "web_search", "description": "Search the web for current info", "parameters": {...}}]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 &amp; Descriptions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1B2A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Anatomy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1005840" cy="329184"/>
          </a:xfrm>
          <a:prstGeom prst="rect">
            <a:avLst>
              <a:gd name="adj" fmla="val 11111"/>
            </a:avLst>
          </a:prstGeom>
          <a:solidFill>
            <a:srgbClr val="00C9A7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27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the tool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1005840" cy="329184"/>
          </a:xfrm>
          <a:prstGeom prst="rect">
            <a:avLst>
              <a:gd name="adj" fmla="val 11111"/>
            </a:avLst>
          </a:prstGeom>
          <a:solidFill>
            <a:srgbClr val="0891B2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219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258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explanation for the LLM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816352"/>
            <a:ext cx="1005840" cy="329184"/>
          </a:xfrm>
          <a:prstGeom prst="rect">
            <a:avLst>
              <a:gd name="adj" fmla="val 11111"/>
            </a:avLst>
          </a:prstGeom>
          <a:solidFill>
            <a:srgbClr val="6366F1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163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defining expected inputs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410712"/>
            <a:ext cx="1005840" cy="329184"/>
          </a:xfrm>
          <a:prstGeom prst="rect">
            <a:avLst>
              <a:gd name="adj" fmla="val 11111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107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mandatory parameter names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005072"/>
            <a:ext cx="1005840" cy="329184"/>
          </a:xfrm>
          <a:prstGeom prst="rect">
            <a:avLst>
              <a:gd name="adj" fmla="val 11111"/>
            </a:avLst>
          </a:prstGeom>
          <a:solidFill>
            <a:srgbClr val="00C9A7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0050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type: string, number, boolean, array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05840"/>
            <a:ext cx="42062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Schema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508760"/>
            <a:ext cx="3977640" cy="3246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"get_weather",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"Get current weather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 given city",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"city":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"description": "City name"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"units":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"enum": ["celsius","fahrenheit"]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["city"]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 Selection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intelligently choose which tool(s) to call based on the task and context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463040" cy="13258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55648" y="1984248"/>
            <a:ext cx="228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371600"/>
            <a:ext cx="1463040" cy="1325880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19019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3008" y="1984248"/>
            <a:ext cx="228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1371600"/>
            <a:ext cx="1463040" cy="132588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19019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30368" y="1984248"/>
            <a:ext cx="228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1371600"/>
            <a:ext cx="1463040" cy="132588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19019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67728" y="1984248"/>
            <a:ext cx="228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1371600"/>
            <a:ext cx="1463040" cy="132588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19019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160520" cy="8046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73152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Description-Driven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tool descriptions to decide relevance — precise descriptions = better selection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160520" cy="804672"/>
          </a:xfrm>
          <a:prstGeom prst="rect">
            <a:avLst/>
          </a:prstGeom>
          <a:solidFill>
            <a:srgbClr val="1B2A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71800"/>
            <a:ext cx="73152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Calls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invoke multiple tools per turn, combining results for complex tasks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904488"/>
            <a:ext cx="4160520" cy="804672"/>
          </a:xfrm>
          <a:prstGeom prst="rect">
            <a:avLst/>
          </a:prstGeom>
          <a:solidFill>
            <a:srgbClr val="1B2A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04488"/>
            <a:ext cx="73152" cy="8046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considers conversation history, available outputs, and current state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904488"/>
            <a:ext cx="4160520" cy="804672"/>
          </a:xfrm>
          <a:prstGeom prst="rect">
            <a:avLst/>
          </a:prstGeom>
          <a:solidFill>
            <a:srgbClr val="1B2A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904488"/>
            <a:ext cx="73152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Strategies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specific tool, allow free choice, or use tool_choice=required for mandatory use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 &amp; Error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84048" cy="38404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508760"/>
            <a:ext cx="3429000" cy="310896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17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tool call from LLM response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3429000" cy="310896"/>
          </a:xfrm>
          <a:prstGeom prst="rect">
            <a:avLst/>
          </a:prstGeom>
          <a:solidFill>
            <a:srgbClr val="1B2A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arguments against 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2825496"/>
            <a:ext cx="3429000" cy="310896"/>
          </a:xfrm>
          <a:prstGeom prst="rect">
            <a:avLst/>
          </a:prstGeom>
          <a:solidFill>
            <a:srgbClr val="1B2A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 function in sandbox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3814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3483864"/>
            <a:ext cx="3429000" cy="310896"/>
          </a:xfrm>
          <a:prstGeom prst="rect">
            <a:avLst/>
          </a:prstGeom>
          <a:solidFill>
            <a:srgbClr val="1B2A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result or exception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9651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" y="4142232"/>
            <a:ext cx="3429000" cy="310896"/>
          </a:xfrm>
          <a:prstGeom prst="rect">
            <a:avLst/>
          </a:prstGeom>
          <a:solidFill>
            <a:srgbClr val="1B2A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 as tool_result message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Strategies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416052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0020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257800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Mismatch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57800" y="18105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args before execution; return descriptive error to LLM for retry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0" y="2286000"/>
            <a:ext cx="416052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41448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57800" y="2359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/ Rate Limit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257800" y="26517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exponential backoff, surface wait time to agent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754880" y="3127248"/>
            <a:ext cx="416052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82696"/>
            <a:ext cx="320040" cy="3200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257800" y="32004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257800" y="34930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401/403, inform agent to request credentials or skip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754880" y="3968496"/>
            <a:ext cx="416052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123944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257800" y="4041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Bad Response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5257800" y="43342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error object so agent can reason about fallback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709160"/>
            <a:ext cx="256032" cy="25603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49808" y="4663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Always return structured errors — never let tool failures silently crash the agent loop.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06240" cy="1920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4206240" cy="10972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1155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8912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&amp; crawling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lookup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queries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NoSQL database reads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81728" y="914400"/>
            <a:ext cx="4206240" cy="1920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1728" y="914400"/>
            <a:ext cx="4206240" cy="10972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1556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864608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&amp; math ops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64608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 / REPL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64608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stats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64608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 &amp; formatting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56032" y="3017520"/>
            <a:ext cx="4206240" cy="1920240"/>
          </a:xfrm>
          <a:prstGeom prst="rect">
            <a:avLst/>
          </a:prstGeom>
          <a:solidFill>
            <a:srgbClr val="1B2A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017520"/>
            <a:ext cx="4206240" cy="109728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21868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6112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38912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compose &amp; send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38912" y="4014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scheduling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38912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ticketing APIs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38912" y="4581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notification systems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681728" y="3017520"/>
            <a:ext cx="4206240" cy="1920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81728" y="3017520"/>
            <a:ext cx="4206240" cy="1097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18688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21808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4864608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local files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864608" y="4014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document parsing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864608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media processing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864608" y="4581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(S3, Drive)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00C9A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06240" cy="1664208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822960" cy="1664208"/>
          </a:xfrm>
          <a:prstGeom prst="rect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15568"/>
            <a:ext cx="822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34440" y="13167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 clearly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34440" y="17099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names, descriptions, and JSON schemas guide the LLM to the right tool every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06240" cy="1664208"/>
          </a:xfrm>
          <a:prstGeom prst="rect">
            <a:avLst/>
          </a:prstGeom>
          <a:solidFill>
            <a:srgbClr val="1B2A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15568"/>
            <a:ext cx="822960" cy="1664208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115568"/>
            <a:ext cx="822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13167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 selection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0" y="17099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full tool catalogue per turn; let the model reason which tools are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206240" cy="1664208"/>
          </a:xfrm>
          <a:prstGeom prst="rect">
            <a:avLst/>
          </a:prstGeom>
          <a:solidFill>
            <a:srgbClr val="1B2A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822960" cy="1664208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90088"/>
            <a:ext cx="822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34440" y="31912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34440" y="3584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returns keep the agent loop alive and enable intelligent retries.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990088"/>
            <a:ext cx="4206240" cy="1664208"/>
          </a:xfrm>
          <a:prstGeom prst="rect">
            <a:avLst/>
          </a:prstGeom>
          <a:solidFill>
            <a:srgbClr val="1B2A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90088"/>
            <a:ext cx="822960" cy="166420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990088"/>
            <a:ext cx="822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69280" y="31912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 your tools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0" y="3584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computation, services, and file ops cover the vast majority of agent use-cases.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Functions for AI Agents  •  Agentic AI Series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 &amp; Functions for AI Agents</dc:title>
  <dc:subject>PptxGenJS Presentation</dc:subject>
  <dc:creator>PptxGenJS</dc:creator>
  <cp:lastModifiedBy>PptxGenJS</cp:lastModifiedBy>
  <cp:revision>1</cp:revision>
  <dcterms:created xsi:type="dcterms:W3CDTF">2026-05-08T03:35:39Z</dcterms:created>
  <dcterms:modified xsi:type="dcterms:W3CDTF">2026-05-08T03:35:39Z</dcterms:modified>
</cp:coreProperties>
</file>