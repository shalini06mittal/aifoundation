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59" r:id="rId6"/>
    <p:sldId id="263" r:id="rId7"/>
    <p:sldId id="264" r:id="rId8"/>
    <p:sldId id="265" r:id="rId9"/>
    <p:sldId id="266" r:id="rId10"/>
    <p:sldId id="267" r:id="rId11"/>
    <p:sldId id="260" r:id="rId12"/>
    <p:sldId id="261" r:id="rId13"/>
    <p:sldId id="262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76"/>
    <p:restoredTop sz="95631"/>
  </p:normalViewPr>
  <p:slideViewPr>
    <p:cSldViewPr snapToGrid="0" snapToObjects="1">
      <p:cViewPr>
        <p:scale>
          <a:sx n="146" d="100"/>
          <a:sy n="146" d="100"/>
        </p:scale>
        <p:origin x="600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598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D8416-1316-4C38-9306-D96AB097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998E1-E3CF-D369-8EFE-9F7C921B6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11557-7E97-1233-B9B9-475D61748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neural network is NOT learning “the answer directly”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learning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perspectives of the same data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neuron =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lens / feature extractor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a panel of judges 👇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candidate (input)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But: 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Judge 1 cares about communication → high weight 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Judge 2 cares about technical → medium weight 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Judge 3 cares about attitude → negative/positive differently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Same person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Different importance →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weights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6B425-B309-6E27-22FA-662CFF196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01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0119-B846-5745-4E58-C2A718F02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04164-523D-C923-49BB-E55552926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5F581-0263-D7F2-8904-9A328EEF8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2A734-6F0B-0D96-70E6-330E95050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40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B08AD-8743-9439-AAA1-57C6974E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30B39-BD3C-4BE9-18B0-CDB585191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7AF15-2273-491C-D9FF-D6856EF91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75F40-EF37-F46C-AEF1-86A9CC0FB1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87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E543B-33F7-70AB-885D-032BCEC2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04CC5-06CD-7EC7-2764-5DCA6834C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025F8-F16B-5E82-55B1-E4FAE77F6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9AAE7-FE72-C3B3-53C3-6756431AD9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706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45D68-213E-5693-D93E-4440B132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834C2-B6CA-804B-4ADC-B668D722A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07BD2-63DA-8BAD-0FB6-6B0E67166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44268-DE55-00D9-D106-D94815E39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53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70593-80B5-FF1C-98D0-5CD364928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D95AD-AA44-05F3-17D8-0FB8BEF06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9F358-6132-BA9B-08C1-9ACED525D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51A41-3636-26F9-7E45-5329B82169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88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https://images.openai.com/static-rsc-4/6HE5BXJkggPqv1vz84gGbfilA3FS7tFOQuXvmNGaXVET2ymdii2mc58iGYFDbfcAAXr_Mu5PgjFkeUfj22Z2LaeZa-mwFQ5ECXGZS7MULMWOHFajxLNMBW4wp5N0hcbqh3sMcYJlMk5S3K8N0cB5-jQKULHPjN0xUDihFf2jwHdE-iFIIVBFclDkRQBRytJ7?purpose=fullsize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33488" y="749808"/>
            <a:ext cx="329184" cy="329184"/>
          </a:xfrm>
          <a:prstGeom prst="ellipse">
            <a:avLst/>
          </a:prstGeom>
          <a:solidFill>
            <a:srgbClr val="5C6BC0">
              <a:alpha val="7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33488" y="1664208"/>
            <a:ext cx="329184" cy="329184"/>
          </a:xfrm>
          <a:prstGeom prst="ellipse">
            <a:avLst/>
          </a:prstGeom>
          <a:solidFill>
            <a:srgbClr val="5C6BC0">
              <a:alpha val="7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33488" y="2578608"/>
            <a:ext cx="329184" cy="329184"/>
          </a:xfrm>
          <a:prstGeom prst="ellipse">
            <a:avLst/>
          </a:prstGeom>
          <a:solidFill>
            <a:srgbClr val="5C6BC0">
              <a:alpha val="7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33488" y="3493008"/>
            <a:ext cx="329184" cy="329184"/>
          </a:xfrm>
          <a:prstGeom prst="ellipse">
            <a:avLst/>
          </a:prstGeom>
          <a:solidFill>
            <a:srgbClr val="5C6BC0">
              <a:alpha val="7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65008" y="1207008"/>
            <a:ext cx="329184" cy="329184"/>
          </a:xfrm>
          <a:prstGeom prst="ellipse">
            <a:avLst/>
          </a:prstGeom>
          <a:solidFill>
            <a:srgbClr val="5C6BC0">
              <a:alpha val="7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65008" y="2121408"/>
            <a:ext cx="329184" cy="329184"/>
          </a:xfrm>
          <a:prstGeom prst="ellipse">
            <a:avLst/>
          </a:prstGeom>
          <a:solidFill>
            <a:srgbClr val="5C6BC0">
              <a:alpha val="7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3035808"/>
            <a:ext cx="329184" cy="329184"/>
          </a:xfrm>
          <a:prstGeom prst="ellipse">
            <a:avLst/>
          </a:prstGeom>
          <a:solidFill>
            <a:srgbClr val="5C6BC0">
              <a:alpha val="7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05088" y="1664208"/>
            <a:ext cx="329184" cy="329184"/>
          </a:xfrm>
          <a:prstGeom prst="ellipse">
            <a:avLst/>
          </a:prstGeom>
          <a:solidFill>
            <a:srgbClr val="5C6BC0">
              <a:alpha val="7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05088" y="2578608"/>
            <a:ext cx="329184" cy="329184"/>
          </a:xfrm>
          <a:prstGeom prst="ellipse">
            <a:avLst/>
          </a:prstGeom>
          <a:solidFill>
            <a:srgbClr val="5C6BC0">
              <a:alpha val="7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005840"/>
            <a:ext cx="2011680" cy="329184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005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C6BC0"/>
                </a:solidFill>
              </a:rPr>
              <a:t>DEEP LEARNING FUNDAMENTALS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5760" y="15087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65760" y="22860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Optimization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4114800" cy="36576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46120"/>
            <a:ext cx="1371600" cy="502920"/>
          </a:xfrm>
          <a:prstGeom prst="rect">
            <a:avLst/>
          </a:prstGeom>
          <a:solidFill>
            <a:srgbClr val="E8EAF6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37E"/>
                </a:solidFill>
              </a:rPr>
              <a:t>Basics &amp; Perceptron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74520" y="3246120"/>
            <a:ext cx="13716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7452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38F"/>
                </a:solidFill>
              </a:rPr>
              <a:t>Activation Functions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83280" y="3246120"/>
            <a:ext cx="1371600" cy="502920"/>
          </a:xfrm>
          <a:prstGeom prst="rect">
            <a:avLst/>
          </a:prstGeom>
          <a:solidFill>
            <a:srgbClr val="E8EAF6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37E"/>
                </a:solidFill>
              </a:rPr>
              <a:t>Loss Functions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92040" y="3246120"/>
            <a:ext cx="13716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38F"/>
                </a:solidFill>
              </a:rPr>
              <a:t>Optimization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39319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</a:rPr>
              <a:t>A structured introduction to neural networks, loss functions, and modern optimization techniques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a Neural Network?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EFF"/>
                </a:solidFill>
              </a:rPr>
              <a:t>SECTION 1 — BASICS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931920" cy="822960"/>
          </a:xfrm>
          <a:prstGeom prst="rect">
            <a:avLst/>
          </a:prstGeom>
          <a:solidFill>
            <a:srgbClr val="E8EAF6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9144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</a:rPr>
              <a:t>Inspired by Biology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527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</a:rPr>
              <a:t>Modeled after the human brain's network of neurons connected by synapses.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3931920" cy="822960"/>
          </a:xfrm>
          <a:prstGeom prst="rect">
            <a:avLst/>
          </a:prstGeom>
          <a:solidFill>
            <a:srgbClr val="E0F7FA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20240"/>
            <a:ext cx="91440" cy="8229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</a:rPr>
              <a:t>Layered Architecture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</a:rPr>
              <a:t>Organized into an Input Layer, one or more Hidden Layers, and an Output Layer.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393192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80360"/>
            <a:ext cx="91440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Learning from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1729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</a:rPr>
              <a:t>Adjusts internal parameters (weights &amp; biases) through a training process.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393192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840480"/>
            <a:ext cx="9144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Universal Approximation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1330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</a:rPr>
              <a:t>Can theoretically approximate any continuous function given sufficient neurons.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</a:rPr>
              <a:t>Network Architecture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21808" y="1481328"/>
            <a:ext cx="1078992" cy="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21808" y="1481328"/>
            <a:ext cx="1078992" cy="45720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21808" y="1481328"/>
            <a:ext cx="1078992" cy="118872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21808" y="1481328"/>
            <a:ext cx="1078992" cy="192024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21808" y="2212848"/>
            <a:ext cx="1078992" cy="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21808" y="2212848"/>
            <a:ext cx="1078992" cy="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21808" y="2212848"/>
            <a:ext cx="1078992" cy="45720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21808" y="2212848"/>
            <a:ext cx="1078992" cy="118872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21808" y="2944368"/>
            <a:ext cx="1078992" cy="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21808" y="2944368"/>
            <a:ext cx="1078992" cy="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21808" y="2944368"/>
            <a:ext cx="1078992" cy="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21808" y="2944368"/>
            <a:ext cx="1078992" cy="45720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01968" y="1207008"/>
            <a:ext cx="1078992" cy="59436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01968" y="1207008"/>
            <a:ext cx="1078992" cy="160020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01968" y="1938528"/>
            <a:ext cx="1078992" cy="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01968" y="1938528"/>
            <a:ext cx="1078992" cy="86868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01968" y="2670048"/>
            <a:ext cx="1078992" cy="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01968" y="2670048"/>
            <a:ext cx="1078992" cy="13716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01968" y="3401568"/>
            <a:ext cx="1078992" cy="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01968" y="3401568"/>
            <a:ext cx="1078992" cy="0"/>
          </a:xfrm>
          <a:prstGeom prst="line">
            <a:avLst/>
          </a:prstGeom>
          <a:noFill/>
          <a:ln w="10160">
            <a:solidFill>
              <a:srgbClr val="C5CAE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0640" y="1280160"/>
            <a:ext cx="402336" cy="402336"/>
          </a:xfrm>
          <a:prstGeom prst="ellipse">
            <a:avLst/>
          </a:prstGeom>
          <a:solidFill>
            <a:srgbClr val="00838F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120640" y="2011680"/>
            <a:ext cx="402336" cy="402336"/>
          </a:xfrm>
          <a:prstGeom prst="ellipse">
            <a:avLst/>
          </a:prstGeom>
          <a:solidFill>
            <a:srgbClr val="00838F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120640" y="2743200"/>
            <a:ext cx="402336" cy="402336"/>
          </a:xfrm>
          <a:prstGeom prst="ellipse">
            <a:avLst/>
          </a:prstGeom>
          <a:solidFill>
            <a:srgbClr val="00838F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9200" y="3429000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57575"/>
                </a:solidFill>
              </a:rPr>
              <a:t>Input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0" y="1005840"/>
            <a:ext cx="402336" cy="402336"/>
          </a:xfrm>
          <a:prstGeom prst="ellipse">
            <a:avLst/>
          </a:prstGeom>
          <a:solidFill>
            <a:srgbClr val="5C6BC0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0800" y="1737360"/>
            <a:ext cx="402336" cy="402336"/>
          </a:xfrm>
          <a:prstGeom prst="ellipse">
            <a:avLst/>
          </a:prstGeom>
          <a:solidFill>
            <a:srgbClr val="5C6BC0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0" y="2468880"/>
            <a:ext cx="402336" cy="402336"/>
          </a:xfrm>
          <a:prstGeom prst="ellipse">
            <a:avLst/>
          </a:prstGeom>
          <a:solidFill>
            <a:srgbClr val="5C6BC0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00800" y="3200400"/>
            <a:ext cx="402336" cy="402336"/>
          </a:xfrm>
          <a:prstGeom prst="ellipse">
            <a:avLst/>
          </a:prstGeom>
          <a:solidFill>
            <a:srgbClr val="5C6BC0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09360" y="3429000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57575"/>
                </a:solidFill>
              </a:rPr>
              <a:t>Hidden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80960" y="1600200"/>
            <a:ext cx="402336" cy="402336"/>
          </a:xfrm>
          <a:prstGeom prst="ellipse">
            <a:avLst/>
          </a:prstGeom>
          <a:solidFill>
            <a:srgbClr val="E65100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680960" y="2606040"/>
            <a:ext cx="402336" cy="402336"/>
          </a:xfrm>
          <a:prstGeom prst="ellipse">
            <a:avLst/>
          </a:prstGeom>
          <a:solidFill>
            <a:srgbClr val="E65100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589520" y="3429000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57575"/>
                </a:solidFill>
              </a:rPr>
              <a:t>Output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37760" y="3703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</a:rPr>
              <a:t>3 neurons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217920" y="3703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</a:rPr>
              <a:t>4 neurons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498080" y="3703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</a:rPr>
              <a:t>2 neurons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617720" y="3931920"/>
            <a:ext cx="411480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3977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</a:rPr>
              <a:t>Weights (w) connect each neuron to the next layer. Each neuron computes: z = Σ(wᵢxᵢ) + b, then applies an activation function.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The Perceptron — Building Block of Neural Nets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E0F7FA"/>
          </a:solidFill>
          <a:ln w="1905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38F"/>
                </a:solidFill>
              </a:rPr>
              <a:t>x₁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rgbClr val="E0F7FA"/>
          </a:solidFill>
          <a:ln w="1905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38F"/>
                </a:solidFill>
              </a:rPr>
              <a:t>x₂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548640" cy="548640"/>
          </a:xfrm>
          <a:prstGeom prst="ellipse">
            <a:avLst/>
          </a:prstGeom>
          <a:solidFill>
            <a:srgbClr val="E0F7FA"/>
          </a:solidFill>
          <a:ln w="1905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38F"/>
                </a:solidFill>
              </a:rPr>
              <a:t>x₃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1371600"/>
            <a:ext cx="1188720" cy="731520"/>
          </a:xfrm>
          <a:prstGeom prst="line">
            <a:avLst/>
          </a:prstGeom>
          <a:noFill/>
          <a:ln w="19050">
            <a:solidFill>
              <a:srgbClr val="5C6B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143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6BC0"/>
                </a:solidFill>
              </a:rPr>
              <a:t>w₁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1188720" cy="0"/>
          </a:xfrm>
          <a:prstGeom prst="line">
            <a:avLst/>
          </a:prstGeom>
          <a:noFill/>
          <a:ln w="19050">
            <a:solidFill>
              <a:srgbClr val="5C6B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6BC0"/>
                </a:solidFill>
              </a:rPr>
              <a:t>w₂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200400"/>
            <a:ext cx="1188720" cy="0"/>
          </a:xfrm>
          <a:prstGeom prst="line">
            <a:avLst/>
          </a:prstGeom>
          <a:noFill/>
          <a:ln w="19050">
            <a:solidFill>
              <a:srgbClr val="5C6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6BC0"/>
                </a:solidFill>
              </a:rPr>
              <a:t>w₃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94560" y="1691640"/>
            <a:ext cx="914400" cy="914400"/>
          </a:xfrm>
          <a:prstGeom prst="ellipse">
            <a:avLst/>
          </a:prstGeom>
          <a:solidFill>
            <a:srgbClr val="E8EAF6"/>
          </a:solidFill>
          <a:ln w="25400">
            <a:solidFill>
              <a:srgbClr val="1A237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7E"/>
                </a:solidFill>
              </a:rPr>
              <a:t>Σ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194560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57575"/>
                </a:solidFill>
              </a:rPr>
              <a:t>+b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57575"/>
                </a:solidFill>
              </a:rPr>
              <a:t>(bias)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08960" y="2148840"/>
            <a:ext cx="54864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</a:rPr>
              <a:t>z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0" y="1691640"/>
            <a:ext cx="1280160" cy="9144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5100"/>
                </a:solidFill>
              </a:rPr>
              <a:t>f(z)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5760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5100"/>
                </a:solidFill>
              </a:rPr>
              <a:t>Activation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2148840"/>
            <a:ext cx="54864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1783080"/>
            <a:ext cx="731520" cy="73152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</a:rPr>
              <a:t>ŷ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20040" y="3657600"/>
            <a:ext cx="6035040" cy="73152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1480" y="37033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7E"/>
                </a:solidFill>
              </a:rPr>
              <a:t>Perceptron Formula:   ŷ = f( w₁x₁ + w₂x₂ + w₃x₃ + b 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1005840"/>
            <a:ext cx="246888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92240" y="1051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Binary Classification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12984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4242"/>
                </a:solidFill>
              </a:rPr>
              <a:t>Original perceptron outputs 0 or 1 (step function).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0" y="1920240"/>
            <a:ext cx="2468880" cy="777240"/>
          </a:xfrm>
          <a:prstGeom prst="rect">
            <a:avLst/>
          </a:prstGeom>
          <a:solidFill>
            <a:srgbClr val="E0F7FA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1965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38F"/>
                </a:solidFill>
              </a:rPr>
              <a:t>Linearly Separable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2212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4242"/>
                </a:solidFill>
              </a:rPr>
              <a:t>A single perceptron can only solve linearly separable problems.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0" y="2834640"/>
            <a:ext cx="246888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92240" y="2880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Multi-layer Extension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31272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4242"/>
                </a:solidFill>
              </a:rPr>
              <a:t>Stacking perceptrons into layers solves complex non-linear tasks.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3749040"/>
            <a:ext cx="2468880" cy="777240"/>
          </a:xfrm>
          <a:prstGeom prst="rect">
            <a:avLst/>
          </a:prstGeom>
          <a:solidFill>
            <a:srgbClr val="E0F7FA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92240" y="3794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38F"/>
                </a:solidFill>
              </a:rPr>
              <a:t>Weights &amp; Bias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4041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4242"/>
                </a:solidFill>
              </a:rPr>
              <a:t>Learnable parameters updated during training via backpropagation.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8296A-3348-B972-BDF5-700863BEA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646010-6D79-4ED5-B069-1BB7F38253AA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CBB6D7-AC1C-A7F2-DBF7-2A497E3E07E2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Multi Layer Network</a:t>
            </a:r>
            <a:endParaRPr lang="en-US" sz="2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E2526EC-11FA-48CE-96B7-20619BD60B87}"/>
              </a:ext>
            </a:extLst>
          </p:cNvPr>
          <p:cNvSpPr/>
          <p:nvPr/>
        </p:nvSpPr>
        <p:spPr>
          <a:xfrm>
            <a:off x="315468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</a:rPr>
              <a:t>z</a:t>
            </a:r>
            <a:endParaRPr lang="en-US" sz="11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9919D36-B2FD-E982-CEDA-6CDC9995D52B}"/>
              </a:ext>
            </a:extLst>
          </p:cNvPr>
          <p:cNvSpPr/>
          <p:nvPr/>
        </p:nvSpPr>
        <p:spPr>
          <a:xfrm>
            <a:off x="6024282" y="1022985"/>
            <a:ext cx="2845397" cy="1565910"/>
          </a:xfrm>
          <a:prstGeom prst="rect">
            <a:avLst/>
          </a:prstGeom>
          <a:solidFill>
            <a:srgbClr val="E8EAF6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EFE393C-009A-46F5-8BE1-079AD04B4D34}"/>
              </a:ext>
            </a:extLst>
          </p:cNvPr>
          <p:cNvSpPr/>
          <p:nvPr/>
        </p:nvSpPr>
        <p:spPr>
          <a:xfrm>
            <a:off x="6115723" y="1068705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Neuron to Neuron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F4E18CD-15A0-A80A-B368-6D0B81C9FB3E}"/>
              </a:ext>
            </a:extLst>
          </p:cNvPr>
          <p:cNvSpPr/>
          <p:nvPr/>
        </p:nvSpPr>
        <p:spPr>
          <a:xfrm>
            <a:off x="6115723" y="1473395"/>
            <a:ext cx="2796987" cy="82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/>
              <a:t>Each neuron has multiple weights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/>
              <a:t>A neuron doesn’t send just one output with one weight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/>
              <a:t>It sends its output to multiple neurons in the next layer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/>
              <a:t>And each connection has its own weight </a:t>
            </a:r>
          </a:p>
          <a:p>
            <a:endParaRPr lang="en-US" sz="8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4AA3054-96C5-B370-E598-753C60EFCADE}"/>
              </a:ext>
            </a:extLst>
          </p:cNvPr>
          <p:cNvSpPr/>
          <p:nvPr/>
        </p:nvSpPr>
        <p:spPr>
          <a:xfrm>
            <a:off x="6024283" y="2834640"/>
            <a:ext cx="2845396" cy="1710466"/>
          </a:xfrm>
          <a:prstGeom prst="rect">
            <a:avLst/>
          </a:prstGeom>
          <a:solidFill>
            <a:srgbClr val="E8EAF6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F939AD0-B074-2AC0-FBD5-89BEFF8DE946}"/>
              </a:ext>
            </a:extLst>
          </p:cNvPr>
          <p:cNvSpPr/>
          <p:nvPr/>
        </p:nvSpPr>
        <p:spPr>
          <a:xfrm>
            <a:off x="6115723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A8A991BE-2B13-92B1-2121-3CB0144F1D35}"/>
              </a:ext>
            </a:extLst>
          </p:cNvPr>
          <p:cNvSpPr/>
          <p:nvPr/>
        </p:nvSpPr>
        <p:spPr>
          <a:xfrm>
            <a:off x="6115723" y="302096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/>
              <a:t>Suppose : One neuron output = 5</a:t>
            </a:r>
          </a:p>
          <a:p>
            <a:r>
              <a:rPr lang="en-US" sz="850" dirty="0"/>
              <a:t>Next layer has 3 neurons:</a:t>
            </a:r>
          </a:p>
          <a:p>
            <a:endParaRPr lang="en-US" sz="850" dirty="0"/>
          </a:p>
          <a:p>
            <a:endParaRPr lang="en-US" sz="850" dirty="0"/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id="{543F6A4E-9B6F-6A43-DD27-78A0289A0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How to build a simple artificial neural network with Go | by Sau Sheong | TDS Archive | Medium">
            <a:extLst>
              <a:ext uri="{FF2B5EF4-FFF2-40B4-BE49-F238E27FC236}">
                <a16:creationId xmlns:a16="http://schemas.microsoft.com/office/drawing/2014/main" id="{1A22AF1F-2AAB-D76E-28CF-840FE3B55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06" y="1105468"/>
            <a:ext cx="4483100" cy="332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 11">
            <a:extLst>
              <a:ext uri="{FF2B5EF4-FFF2-40B4-BE49-F238E27FC236}">
                <a16:creationId xmlns:a16="http://schemas.microsoft.com/office/drawing/2014/main" id="{CFE3CA8A-FFD3-428C-82B0-5A035C8F1548}"/>
              </a:ext>
            </a:extLst>
          </p:cNvPr>
          <p:cNvSpPr/>
          <p:nvPr/>
        </p:nvSpPr>
        <p:spPr>
          <a:xfrm>
            <a:off x="2109395" y="11054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6BC0"/>
                </a:solidFill>
              </a:rPr>
              <a:t>I1 = 5</a:t>
            </a:r>
            <a:endParaRPr lang="en-US" sz="1000" dirty="0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0945877C-E184-3F0E-E14A-160C6D417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253093"/>
              </p:ext>
            </p:extLst>
          </p:nvPr>
        </p:nvGraphicFramePr>
        <p:xfrm>
          <a:off x="6178475" y="3540379"/>
          <a:ext cx="2599765" cy="6344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75675">
                  <a:extLst>
                    <a:ext uri="{9D8B030D-6E8A-4147-A177-3AD203B41FA5}">
                      <a16:colId xmlns:a16="http://schemas.microsoft.com/office/drawing/2014/main" val="3359326873"/>
                    </a:ext>
                  </a:extLst>
                </a:gridCol>
                <a:gridCol w="509240">
                  <a:extLst>
                    <a:ext uri="{9D8B030D-6E8A-4147-A177-3AD203B41FA5}">
                      <a16:colId xmlns:a16="http://schemas.microsoft.com/office/drawing/2014/main" val="3871799744"/>
                    </a:ext>
                  </a:extLst>
                </a:gridCol>
                <a:gridCol w="1414850">
                  <a:extLst>
                    <a:ext uri="{9D8B030D-6E8A-4147-A177-3AD203B41FA5}">
                      <a16:colId xmlns:a16="http://schemas.microsoft.com/office/drawing/2014/main" val="1027541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50" kern="100" dirty="0">
                          <a:effectLst/>
                        </a:rPr>
                        <a:t>Connection to</a:t>
                      </a:r>
                      <a:endParaRPr lang="en-US" sz="85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50" kern="100" dirty="0">
                          <a:effectLst/>
                        </a:rPr>
                        <a:t>Weight</a:t>
                      </a:r>
                      <a:endParaRPr lang="en-US" sz="85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50" kern="100">
                          <a:effectLst/>
                        </a:rPr>
                        <a:t>Output passed</a:t>
                      </a:r>
                      <a:endParaRPr lang="en-US" sz="85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68728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50" kern="100">
                          <a:effectLst/>
                        </a:rPr>
                        <a:t>Neuron A</a:t>
                      </a:r>
                      <a:endParaRPr lang="en-US" sz="85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50" kern="100" dirty="0">
                          <a:effectLst/>
                        </a:rPr>
                        <a:t>0.2</a:t>
                      </a:r>
                      <a:endParaRPr lang="en-US" sz="85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50" kern="100">
                          <a:effectLst/>
                        </a:rPr>
                        <a:t>5 × 0.2 = 1</a:t>
                      </a:r>
                      <a:endParaRPr lang="en-US" sz="85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10393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50" kern="100">
                          <a:effectLst/>
                        </a:rPr>
                        <a:t>Neuron B</a:t>
                      </a:r>
                      <a:endParaRPr lang="en-US" sz="85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50" kern="100" dirty="0">
                          <a:effectLst/>
                        </a:rPr>
                        <a:t>0.8</a:t>
                      </a:r>
                      <a:endParaRPr lang="en-US" sz="85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50" kern="100" dirty="0">
                          <a:effectLst/>
                        </a:rPr>
                        <a:t>5 × 0.8 = 4</a:t>
                      </a:r>
                      <a:endParaRPr lang="en-US" sz="85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6088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50" kern="100">
                          <a:effectLst/>
                        </a:rPr>
                        <a:t>Neuron C</a:t>
                      </a:r>
                      <a:endParaRPr lang="en-US" sz="85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50" kern="100">
                          <a:effectLst/>
                        </a:rPr>
                        <a:t>-0.5</a:t>
                      </a:r>
                      <a:endParaRPr lang="en-US" sz="85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850" kern="100" dirty="0">
                          <a:effectLst/>
                        </a:rPr>
                        <a:t>5 × (-0.5) = -2.5</a:t>
                      </a:r>
                      <a:endParaRPr lang="en-US" sz="85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9618709"/>
                  </a:ext>
                </a:extLst>
              </a:tr>
            </a:tbl>
          </a:graphicData>
        </a:graphic>
      </p:graphicFrame>
      <p:sp>
        <p:nvSpPr>
          <p:cNvPr id="46" name="Text 11">
            <a:extLst>
              <a:ext uri="{FF2B5EF4-FFF2-40B4-BE49-F238E27FC236}">
                <a16:creationId xmlns:a16="http://schemas.microsoft.com/office/drawing/2014/main" id="{F892C959-4BC8-08D1-F901-CFA6F8D8F60D}"/>
              </a:ext>
            </a:extLst>
          </p:cNvPr>
          <p:cNvSpPr/>
          <p:nvPr/>
        </p:nvSpPr>
        <p:spPr>
          <a:xfrm>
            <a:off x="3024694" y="1187756"/>
            <a:ext cx="1398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C0"/>
                </a:solidFill>
              </a:rPr>
              <a:t>A</a:t>
            </a:r>
            <a:endParaRPr lang="en-US" sz="11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5F32E710-B92C-B876-ADA6-550AAC3F7556}"/>
              </a:ext>
            </a:extLst>
          </p:cNvPr>
          <p:cNvSpPr/>
          <p:nvPr/>
        </p:nvSpPr>
        <p:spPr>
          <a:xfrm>
            <a:off x="3015729" y="1805940"/>
            <a:ext cx="1398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C0"/>
                </a:solidFill>
              </a:rPr>
              <a:t>B</a:t>
            </a:r>
            <a:endParaRPr lang="en-US" sz="1100" dirty="0"/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6995A9F3-C1AA-5D21-C71F-DE7799411FBB}"/>
              </a:ext>
            </a:extLst>
          </p:cNvPr>
          <p:cNvSpPr/>
          <p:nvPr/>
        </p:nvSpPr>
        <p:spPr>
          <a:xfrm>
            <a:off x="3015729" y="2422085"/>
            <a:ext cx="1398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C0"/>
                </a:solidFill>
              </a:rPr>
              <a:t>C</a:t>
            </a:r>
            <a:endParaRPr lang="en-US" sz="1100" dirty="0"/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E82CCA10-256C-2232-E09D-3172FDA274FA}"/>
              </a:ext>
            </a:extLst>
          </p:cNvPr>
          <p:cNvSpPr/>
          <p:nvPr/>
        </p:nvSpPr>
        <p:spPr>
          <a:xfrm>
            <a:off x="2866018" y="1486529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6BC0"/>
                </a:solidFill>
              </a:rPr>
              <a:t>LUXURY</a:t>
            </a:r>
            <a:endParaRPr lang="en-US" sz="1000" dirty="0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3DCDF763-91B5-0D35-49F2-954235DF40CE}"/>
              </a:ext>
            </a:extLst>
          </p:cNvPr>
          <p:cNvSpPr/>
          <p:nvPr/>
        </p:nvSpPr>
        <p:spPr>
          <a:xfrm>
            <a:off x="2856156" y="210330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6BC0"/>
                </a:solidFill>
              </a:rPr>
              <a:t>BUDGET</a:t>
            </a:r>
            <a:endParaRPr lang="en-US" sz="1000" dirty="0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E6BF2D3A-8C9F-FE00-E432-26930EF3B995}"/>
              </a:ext>
            </a:extLst>
          </p:cNvPr>
          <p:cNvSpPr/>
          <p:nvPr/>
        </p:nvSpPr>
        <p:spPr>
          <a:xfrm>
            <a:off x="2855618" y="27069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6BC0"/>
                </a:solidFill>
              </a:rPr>
              <a:t>DENSITY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5261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Activation Functions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SECTION 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8346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834640" cy="41148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987552"/>
            <a:ext cx="621792" cy="256032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9875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Legacy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4242"/>
                </a:solidFill>
              </a:rPr>
              <a:t>Step Function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f(z) = 1 if z≥0, else 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66420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4242"/>
                </a:solidFill>
              </a:rPr>
              <a:t>Original perceptron activation. Binary output only. Not differentiable — cannot use gradient descent.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450592"/>
            <a:ext cx="2651760" cy="246888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50592"/>
            <a:ext cx="2651760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4242"/>
                </a:solidFill>
              </a:rPr>
              <a:t>Use: Historical only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18688" y="914400"/>
            <a:ext cx="28346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914400"/>
            <a:ext cx="2834640" cy="41148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67528" y="987552"/>
            <a:ext cx="621792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67528" y="9875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Classic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10128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</a:rPr>
              <a:t>Sigmoid (σ)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f(z) = 1 / (1 + e⁻ᶻ)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166420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4242"/>
                </a:solidFill>
              </a:rPr>
              <a:t>Outputs 0–1. Useful for binary classification. Suffers from vanishing gradients in deep networks.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10128" y="2450592"/>
            <a:ext cx="2651760" cy="246888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10128" y="2450592"/>
            <a:ext cx="2651760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37E"/>
                </a:solidFill>
              </a:rPr>
              <a:t>Use: Output layer (binary) – Binary Cross-entropy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63056" y="914400"/>
            <a:ext cx="28346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914400"/>
            <a:ext cx="2834640" cy="41148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11896" y="987552"/>
            <a:ext cx="621792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11896" y="9875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Common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54496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</a:rPr>
              <a:t>Tanh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f(z) = (eᶻ − e⁻ᶻ) / (eᶻ + e⁻ᶻ)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54496" y="166420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4242"/>
                </a:solidFill>
              </a:rPr>
              <a:t>Zero-centered output (−1 to 1). Better than sigmoid for hidden layers but still has vanishing gradient.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54496" y="2450592"/>
            <a:ext cx="2651760" cy="246888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2450592"/>
            <a:ext cx="2651760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38F"/>
                </a:solidFill>
              </a:rPr>
              <a:t>Use: Hidden layers (RNNs)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2926080"/>
            <a:ext cx="28346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926080"/>
            <a:ext cx="28346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2999232"/>
            <a:ext cx="621792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23160" y="299923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Popular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576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ReLU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f(z) = max(0, z)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367588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4242"/>
                </a:solidFill>
              </a:rPr>
              <a:t>Most widely used. Computationally efficient. Can suffer 'dying ReLU' when neurons output 0 permanently.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4462272"/>
            <a:ext cx="2651760" cy="24688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462272"/>
            <a:ext cx="2651760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</a:rPr>
              <a:t>Use: Hidden layers (CNNs, MLPs)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18688" y="2926080"/>
            <a:ext cx="28346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18688" y="2926080"/>
            <a:ext cx="283464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67528" y="2999232"/>
            <a:ext cx="62179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67528" y="299923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Better ReLU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310128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Leaky ReLU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310128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f(z) = max(αz, z) | α≈0.01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310128" y="367588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4242"/>
                </a:solidFill>
              </a:rPr>
              <a:t>Fixes dying ReLU by allowing small negative gradient. Better gradient flow than standard ReLU.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310128" y="4462272"/>
            <a:ext cx="2651760" cy="24688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0128" y="4462272"/>
            <a:ext cx="2651760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</a:rPr>
              <a:t>Use: Deep networks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63056" y="2926080"/>
            <a:ext cx="28346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63056" y="2926080"/>
            <a:ext cx="2834640" cy="41148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11896" y="2999232"/>
            <a:ext cx="621792" cy="25603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11896" y="299923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Multi-class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254496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3593"/>
                </a:solidFill>
              </a:rPr>
              <a:t>Softmax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54496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f(zᵢ) = eᶻⁱ / Σeᶻʲ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54496" y="367588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4242"/>
                </a:solidFill>
              </a:rPr>
              <a:t>Converts raw scores to probability distribution summing to 1. Essential for multi-class classification.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54496" y="4462272"/>
            <a:ext cx="2651760" cy="246888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54496" y="4462272"/>
            <a:ext cx="2651760" cy="2468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83593"/>
                </a:solidFill>
              </a:rPr>
              <a:t>Use: Output layer (multi-class) – categorical cross entropy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D7B32-EB09-EC7C-A738-F016CFF06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DDB060-BD86-D635-67A1-B1E74D6CD15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5B7898-AF20-184E-DAF6-10CD8AA6ED61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Function</a:t>
            </a:r>
            <a:endParaRPr lang="en-US" sz="2200" dirty="0"/>
          </a:p>
        </p:txBody>
      </p:sp>
      <p:pic>
        <p:nvPicPr>
          <p:cNvPr id="1028" name="Picture 4" descr="Week 5 and 6: Laplace Transform — Applied Math 2">
            <a:extLst>
              <a:ext uri="{FF2B5EF4-FFF2-40B4-BE49-F238E27FC236}">
                <a16:creationId xmlns:a16="http://schemas.microsoft.com/office/drawing/2014/main" id="{696D35C4-A1A0-EEEC-F483-632BC948E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835" y="1161303"/>
            <a:ext cx="5432612" cy="3621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Shape 27">
            <a:extLst>
              <a:ext uri="{FF2B5EF4-FFF2-40B4-BE49-F238E27FC236}">
                <a16:creationId xmlns:a16="http://schemas.microsoft.com/office/drawing/2014/main" id="{E61003A0-D502-B4FD-C330-B94731419291}"/>
              </a:ext>
            </a:extLst>
          </p:cNvPr>
          <p:cNvSpPr/>
          <p:nvPr/>
        </p:nvSpPr>
        <p:spPr>
          <a:xfrm>
            <a:off x="6140824" y="2183130"/>
            <a:ext cx="2468880" cy="1582046"/>
          </a:xfrm>
          <a:prstGeom prst="rect">
            <a:avLst/>
          </a:prstGeom>
          <a:solidFill>
            <a:srgbClr val="E8EAF6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Linear in Nature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Above threshold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Below threshold 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No in-between : very strict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Perfect for: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yes/no problems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rule-based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r>
              <a:rPr lang="en-US" sz="1100" dirty="0"/>
              <a:t>NOT USED</a:t>
            </a:r>
          </a:p>
        </p:txBody>
      </p:sp>
    </p:spTree>
    <p:extLst>
      <p:ext uri="{BB962C8B-B14F-4D97-AF65-F5344CB8AC3E}">
        <p14:creationId xmlns:p14="http://schemas.microsoft.com/office/powerpoint/2010/main" val="99928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0F398-7912-CCEE-43AD-649F044A4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F6649B-B62C-F06F-3681-1747AC72D70F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93263C-9843-C64F-7E47-15FB9B5415DB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Sigmoid Function</a:t>
            </a: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AD49B-E001-FFDF-194F-89C54FD7B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12925"/>
            <a:ext cx="7772400" cy="319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36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37380-7468-78AE-AC87-341A5318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88BFFE-3461-AD79-10D1-AEA8BD4304F0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88AD33-AEF5-CE61-9125-F0A35E88C2EF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Tanh Function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78DF5-849E-906C-03A7-58725997D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77527"/>
            <a:ext cx="7772400" cy="400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1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42BD-6AEE-29CF-5B09-B99144F4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363AF9-D2FF-EBA6-7504-AF0C37B8D86C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15193A-2037-C8FE-84AC-79B772EE5407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Relu</a:t>
            </a:r>
            <a:r>
              <a:rPr lang="en-US" sz="2200" b="1" dirty="0">
                <a:solidFill>
                  <a:srgbClr val="FFFFFF"/>
                </a:solidFill>
              </a:rPr>
              <a:t>  Function</a:t>
            </a: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7F33C1-5CB4-F4A1-6F11-FB998B4C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28933"/>
            <a:ext cx="7772400" cy="383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25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8B88E-9AA4-EC5F-89B5-6C4563324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3EB13B-ED2A-68F5-16B9-C0346999B666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0872C7-3E81-5E6F-85F4-F14C4B79FCE0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Leaky </a:t>
            </a:r>
            <a:r>
              <a:rPr lang="en-US" sz="2200" b="1" dirty="0" err="1">
                <a:solidFill>
                  <a:srgbClr val="FFFFFF"/>
                </a:solidFill>
              </a:rPr>
              <a:t>Relu</a:t>
            </a:r>
            <a:r>
              <a:rPr lang="en-US" sz="2200" b="1" dirty="0">
                <a:solidFill>
                  <a:srgbClr val="FFFFFF"/>
                </a:solidFill>
              </a:rPr>
              <a:t>  Function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157DD-EF12-F371-D1A4-1598E8271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132" y="1316691"/>
            <a:ext cx="59563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78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Loss Functions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CCBC"/>
                </a:solidFill>
              </a:rPr>
              <a:t>SECTION 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566928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5100"/>
                </a:solidFill>
              </a:rPr>
              <a:t>A Loss Function measures the gap between the model's prediction (ŷ) and the true label (y). Training minimizes this value.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57575"/>
                </a:solidFill>
              </a:rPr>
              <a:t>REGRESSION LOSSES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65960"/>
            <a:ext cx="73152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0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</a:rPr>
              <a:t>MSE — Mean Squared Error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(1/n) Σ(yᵢ − ŷᵢ)²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4242"/>
                </a:solidFill>
              </a:rPr>
              <a:t>Penalizes large errors heavily (squared). Sensitive to outliers. Most common for regression tasks.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34640"/>
            <a:ext cx="73152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95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</a:rPr>
              <a:t>MAE — Mean Absolute Error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(1/n) Σ|yᵢ − ŷᵢ|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4242"/>
                </a:solidFill>
              </a:rPr>
              <a:t>More robust to outliers than MSE. Less smooth gradient near zero.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37033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703320"/>
            <a:ext cx="73152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581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</a:rPr>
              <a:t>Huber Loss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MSE if |e|≤δ, else MAE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4242"/>
                </a:solidFill>
              </a:rPr>
              <a:t>Combines MSE (small errors) and MAE (large errors). Best of both worlds.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1645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57575"/>
                </a:solidFill>
              </a:rPr>
              <a:t>CLASSIFICATION LOSSES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9659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965960"/>
            <a:ext cx="731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020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Binary Cross-Entropy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2402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−[y·log(ŷ) + (1−y)·log(1−ŷ)]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4242"/>
                </a:solidFill>
              </a:rPr>
              <a:t>Used with sigmoid output for binary classification. Penalizes confident wrong predictions heavily.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28346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834640"/>
            <a:ext cx="731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8895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Categorical Cross-Entropy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1089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−Σ yᵢ · log(ŷᵢ)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4242"/>
                </a:solidFill>
              </a:rPr>
              <a:t>Used with softmax for multi-class. Compares predicted probability distribution to one-hot labels.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37033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703320"/>
            <a:ext cx="731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7581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Hinge Loss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3977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max(0, 1 − y·ŷ)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4242"/>
                </a:solidFill>
              </a:rPr>
              <a:t>Used in SVMs and max-margin classifiers. Encourages correct classification by a margin.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Optimization Techniques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D6A7"/>
                </a:solidFill>
              </a:rPr>
              <a:t>SECTION 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Goal: Find weights W that minimize the loss function L(W). Gradient Descent is the core idea — move W in the direction opposite to the gradient ∇L.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4251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54480"/>
            <a:ext cx="4251960" cy="384048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54480"/>
            <a:ext cx="73152" cy="15544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38F"/>
                </a:solidFill>
              </a:rPr>
              <a:t>SGD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1645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838F"/>
                </a:solidFill>
              </a:rPr>
              <a:t>Stochastic Gradient Descent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9933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 − η · ∇L(W; xᵢ)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2311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4242"/>
                </a:solidFill>
              </a:rPr>
              <a:t>Updates weights using one sample (or mini-batch) at a time. Fast but noisy. η = learning rate.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6791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</a:rPr>
              <a:t>✔ Simple, memory-efficient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23160" y="2679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</a:rPr>
              <a:t>✘ Noisy convergence, may oscillate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09160" y="1554480"/>
            <a:ext cx="4251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554480"/>
            <a:ext cx="4251960" cy="384048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554480"/>
            <a:ext cx="73152" cy="15544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SGD + Momentum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645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37E"/>
                </a:solidFill>
              </a:rPr>
              <a:t>Momentum Accelerated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9933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βv − η·∇L;  W = W + 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2311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4242"/>
                </a:solidFill>
              </a:rPr>
              <a:t>Accumulates velocity in consistent gradient directions. Speeds up convergence and reduces oscillation.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26791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</a:rPr>
              <a:t>✔ Faster convergence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2679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</a:rPr>
              <a:t>✘ Requires tuning β (typically 0.9)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246120"/>
            <a:ext cx="4251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46120"/>
            <a:ext cx="4251960" cy="38404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246120"/>
            <a:ext cx="73152" cy="1554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RMSProp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83080" y="33375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65100"/>
                </a:solidFill>
              </a:rPr>
              <a:t>Root Mean Square Propagation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36850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 − (η/√E[g²]+ε) · 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392277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4242"/>
                </a:solidFill>
              </a:rPr>
              <a:t>Adapts learning rate per-parameter using running average of squared gradients. Good for RNNs.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43708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</a:rPr>
              <a:t>✔ Handles non-stationary objectives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423160" y="4370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</a:rPr>
              <a:t>✘ No momentum by default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3246120"/>
            <a:ext cx="4251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246120"/>
            <a:ext cx="425196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246120"/>
            <a:ext cx="73152" cy="1554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Adam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17920" y="33375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D32"/>
                </a:solidFill>
              </a:rPr>
              <a:t>Adaptive Moment Estimation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36850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m̂=m/(1−β₁);  v̂=v/(1−β₂)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92277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4242"/>
                </a:solidFill>
              </a:rPr>
              <a:t>Combines Momentum + RMSProp. Maintains first and second moment estimates. Default choice for most tasks.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46320" y="43708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</a:rPr>
              <a:t>✔ Fast, robust — works out-of-the-box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0" y="4370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</a:rPr>
              <a:t>✘ May generalize slightly worse than SGD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&amp; 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EFF"/>
                </a:solidFill>
              </a:rPr>
              <a:t>Neural Networks  •  Loss Functions  •  Optimization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685800" cy="10058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</a:rPr>
              <a:t>Neural Network = Layers of Neurons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6642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4242"/>
                </a:solidFill>
              </a:rPr>
              <a:t>Each neuron computes a weighted sum of inputs plus a bias, then applies an activation function to introduce non-linearity.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685800" cy="10058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80160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32120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C0"/>
                </a:solidFill>
              </a:rPr>
              <a:t>Perceptron is the Simplest Unit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16642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4242"/>
                </a:solidFill>
              </a:rPr>
              <a:t>A single neuron that makes binary decisions. Multiple stacked perceptrons can solve complex, non-linearly separable problems.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395728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95728"/>
            <a:ext cx="685800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95728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24871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Activation Functions Add Non-linearity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77977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4242"/>
                </a:solidFill>
              </a:rPr>
              <a:t>ReLU is the default for hidden layers; Sigmoid for binary outputs; Softmax for multi-class outputs. Choice impacts gradient flow.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395728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95728"/>
            <a:ext cx="6858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395728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32120" y="24871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Loss Functions Measure Error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32120" y="277977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4242"/>
                </a:solidFill>
              </a:rPr>
              <a:t>MSE/MAE for regression; Cross-Entropy for classification. The loss guides training by quantifying how wrong the model's predictions are.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11296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511296"/>
            <a:ext cx="6858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11296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36027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</a:rPr>
              <a:t>Optimizers Minimize Loss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389534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4242"/>
                </a:solidFill>
              </a:rPr>
              <a:t>Gradient Descent iteratively updates weights. Adam is the go-to modern optimizer — adaptive, fast, and robust across most architectures.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1323</Words>
  <Application>Microsoft Macintosh PowerPoint</Application>
  <PresentationFormat>On-screen Show (16:9)</PresentationFormat>
  <Paragraphs>214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Networks &amp; Optimization</dc:title>
  <dc:subject>PptxGenJS Presentation</dc:subject>
  <dc:creator>PptxGenJS</dc:creator>
  <cp:lastModifiedBy>Shalini Mittal</cp:lastModifiedBy>
  <cp:revision>31</cp:revision>
  <dcterms:created xsi:type="dcterms:W3CDTF">2026-04-01T14:02:46Z</dcterms:created>
  <dcterms:modified xsi:type="dcterms:W3CDTF">2026-04-02T11:18:08Z</dcterms:modified>
</cp:coreProperties>
</file>