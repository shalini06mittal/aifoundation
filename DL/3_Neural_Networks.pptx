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963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E3F7A">
              <a:alpha val="45000"/>
            </a:srgbClr>
          </a:solidFill>
          <a:ln w="12700">
            <a:solidFill>
              <a:srgbClr val="1E3F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0"/>
            <a:ext cx="2743200" cy="27432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7315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37160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01168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4572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5603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813816"/>
            <a:ext cx="566928" cy="47548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63256" y="1453896"/>
            <a:ext cx="201168" cy="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65976" y="2093976"/>
            <a:ext cx="1005840" cy="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093976"/>
            <a:ext cx="0" cy="102412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777240"/>
            <a:ext cx="19202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777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DEEP LEARNING SERIES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2070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" y="16459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exist, how they work &amp; where they shine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3F7A"/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BFDBFE"/>
                </a:solidFill>
              </a:rPr>
              <a:t>ANN  ·  CNN  ·  RNN  ·  LSTM  ·  GAN  ·  Transformer  ·  Autoencoder  ·  GNN  ·  Radial Basis  ·  Hopfield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WHY DO DIFFERENT NEURAL NETWORK TYPES EXIST?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544"/>
                </a:solidFill>
              </a:rPr>
              <a:t>One architecture cannot rule them all.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Data comes in many shapes — flat tables, sequences, images, graphs. Each structure demands a different inductive bias.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783080"/>
            <a:ext cx="1600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83080"/>
            <a:ext cx="1600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653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 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816352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Images have spatial locality. Text is sequential. Graphs have relational topology. Each needs tailored processing.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93392" y="1783080"/>
            <a:ext cx="1600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783080"/>
            <a:ext cx="1600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8653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66544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Efficiency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816352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CNNs exploit parameter sharing so image models don't need billions of weights to see a cat.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30752" y="1783080"/>
            <a:ext cx="1600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783080"/>
            <a:ext cx="1600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8653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803904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Inductive Bias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2816352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Priors built into the architecture — locality, recurrence, attention — encode what we know about the problem domain.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68112" y="1783080"/>
            <a:ext cx="1600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68112" y="1783080"/>
            <a:ext cx="1600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8653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41264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Task 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2816352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Generation needs different math than classification. Compression needs different training than prediction.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05472" y="1783080"/>
            <a:ext cx="1600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05472" y="1783080"/>
            <a:ext cx="160020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18653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278624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816352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Transformers parallelise across tokens; RNNs process step-by-step. The right choice depends on data size and compute.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NEURAL NETWORK TAXONOMY — AT A GLANCE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➡️  Feedforward Family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" y="152704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48132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ANN / MLP — tabular &amp; general tasks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19568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911096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Autoencoder — compression &amp; generation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3865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340864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Radial Basis Network — function approx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🔄  Sequence Models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73752" y="152704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8344" y="148132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RNN — sequential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3752" y="19568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8344" y="1911096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LSTM / GRU — long-range sequences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73752" y="238658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8344" y="2340864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Transformer — attention-based sequences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53512"/>
            <a:ext cx="416052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53512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53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🗺️  Spatial / Structural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" y="35204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3474720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CNN — images &amp; spatial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" y="39502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90448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GNN — graphs &amp; relational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" y="43799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4334256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Hopfield Network — associative memory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953512"/>
            <a:ext cx="416052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53512"/>
            <a:ext cx="41605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953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✨  Generative Models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73752" y="352044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3474720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GAN — realistic data synthesis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73752" y="395020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38344" y="390448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VAE — latent space generation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437997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38344" y="4334256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Diffusion — high-quality image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ARTIFICIAL NEURAL NETWORK (ANN) / MULTILAYER PERCEPTRON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5120640" cy="34747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</a:rPr>
              <a:t>Why it exists: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38CA"/>
                </a:solidFill>
              </a:rPr>
              <a:t>The foundational architecture — learns any function from labelled examples via backpropagation.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71600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081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Layers of fully-connected neurons: Input → Hidden(s) → Output. Every neuron in layer N connects to every neuron in layer N+1 (dense connections).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67712"/>
            <a:ext cx="64008" cy="8046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042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</a:rPr>
              <a:t>How it learns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5420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Forward pass computes predictions. Loss measures error. Backpropagation computes gradients. Optimiser (SGD/Adam) updates weights.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63824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6382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004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Best for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3814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Tabular / structured data, regression, binary &amp; multi-class classification, feature learning from fixed-size inputs.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59936"/>
            <a:ext cx="64008" cy="8046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0965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433425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Ignores spatial structure in images. Poor at sequences. Scales badly with raw pixels — too many parameters.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896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544"/>
                </a:solidFill>
              </a:rPr>
              <a:t>Network Diagram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87568" y="210312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2103120"/>
            <a:ext cx="1018032" cy="493776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2103120"/>
            <a:ext cx="1018032" cy="1152144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7568" y="2103120"/>
            <a:ext cx="1018032" cy="1810512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87568" y="292608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87568" y="292608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7568" y="2926080"/>
            <a:ext cx="1018032" cy="329184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7568" y="2926080"/>
            <a:ext cx="1018032" cy="987552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7568" y="374904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374904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3749040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3749040"/>
            <a:ext cx="1018032" cy="164592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8112" y="199339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68112" y="28163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68112" y="36393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4617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Input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15328" y="1938528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5328" y="1938528"/>
            <a:ext cx="1018032" cy="658368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5328" y="1938528"/>
            <a:ext cx="1018032" cy="1316736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5328" y="1938528"/>
            <a:ext cx="1018032" cy="1975104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5328" y="2596896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5328" y="2596896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5328" y="2596896"/>
            <a:ext cx="1018032" cy="658368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15328" y="2596896"/>
            <a:ext cx="1018032" cy="1316736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5328" y="3255264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15328" y="3255264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15328" y="3255264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15328" y="3255264"/>
            <a:ext cx="1018032" cy="658368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1532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1532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1532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532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95872" y="182880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595872" y="248716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595872" y="314553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595872" y="3803904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339840" y="4617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Hidden 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943088" y="1938528"/>
            <a:ext cx="1018032" cy="438912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43088" y="1938528"/>
            <a:ext cx="1018032" cy="1536192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43088" y="2596896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43088" y="2596896"/>
            <a:ext cx="1018032" cy="877824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43088" y="3255264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43088" y="3255264"/>
            <a:ext cx="1018032" cy="219456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4308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43088" y="3913632"/>
            <a:ext cx="10180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3632" y="1828800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723632" y="2487168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723632" y="3145536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723632" y="3803904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7467600" y="4617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Hidden 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851392" y="226771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851392" y="336499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8595360" y="4617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Output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577840" y="4645152"/>
            <a:ext cx="1600200" cy="219456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7840" y="464515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338CA"/>
                </a:solidFill>
              </a:rPr>
              <a:t>Credit scoring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315200" y="4645152"/>
            <a:ext cx="1600200" cy="219456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0" y="464515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338CA"/>
                </a:solidFill>
              </a:rPr>
              <a:t>Medical diagnosis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577840" y="4901184"/>
            <a:ext cx="1600200" cy="219456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77840" y="490118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338CA"/>
                </a:solidFill>
              </a:rPr>
              <a:t>Price prediction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15200" y="4901184"/>
            <a:ext cx="1600200" cy="219456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490118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338CA"/>
                </a:solidFill>
              </a:rPr>
              <a:t>Churn prediction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CONVOLUTIONAL NEURAL NETWORK (CNN)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512064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Why it exists: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Images have spatial structure — nearby pixels are related. CNNs exploit this with local filters and parameter sharing.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7160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081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Key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Convolution: slide a small filter over the input to detect local patterns. Pooling: downsample to gain translation invariance. Stacking builds hierarchy: edges → shapes → objects.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67712"/>
            <a:ext cx="64008" cy="8046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042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</a:rPr>
              <a:t>How it learns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5420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Shared filter weights dramatically cut parameters. Deeper layers learn increasingly abstract features automatically from raw pixels.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63824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63824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004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Best for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3814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Image classification, object detection (YOLO, RCNN), segmentation, medical imaging (MRI, histology), video analysis, NLP with 1D convolutions.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5120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59936"/>
            <a:ext cx="64008" cy="8046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0965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433425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Poor on non-grid data (graphs, sequences). Struggles with very long-range spatial dependencies unless very deep or combined with attention.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896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544"/>
                </a:solidFill>
              </a:rPr>
              <a:t>CNN Feature Extraction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87568" y="2715768"/>
            <a:ext cx="640080" cy="640080"/>
          </a:xfrm>
          <a:prstGeom prst="rect">
            <a:avLst/>
          </a:prstGeom>
          <a:solidFill>
            <a:srgbClr val="0D9488">
              <a:alpha val="74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32704" y="2660904"/>
            <a:ext cx="640080" cy="640080"/>
          </a:xfrm>
          <a:prstGeom prst="rect">
            <a:avLst/>
          </a:prstGeom>
          <a:solidFill>
            <a:srgbClr val="0D9488">
              <a:alpha val="6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606040"/>
            <a:ext cx="640080" cy="640080"/>
          </a:xfrm>
          <a:prstGeom prst="rect">
            <a:avLst/>
          </a:prstGeom>
          <a:solidFill>
            <a:srgbClr val="0D9488">
              <a:alpha val="5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4617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Input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Image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27648" y="292608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8816" y="2784348"/>
            <a:ext cx="502920" cy="502920"/>
          </a:xfrm>
          <a:prstGeom prst="rect">
            <a:avLst/>
          </a:prstGeom>
          <a:solidFill>
            <a:srgbClr val="2563EB">
              <a:alpha val="74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3952" y="2729484"/>
            <a:ext cx="502920" cy="502920"/>
          </a:xfrm>
          <a:prstGeom prst="rect">
            <a:avLst/>
          </a:prstGeom>
          <a:solidFill>
            <a:srgbClr val="2563EB">
              <a:alpha val="6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2674620"/>
            <a:ext cx="502920" cy="502920"/>
          </a:xfrm>
          <a:prstGeom prst="rect">
            <a:avLst/>
          </a:prstGeom>
          <a:solidFill>
            <a:srgbClr val="2563EB">
              <a:alpha val="5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4617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Conv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ReLU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31736" y="292608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32904" y="2843784"/>
            <a:ext cx="384048" cy="384048"/>
          </a:xfrm>
          <a:prstGeom prst="rect">
            <a:avLst/>
          </a:prstGeom>
          <a:solidFill>
            <a:srgbClr val="4338CA">
              <a:alpha val="74000"/>
            </a:srgbClr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2788920"/>
            <a:ext cx="384048" cy="384048"/>
          </a:xfrm>
          <a:prstGeom prst="rect">
            <a:avLst/>
          </a:prstGeom>
          <a:solidFill>
            <a:srgbClr val="4338CA">
              <a:alpha val="62000"/>
            </a:srgbClr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23176" y="2734056"/>
            <a:ext cx="384048" cy="384048"/>
          </a:xfrm>
          <a:prstGeom prst="rect">
            <a:avLst/>
          </a:prstGeom>
          <a:solidFill>
            <a:srgbClr val="4338CA">
              <a:alpha val="50000"/>
            </a:srgbClr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61772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Pooling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16952" y="292608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2889504"/>
            <a:ext cx="292608" cy="292608"/>
          </a:xfrm>
          <a:prstGeom prst="rect">
            <a:avLst/>
          </a:prstGeom>
          <a:solidFill>
            <a:srgbClr val="7C3AED">
              <a:alpha val="74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63256" y="2834640"/>
            <a:ext cx="292608" cy="292608"/>
          </a:xfrm>
          <a:prstGeom prst="rect">
            <a:avLst/>
          </a:prstGeom>
          <a:solidFill>
            <a:srgbClr val="7C3AED">
              <a:alpha val="6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08392" y="2779776"/>
            <a:ext cx="292608" cy="292608"/>
          </a:xfrm>
          <a:prstGeom prst="rect">
            <a:avLst/>
          </a:prstGeom>
          <a:solidFill>
            <a:srgbClr val="7C3AED">
              <a:alpha val="5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46177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Conv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ReLU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110728" y="292608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02168" y="2596896"/>
            <a:ext cx="201168" cy="65836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072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Flatten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+ FC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513064" y="292608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04504" y="2697480"/>
            <a:ext cx="164592" cy="457200"/>
          </a:xfrm>
          <a:prstGeom prst="rect">
            <a:avLst/>
          </a:prstGeom>
          <a:solidFill>
            <a:srgbClr val="E11D48">
              <a:alpha val="80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13064" y="4617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Softmax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Out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577840" y="4663440"/>
            <a:ext cx="160020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66344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Image classification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15200" y="4663440"/>
            <a:ext cx="160020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466344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Object detection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77840" y="4901184"/>
            <a:ext cx="160020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49011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Face recognition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15200" y="4901184"/>
            <a:ext cx="160020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0" y="49011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Medical imaging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</a:rPr>
              <a:t>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RECURRENT NEURAL NETWORK (RNN) &amp; LONG SHORT-TERM MEMORY (LSTM)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0690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6012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RNN — Recurrent Neural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2801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Why it exists: Sequences have order. Each output depends on current input AND past state.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55548" y="1938528"/>
            <a:ext cx="475488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" y="19385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h_t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1036" y="2112264"/>
            <a:ext cx="25603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3292" y="168249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" y="15910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1408176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x1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93292" y="2286000"/>
            <a:ext cx="0" cy="2011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9284" y="248716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87068" y="1938528"/>
            <a:ext cx="475488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7068" y="19385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h_t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62556" y="2112264"/>
            <a:ext cx="25603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4812" y="168249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0804" y="15910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0220" y="1408176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x2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24812" y="2286000"/>
            <a:ext cx="0" cy="2011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0804" y="248716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8588" y="1938528"/>
            <a:ext cx="475488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8588" y="19385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h_t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94076" y="2112264"/>
            <a:ext cx="25603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6332" y="168249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92324" y="15910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1740" y="1408176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x3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56332" y="2286000"/>
            <a:ext cx="0" cy="2011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92324" y="248716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0108" y="1938528"/>
            <a:ext cx="475488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0108" y="19385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h_t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7852" y="168249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23844" y="15910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3260" y="1408176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x4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87852" y="2286000"/>
            <a:ext cx="0" cy="2011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23844" y="248716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74320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11D48"/>
                </a:solidFill>
              </a:rPr>
              <a:t>Vanishing Gradient Problem: gradients shrink through many timesteps — RNNs forget distant past.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" y="321868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" y="3429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Short-sequence modelling, basic time series, early NLP, simple speech processing.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29768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896112"/>
            <a:ext cx="429768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960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</a:rPr>
              <a:t>LSTM — Long Short-Term Memory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663440" y="128016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Why it exists: Solves the vanishing gradient problem. A cell state (memory highway) + gating mechanism controls what to remember or forget.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1810512"/>
            <a:ext cx="1325880" cy="493776"/>
          </a:xfrm>
          <a:prstGeom prst="rect">
            <a:avLst/>
          </a:prstGeom>
          <a:solidFill>
            <a:srgbClr val="E11D48">
              <a:alpha val="8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18105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Forget Gate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89320" y="2057400"/>
            <a:ext cx="164592" cy="0"/>
          </a:xfrm>
          <a:prstGeom prst="line">
            <a:avLst/>
          </a:prstGeom>
          <a:noFill/>
          <a:ln w="12700">
            <a:solidFill>
              <a:srgbClr val="E11D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1865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Decides what to erase from memory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2404872"/>
            <a:ext cx="1325880" cy="49377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40487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Gate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89320" y="2651760"/>
            <a:ext cx="16459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9632" y="24597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Decides what new info to store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63440" y="2999232"/>
            <a:ext cx="1325880" cy="493776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29992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State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89320" y="3246120"/>
            <a:ext cx="164592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30540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Memory highway — flows with small changes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3593592"/>
            <a:ext cx="1325880" cy="493776"/>
          </a:xfrm>
          <a:prstGeom prst="rect">
            <a:avLst/>
          </a:prstGeom>
          <a:solidFill>
            <a:srgbClr val="4338CA">
              <a:alpha val="85000"/>
            </a:srgbClr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35935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 Gate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89320" y="3840480"/>
            <a:ext cx="164592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9632" y="364845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Decides what to output from memory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663440" y="42519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38CA"/>
                </a:solidFill>
              </a:rPr>
              <a:t>GRU (Gated Recurrent Unit):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663440" y="44439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Simplified LSTM with fewer gates — faster training, comparable performance on many tasks.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663440" y="34564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Use cases: Machine translation, speech recognition, text generation, financial time series, music generation.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338CA"/>
                </a:solidFill>
              </a:rPr>
              <a:t>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TRANSFORMER NETWORK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</a:rPr>
              <a:t>Why it exists: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4752" y="8961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38CA"/>
                </a:solidFill>
              </a:rPr>
              <a:t>RNNs process sequences step-by-step — they can't parallelise and struggle with very long contexts. Transformers replaced recurrence with Self-Attention, enabling full parallelism and direct access to any position in the sequence.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76148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89888"/>
            <a:ext cx="2761488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</a:rPr>
              <a:t>🔗  Self-Attention Mechanism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257860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token attends to every other token simultaneously. The model learns which tokens are most relevant to each other regardless of distance. Query, Key, Value matrices compute attention scores.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389888"/>
            <a:ext cx="276148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389888"/>
            <a:ext cx="276148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4630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🧩  Multi-Head Attention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1828800"/>
            <a:ext cx="257860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Multiple attention heads run in parallel, each focusing on different relationship types (syntax, semantics, coreference). Their outputs are concatenated and projected.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389888"/>
            <a:ext cx="276148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389888"/>
            <a:ext cx="27614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4630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📍  Positional Encoding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1828800"/>
            <a:ext cx="257860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Since there's no recurrence, the model has no inherent sense of order. Positional encodings (sinusoidal or learned) are added to token embeddings to inject sequence position.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507492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4015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Architecture Variants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91440" cy="914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75888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Encoder-only (BERT): Bidirectional context — great for classification, NER, QA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059936"/>
            <a:ext cx="91440" cy="914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23360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Decoder-only (GPT): Autoregressive text generation — predicts next token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407408"/>
            <a:ext cx="91440" cy="914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70832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Encoder-Decoder (T5, BART): Seq2seq — translation, summarisation, Q&amp;A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3337560"/>
            <a:ext cx="3337560" cy="146304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23560" y="3401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</a:rPr>
              <a:t>Real-World Impact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50992" y="3712464"/>
            <a:ext cx="82296" cy="822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67588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ChatGPT / Claude / Gemini (LLMs)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50992" y="3986784"/>
            <a:ext cx="82296" cy="822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95020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GitHub Copilot (code generation)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50992" y="4261104"/>
            <a:ext cx="82296" cy="822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422452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Google Search / Translate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50992" y="4535424"/>
            <a:ext cx="82296" cy="822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449884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Whisper (speech recognition)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50992" y="4809744"/>
            <a:ext cx="82296" cy="822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477316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DALL·E / Stable Diffusion (image gen)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1D48"/>
                </a:solidFill>
              </a:rPr>
              <a:t>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GENERATIVE ADVERSARIAL NETWORK (GAN)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1D48"/>
                </a:solidFill>
              </a:rPr>
              <a:t>Why it exists: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4752" y="8961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</a:rPr>
              <a:t>We need machines that can create realistic data, not just classify it. GANs pit two networks against each other to produce outputs indistinguishable from real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91440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Noise 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6712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591056"/>
            <a:ext cx="1417320" cy="117043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159105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029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230428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</a:rPr>
              <a:t>Creates fake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</a:rPr>
              <a:t>samples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80360" y="2167128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892808"/>
            <a:ext cx="868680" cy="566928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892808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1D48"/>
                </a:solidFill>
              </a:rPr>
              <a:t>Fake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11D48"/>
                </a:solidFill>
              </a:rPr>
              <a:t>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27832" y="2560320"/>
            <a:ext cx="86868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256032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59669"/>
                </a:solidFill>
              </a:rPr>
              <a:t>Real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59669"/>
                </a:solidFill>
              </a:rPr>
              <a:t>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96512" y="2167128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6512" y="283464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2544" y="1591056"/>
            <a:ext cx="1417320" cy="1170432"/>
          </a:xfrm>
          <a:prstGeom prst="rect">
            <a:avLst/>
          </a:prstGeom>
          <a:solidFill>
            <a:srgbClr val="4338CA">
              <a:alpha val="90000"/>
            </a:srgbClr>
          </a:solidFill>
          <a:ln w="12700">
            <a:solidFill>
              <a:srgbClr val="4338CA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52544" y="159105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52544" y="2029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DISCRIMINATOR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52544" y="230428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7FF"/>
                </a:solidFill>
              </a:rPr>
              <a:t>Real or Fake?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69864" y="2167128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1892808"/>
            <a:ext cx="100584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8928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Real 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62472" y="2560320"/>
            <a:ext cx="1005840" cy="566928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25603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1D48"/>
                </a:solidFill>
              </a:rPr>
              <a:t>Fake 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85237" y="3534156"/>
            <a:ext cx="411480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5237" y="35798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11D48"/>
                </a:solidFill>
              </a:rPr>
              <a:t>Gradient signal — Generator learns to fool the Discriminator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41605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✅  Applications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4233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Photorealistic image synthesis (StyleGAN)  ·  DeepFake video generation  ·  Data augmentation for rare classes  ·  Art, fashion &amp; design generation  ·  Image-to-image translation (Pix2Pix)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931920"/>
            <a:ext cx="41605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18888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⚠️ 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18888" y="4233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Mode collapse — generates limited variety  ·  Training instability &amp; non-convergence  ·  Hard to evaluate output quality  ·  Ethical concerns (misinformation)  ·  Computationally expensive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AUTOENCODER  &amp;  GRAPH NEURAL NETWORK (GNN)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60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Autoencoder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Why it exists: Learn compressed representations of data without labels. Forces the network to discover the most important features.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1280160" cy="128016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556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ENCODER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318004"/>
            <a:ext cx="164592" cy="50292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377440"/>
            <a:ext cx="164592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2432304"/>
            <a:ext cx="164592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2121408"/>
            <a:ext cx="1280160" cy="54864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1214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SPACE z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1755648"/>
            <a:ext cx="1280160" cy="128016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7556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DECODER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2432304"/>
            <a:ext cx="164592" cy="274320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2377440"/>
            <a:ext cx="164592" cy="384048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11296" y="2318004"/>
            <a:ext cx="164592" cy="502920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0815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Compress →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88920" y="30815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← Reconstruct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32004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Applications: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341985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Anomaly detection (fraud, faults)  ·  Dimensionality reduction  ·  Image denoising &amp; compression  ·  Generative modelling (VAE)  ·  Feature learning for downstream tasks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39776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97706"/>
                </a:solidFill>
              </a:rPr>
              <a:t>VAE (Variational Autoencoder): Latent space is a probability distribution — enables smooth interpolation and generation of new samples.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896112"/>
            <a:ext cx="425196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896112"/>
            <a:ext cx="42519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960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Graph Neural Network (GNN)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126187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Why it exists: Real-world data is often relational — molecules, social networks, road maps. CNNs &amp; RNNs can't naturally handle arbitrary graph topology.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1965960"/>
            <a:ext cx="10515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691640"/>
            <a:ext cx="868680" cy="4114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2103120"/>
            <a:ext cx="0" cy="73152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2834640"/>
            <a:ext cx="0" cy="9144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2926080"/>
            <a:ext cx="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1691640"/>
            <a:ext cx="274320" cy="114300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82880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949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155448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19659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0840" y="269748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2084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23560" y="278892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62356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32004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59669"/>
                </a:solidFill>
              </a:rPr>
              <a:t>Message Passing: Each node aggregates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059669"/>
                </a:solidFill>
              </a:rPr>
              <a:t>information from its neighbours iteratively.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09160" y="365760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Applications: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09160" y="3877056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Drug discovery (molecular graphs)  ·  Social network analysis  ·  Recommendation systems  ·  Traffic &amp; route prediction  ·  Knowledge graph reasoning  ·  Chip design (Google DeepMind)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</a:rPr>
              <a:t>COMPARISON SUMMARY — WHICH NETWORK FOR WHICH PROBLEM?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1508760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96112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Network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83080" y="896112"/>
            <a:ext cx="1691640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7944" y="896112"/>
            <a:ext cx="1636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896112"/>
            <a:ext cx="2331720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896112"/>
            <a:ext cx="2276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Primary Use Cases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896112"/>
            <a:ext cx="2011680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304" y="89611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Limitation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225296"/>
            <a:ext cx="1508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225296"/>
            <a:ext cx="54864" cy="47548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225296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38CA"/>
                </a:solidFill>
              </a:rPr>
              <a:t>ANN / MLP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1225296"/>
            <a:ext cx="1691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22529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Tabular, fixed-size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1225296"/>
            <a:ext cx="23317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22529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Classification, regression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1225296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2252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Ignores structure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1719072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719072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171907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CNN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83080" y="1719072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17190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Grid / images / video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0" y="1719072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17190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Vision, spatial pattern recognition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06440" y="171907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Poor on sequences/graphs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212848"/>
            <a:ext cx="1508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212848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2212848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RNN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83080" y="2212848"/>
            <a:ext cx="1691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22128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Short sequences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0" y="2212848"/>
            <a:ext cx="23317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22128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Basic NLP, simple time series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06440" y="2212848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212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Vanishing gradient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706624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706624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LSTM / GRU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83080" y="2706624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74520" y="270662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Long sequences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74720" y="2706624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70662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NLP, speech, forecasting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06440" y="270662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270662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Slow on long context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200400"/>
            <a:ext cx="1508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200400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3200400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Transformer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83080" y="3200400"/>
            <a:ext cx="1691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74520" y="3200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sequence / tokens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74720" y="3200400"/>
            <a:ext cx="23317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320040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LLMs, translation, code gen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06440" y="3200400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3200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Quadratic attention cost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369417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3694176"/>
            <a:ext cx="54864" cy="4754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" y="3694176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</a:rPr>
              <a:t>GAN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783080" y="3694176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4520" y="36941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(gen)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474720" y="3694176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0" y="36941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Image / video synthesis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806440" y="369417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97880" y="36941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Training instability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74320" y="4187952"/>
            <a:ext cx="1508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4187952"/>
            <a:ext cx="54864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" y="418795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Autoencoder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783080" y="4187952"/>
            <a:ext cx="1691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74520" y="418795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(unsupervised)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474720" y="4187952"/>
            <a:ext cx="23317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0" y="418795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Anomaly detection, compression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806440" y="4187952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97880" y="41879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Reconstruction quality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74320" y="4681728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" y="4681728"/>
            <a:ext cx="54864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2336" y="4681728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GNN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783080" y="4681728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74520" y="46817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Graph / relational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474720" y="4681728"/>
            <a:ext cx="2331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66160" y="468172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Molecules, social, maps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06440" y="468172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97880" y="4681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Scalability on large graphs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F7A">
              <a:alpha val="45000"/>
            </a:srgbClr>
          </a:solidFill>
          <a:ln w="12700">
            <a:solidFill>
              <a:srgbClr val="1E3F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011680"/>
            <a:ext cx="3200400" cy="32004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19456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DEEP LEARNING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Network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Right Problem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Choosing a neural network is about matching the inductive bias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of the architecture to the structure of your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2834640" cy="329184"/>
          </a:xfrm>
          <a:prstGeom prst="rect">
            <a:avLst/>
          </a:prstGeom>
          <a:solidFill>
            <a:srgbClr val="1E3F7A">
              <a:alpha val="80000"/>
            </a:srgbClr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4015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</a:rPr>
              <a:t>📐  Match architecture to data structure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3401568"/>
            <a:ext cx="2834640" cy="329184"/>
          </a:xfrm>
          <a:prstGeom prst="rect">
            <a:avLst/>
          </a:prstGeom>
          <a:solidFill>
            <a:srgbClr val="1E3F7A">
              <a:alpha val="80000"/>
            </a:srgbClr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4015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</a:rPr>
              <a:t>🧠  Understand the inductive bias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2834640" cy="329184"/>
          </a:xfrm>
          <a:prstGeom prst="rect">
            <a:avLst/>
          </a:prstGeom>
          <a:solidFill>
            <a:srgbClr val="1E3F7A">
              <a:alpha val="80000"/>
            </a:srgbClr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80390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</a:rPr>
              <a:t>⚡  Consider compute &amp; scalability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3803904"/>
            <a:ext cx="2834640" cy="329184"/>
          </a:xfrm>
          <a:prstGeom prst="rect">
            <a:avLst/>
          </a:prstGeom>
          <a:solidFill>
            <a:srgbClr val="1E3F7A">
              <a:alpha val="80000"/>
            </a:srgbClr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380390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</a:rPr>
              <a:t>🎯  Start simple — MLP → CNN/RNN → Transformer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F7A"/>
          </a:solidFill>
          <a:ln w="12700">
            <a:solidFill>
              <a:srgbClr val="1E3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ANN  ·  CNN  ·  RNN  ·  LSTM  ·  Transformer  ·  GAN  ·  Autoencoder  ·  GNN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1495</Words>
  <Application>Microsoft Macintosh PowerPoint</Application>
  <PresentationFormat>On-screen Show (16:9)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Neural Networks</dc:title>
  <dc:subject>PptxGenJS Presentation</dc:subject>
  <dc:creator>PptxGenJS</dc:creator>
  <cp:lastModifiedBy>Shalini Mittal</cp:lastModifiedBy>
  <cp:revision>3</cp:revision>
  <dcterms:created xsi:type="dcterms:W3CDTF">2026-04-01T18:18:08Z</dcterms:created>
  <dcterms:modified xsi:type="dcterms:W3CDTF">2026-04-02T03:22:46Z</dcterms:modified>
</cp:coreProperties>
</file>