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978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7132320" y="-274320"/>
            <a:ext cx="365760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7498080" y="274320"/>
            <a:ext cx="3200400" cy="365760"/>
          </a:xfrm>
          <a:prstGeom prst="rect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7772400" y="731520"/>
            <a:ext cx="2743200" cy="274320"/>
          </a:xfrm>
          <a:prstGeom prst="rect">
            <a:avLst/>
          </a:prstGeom>
          <a:solidFill>
            <a:srgbClr val="00C2CB">
              <a:alpha val="5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4206240"/>
            <a:ext cx="4572000" cy="18288"/>
          </a:xfrm>
          <a:prstGeom prst="rect">
            <a:avLst/>
          </a:prstGeom>
          <a:solidFill>
            <a:srgbClr val="00C2CB">
              <a:alpha val="4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4434840"/>
            <a:ext cx="3200400" cy="18288"/>
          </a:xfrm>
          <a:prstGeom prst="rect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2011680" cy="2011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365760" y="1600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Your Data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65760" y="25146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to selecting algorithms, understanding input data,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matching the right ML approach to your problem.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4023360"/>
            <a:ext cx="15544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ML Steps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057400" y="4023360"/>
            <a:ext cx="15544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5740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Input Data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49040" y="4023360"/>
            <a:ext cx="15544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4904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Algorithm Types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40680" y="4023360"/>
            <a:ext cx="15544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068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Algorithm Selection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132320" y="4023360"/>
            <a:ext cx="15544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Data Matching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02920" cy="6949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097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005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Apply ML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1307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repeatable workflow from raw data to deployed model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1755648"/>
            <a:ext cx="850392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755648"/>
            <a:ext cx="502920" cy="6949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755648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89280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1801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About Input Data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50876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quality, volume, dimensionality, and labelling considerations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2551176"/>
            <a:ext cx="850392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551176"/>
            <a:ext cx="502920" cy="6949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551176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68833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25968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ML Algorithms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508760" y="2898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Semi-supervised, and Reinforcement Learning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3346704"/>
            <a:ext cx="850392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346704"/>
            <a:ext cx="502920" cy="6949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" y="3346704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483864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33924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Algorithm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508760" y="36941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criteria, constraints, trade-offs, and evaluation metrics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" y="4142232"/>
            <a:ext cx="850392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" y="4142232"/>
            <a:ext cx="502920" cy="6949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20040" y="414223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05</a:t>
            </a:r>
            <a:endParaRPr lang="en-US" sz="14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279392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41879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Data to Algorithm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508760" y="44897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framework for aligning your dataset characteristics to the best method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SECTION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Apply Machine Learning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206240" cy="12801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411480" cy="1280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2435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business objective. Is it classification, regression, clustering? Define success metrics and expected outputs clearly.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206240" cy="12801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411480" cy="1280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2296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2080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Explore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2435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relevant datasets. Perform Exploratory Data Analysis (EDA) — check distributions, correlations, missing values, and outliers.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4206240" cy="12801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40280"/>
            <a:ext cx="411480" cy="1280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4028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2350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Engineer 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66090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handle missing values, encode categoricals, scale numerics, and engineer new features that improve signal.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240280"/>
            <a:ext cx="4206240" cy="12801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40280"/>
            <a:ext cx="411480" cy="1280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24028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12080" y="2350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Train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66090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algorithm(s) based on problem type, data size, and constraints. Train on a held-out train/validation split.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4206240" cy="12801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657600"/>
            <a:ext cx="411480" cy="1280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5760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2960" y="3767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Tune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07822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 using appropriate metrics (F1, RMSE, AUC). Use cross-validation and hyperparameter tuning.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657600"/>
            <a:ext cx="4206240" cy="12801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57600"/>
            <a:ext cx="411480" cy="1280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5760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12080" y="3767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Monitor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407822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 via API or batch pipeline. Monitor for data drift, model degradation, and retrain periodically.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SECTION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About Input Data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160020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16002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77824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1307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Data Type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76479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170078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(tabular, time-series)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254203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47802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(text, images, audio)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331927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325526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(JSON, XML)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409651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403250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multimodal inputs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993392" y="804672"/>
            <a:ext cx="160020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993392" y="804672"/>
            <a:ext cx="16002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877824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93392" y="1307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Data Quality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084832" y="176479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194560" y="170078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rate &amp; imputation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084832" y="254203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194560" y="247802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&amp; treatment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084832" y="331927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194560" y="325526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and label errors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084832" y="409651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94560" y="403250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sources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803904" y="804672"/>
            <a:ext cx="160020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803904" y="804672"/>
            <a:ext cx="16002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877824"/>
            <a:ext cx="411480" cy="4114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803904" y="1307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Data Volume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895344" y="176479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005072" y="170078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 → simpler models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3895344" y="254203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005072" y="247802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→ deep learning viable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3895344" y="331927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005072" y="325526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samples per class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3895344" y="409651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005072" y="403250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 strategy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5614416" y="804672"/>
            <a:ext cx="160020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614416" y="804672"/>
            <a:ext cx="16002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877824"/>
            <a:ext cx="411480" cy="4114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614416" y="1307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Dimensionality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5705856" y="176479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815584" y="170078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 risk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705856" y="254203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815584" y="247802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vs. extraction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5705856" y="331927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815584" y="325526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t-SNE, UMAP for reduction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5705856" y="409651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815584" y="403250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→ regularization needed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7424928" y="804672"/>
            <a:ext cx="160020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50"/>
          <p:cNvSpPr/>
          <p:nvPr/>
        </p:nvSpPr>
        <p:spPr>
          <a:xfrm>
            <a:off x="7424928" y="804672"/>
            <a:ext cx="16002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288" y="877824"/>
            <a:ext cx="411480" cy="411480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7424928" y="1307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Data Labels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7516368" y="176479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7626096" y="170078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labelled → Supervised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7516368" y="254203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7626096" y="247802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labelled → Semi-supervised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7516368" y="331927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7626096" y="325526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→ Unsupervised / Clustering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7516368" y="4096512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7626096" y="403250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supervision techniques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SECTION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 Algorithms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10312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5BC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2103120" cy="1005840"/>
          </a:xfrm>
          <a:prstGeom prst="rect">
            <a:avLst/>
          </a:prstGeom>
          <a:solidFill>
            <a:srgbClr val="1A7FBF"/>
          </a:solidFill>
          <a:ln w="12700">
            <a:solidFill>
              <a:srgbClr val="1A7FB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77824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87782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7744" y="12161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examples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7744" y="182880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C8F5"/>
                </a:solidFill>
              </a:rPr>
              <a:t>Key Algorithms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148840"/>
            <a:ext cx="64008" cy="64008"/>
          </a:xfrm>
          <a:prstGeom prst="line">
            <a:avLst/>
          </a:prstGeom>
          <a:solidFill>
            <a:srgbClr val="5BC8F5"/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084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 Regression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2532888"/>
            <a:ext cx="64008" cy="64008"/>
          </a:xfrm>
          <a:prstGeom prst="line">
            <a:avLst/>
          </a:prstGeom>
          <a:solidFill>
            <a:srgbClr val="5BC8F5"/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Random Forests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2916936"/>
            <a:ext cx="64008" cy="64008"/>
          </a:xfrm>
          <a:prstGeom prst="line">
            <a:avLst/>
          </a:prstGeom>
          <a:solidFill>
            <a:srgbClr val="5BC8F5"/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(SVM)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3300984"/>
            <a:ext cx="64008" cy="64008"/>
          </a:xfrm>
          <a:prstGeom prst="line">
            <a:avLst/>
          </a:prstGeom>
          <a:solidFill>
            <a:srgbClr val="5BC8F5"/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(XGBoost, LightGBM)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3685032"/>
            <a:ext cx="64008" cy="64008"/>
          </a:xfrm>
          <a:prstGeom prst="line">
            <a:avLst/>
          </a:prstGeom>
          <a:solidFill>
            <a:srgbClr val="5BC8F5"/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/ Deep Learning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37744" y="4297680"/>
            <a:ext cx="1993392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297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Classification, Regression, Ranking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395728" y="804672"/>
            <a:ext cx="210312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4AE0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395728" y="804672"/>
            <a:ext cx="2103120" cy="10058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877824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017520" y="87782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450592" y="12161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hidden patterns, no labels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450592" y="182880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E08A"/>
                </a:solidFill>
              </a:rPr>
              <a:t>Key Algorithms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487168" y="2148840"/>
            <a:ext cx="64008" cy="64008"/>
          </a:xfrm>
          <a:prstGeom prst="line">
            <a:avLst/>
          </a:prstGeom>
          <a:solidFill>
            <a:srgbClr val="4AE08A"/>
          </a:solidFill>
          <a:ln w="12700">
            <a:solidFill>
              <a:srgbClr val="4AE08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596896" y="2084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DBSCAN Clustering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487168" y="2532888"/>
            <a:ext cx="64008" cy="64008"/>
          </a:xfrm>
          <a:prstGeom prst="line">
            <a:avLst/>
          </a:prstGeom>
          <a:solidFill>
            <a:srgbClr val="4AE08A"/>
          </a:solidFill>
          <a:ln w="12700">
            <a:solidFill>
              <a:srgbClr val="4AE08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596896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2487168" y="2916936"/>
            <a:ext cx="64008" cy="64008"/>
          </a:xfrm>
          <a:prstGeom prst="line">
            <a:avLst/>
          </a:prstGeom>
          <a:solidFill>
            <a:srgbClr val="4AE08A"/>
          </a:solidFill>
          <a:ln w="12700">
            <a:solidFill>
              <a:srgbClr val="4AE08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596896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2487168" y="3300984"/>
            <a:ext cx="64008" cy="64008"/>
          </a:xfrm>
          <a:prstGeom prst="line">
            <a:avLst/>
          </a:prstGeom>
          <a:solidFill>
            <a:srgbClr val="4AE08A"/>
          </a:solidFill>
          <a:ln w="12700">
            <a:solidFill>
              <a:srgbClr val="4AE08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596896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&amp; VAEs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2487168" y="3685032"/>
            <a:ext cx="64008" cy="64008"/>
          </a:xfrm>
          <a:prstGeom prst="line">
            <a:avLst/>
          </a:prstGeom>
          <a:solidFill>
            <a:srgbClr val="4AE08A"/>
          </a:solidFill>
          <a:ln w="12700">
            <a:solidFill>
              <a:srgbClr val="4AE08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596896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(Apriori)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450592" y="4297680"/>
            <a:ext cx="1993392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4AE08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487168" y="4297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Clustering, Dimensionality Reduction, Anomaly Detection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608576" y="804672"/>
            <a:ext cx="210312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D47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608576" y="804672"/>
            <a:ext cx="2103120" cy="1005840"/>
          </a:xfrm>
          <a:prstGeom prst="rect">
            <a:avLst/>
          </a:prstGeom>
          <a:solidFill>
            <a:srgbClr val="7A2A8A"/>
          </a:solidFill>
          <a:ln w="12700">
            <a:solidFill>
              <a:srgbClr val="7A2A8A"/>
            </a:solidFill>
            <a:prstDash val="solid"/>
          </a:ln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877824"/>
            <a:ext cx="502920" cy="5029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5230368" y="87782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4663440" y="12161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few labels with much unlabelled data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4663440" y="182880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70F0"/>
                </a:solidFill>
              </a:rPr>
              <a:t>Key Algorithms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4700016" y="2148840"/>
            <a:ext cx="64008" cy="64008"/>
          </a:xfrm>
          <a:prstGeom prst="line">
            <a:avLst/>
          </a:prstGeom>
          <a:solidFill>
            <a:srgbClr val="D470F0"/>
          </a:solidFill>
          <a:ln w="12700">
            <a:solidFill>
              <a:srgbClr val="D470F0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809744" y="2084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Propagation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4700016" y="2532888"/>
            <a:ext cx="64008" cy="64008"/>
          </a:xfrm>
          <a:prstGeom prst="line">
            <a:avLst/>
          </a:prstGeom>
          <a:solidFill>
            <a:srgbClr val="D470F0"/>
          </a:solidFill>
          <a:ln w="12700">
            <a:solidFill>
              <a:srgbClr val="D470F0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809744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Self-Training methods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4700016" y="2916936"/>
            <a:ext cx="64008" cy="64008"/>
          </a:xfrm>
          <a:prstGeom prst="line">
            <a:avLst/>
          </a:prstGeom>
          <a:solidFill>
            <a:srgbClr val="D470F0"/>
          </a:solidFill>
          <a:ln w="12700">
            <a:solidFill>
              <a:srgbClr val="D470F0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809744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methods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700016" y="3300984"/>
            <a:ext cx="64008" cy="64008"/>
          </a:xfrm>
          <a:prstGeom prst="line">
            <a:avLst/>
          </a:prstGeom>
          <a:solidFill>
            <a:srgbClr val="D470F0"/>
          </a:solidFill>
          <a:ln w="12700">
            <a:solidFill>
              <a:srgbClr val="D470F0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809744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Co-Training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4700016" y="3685032"/>
            <a:ext cx="64008" cy="64008"/>
          </a:xfrm>
          <a:prstGeom prst="line">
            <a:avLst/>
          </a:prstGeom>
          <a:solidFill>
            <a:srgbClr val="D470F0"/>
          </a:solidFill>
          <a:ln w="12700">
            <a:solidFill>
              <a:srgbClr val="D470F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4809744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Pseudo-Labelling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4663440" y="4297680"/>
            <a:ext cx="1993392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D470F0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700016" y="4297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7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When labelling is expensive (medical, legal)</a:t>
            </a:r>
            <a:endParaRPr lang="en-US" sz="850" dirty="0"/>
          </a:p>
        </p:txBody>
      </p:sp>
      <p:sp>
        <p:nvSpPr>
          <p:cNvPr id="61" name="Shape 56"/>
          <p:cNvSpPr/>
          <p:nvPr/>
        </p:nvSpPr>
        <p:spPr>
          <a:xfrm>
            <a:off x="6821424" y="804672"/>
            <a:ext cx="2103120" cy="4160520"/>
          </a:xfrm>
          <a:prstGeom prst="rect">
            <a:avLst/>
          </a:prstGeom>
          <a:solidFill>
            <a:srgbClr val="122040"/>
          </a:solidFill>
          <a:ln w="19050">
            <a:solidFill>
              <a:srgbClr val="F5A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Shape 57"/>
          <p:cNvSpPr/>
          <p:nvPr/>
        </p:nvSpPr>
        <p:spPr>
          <a:xfrm>
            <a:off x="6821424" y="804672"/>
            <a:ext cx="2103120" cy="1005840"/>
          </a:xfrm>
          <a:prstGeom prst="rect">
            <a:avLst/>
          </a:prstGeom>
          <a:solidFill>
            <a:srgbClr val="9A4A10"/>
          </a:solidFill>
          <a:ln w="12700">
            <a:solidFill>
              <a:srgbClr val="9A4A10"/>
            </a:solidFill>
            <a:prstDash val="solid"/>
          </a:ln>
        </p:spPr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877824"/>
            <a:ext cx="502920" cy="502920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7443216" y="87782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00" dirty="0"/>
          </a:p>
        </p:txBody>
      </p:sp>
      <p:sp>
        <p:nvSpPr>
          <p:cNvPr id="65" name="Text 59"/>
          <p:cNvSpPr/>
          <p:nvPr/>
        </p:nvSpPr>
        <p:spPr>
          <a:xfrm>
            <a:off x="6876288" y="12161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via reward/penalty feedback</a:t>
            </a:r>
            <a:endParaRPr lang="en-US" sz="900" dirty="0"/>
          </a:p>
        </p:txBody>
      </p:sp>
      <p:sp>
        <p:nvSpPr>
          <p:cNvPr id="66" name="Text 60"/>
          <p:cNvSpPr/>
          <p:nvPr/>
        </p:nvSpPr>
        <p:spPr>
          <a:xfrm>
            <a:off x="6876288" y="182880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840"/>
                </a:solidFill>
              </a:rPr>
              <a:t>Key Algorithms</a:t>
            </a:r>
            <a:endParaRPr lang="en-US" sz="950" dirty="0"/>
          </a:p>
        </p:txBody>
      </p:sp>
      <p:sp>
        <p:nvSpPr>
          <p:cNvPr id="67" name="Shape 61"/>
          <p:cNvSpPr/>
          <p:nvPr/>
        </p:nvSpPr>
        <p:spPr>
          <a:xfrm>
            <a:off x="6912864" y="2148840"/>
            <a:ext cx="64008" cy="64008"/>
          </a:xfrm>
          <a:prstGeom prst="line">
            <a:avLst/>
          </a:prstGeom>
          <a:solidFill>
            <a:srgbClr val="F5A840"/>
          </a:solidFill>
          <a:ln w="12700">
            <a:solidFill>
              <a:srgbClr val="F5A840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7022592" y="2084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900" dirty="0"/>
          </a:p>
        </p:txBody>
      </p:sp>
      <p:sp>
        <p:nvSpPr>
          <p:cNvPr id="69" name="Shape 63"/>
          <p:cNvSpPr/>
          <p:nvPr/>
        </p:nvSpPr>
        <p:spPr>
          <a:xfrm>
            <a:off x="6912864" y="2532888"/>
            <a:ext cx="64008" cy="64008"/>
          </a:xfrm>
          <a:prstGeom prst="line">
            <a:avLst/>
          </a:prstGeom>
          <a:solidFill>
            <a:srgbClr val="F5A840"/>
          </a:solidFill>
          <a:ln w="12700">
            <a:solidFill>
              <a:srgbClr val="F5A840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7022592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Q-Networks (DQN)</a:t>
            </a:r>
            <a:endParaRPr lang="en-US" sz="900" dirty="0"/>
          </a:p>
        </p:txBody>
      </p:sp>
      <p:sp>
        <p:nvSpPr>
          <p:cNvPr id="71" name="Shape 65"/>
          <p:cNvSpPr/>
          <p:nvPr/>
        </p:nvSpPr>
        <p:spPr>
          <a:xfrm>
            <a:off x="6912864" y="2916936"/>
            <a:ext cx="64008" cy="64008"/>
          </a:xfrm>
          <a:prstGeom prst="line">
            <a:avLst/>
          </a:prstGeom>
          <a:solidFill>
            <a:srgbClr val="F5A840"/>
          </a:solidFill>
          <a:ln w="12700">
            <a:solidFill>
              <a:srgbClr val="F5A840"/>
            </a:solidFill>
            <a:prstDash val="solid"/>
          </a:ln>
        </p:spPr>
      </p:sp>
      <p:sp>
        <p:nvSpPr>
          <p:cNvPr id="72" name="Text 66"/>
          <p:cNvSpPr/>
          <p:nvPr/>
        </p:nvSpPr>
        <p:spPr>
          <a:xfrm>
            <a:off x="7022592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 Methods</a:t>
            </a:r>
            <a:endParaRPr lang="en-US" sz="900" dirty="0"/>
          </a:p>
        </p:txBody>
      </p:sp>
      <p:sp>
        <p:nvSpPr>
          <p:cNvPr id="73" name="Shape 67"/>
          <p:cNvSpPr/>
          <p:nvPr/>
        </p:nvSpPr>
        <p:spPr>
          <a:xfrm>
            <a:off x="6912864" y="3300984"/>
            <a:ext cx="64008" cy="64008"/>
          </a:xfrm>
          <a:prstGeom prst="line">
            <a:avLst/>
          </a:prstGeom>
          <a:solidFill>
            <a:srgbClr val="F5A840"/>
          </a:solidFill>
          <a:ln w="12700">
            <a:solidFill>
              <a:srgbClr val="F5A840"/>
            </a:solidFill>
            <a:prstDash val="solid"/>
          </a:ln>
        </p:spPr>
      </p:sp>
      <p:sp>
        <p:nvSpPr>
          <p:cNvPr id="74" name="Text 68"/>
          <p:cNvSpPr/>
          <p:nvPr/>
        </p:nvSpPr>
        <p:spPr>
          <a:xfrm>
            <a:off x="7022592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(A3C, PPO)</a:t>
            </a:r>
            <a:endParaRPr lang="en-US" sz="900" dirty="0"/>
          </a:p>
        </p:txBody>
      </p:sp>
      <p:sp>
        <p:nvSpPr>
          <p:cNvPr id="75" name="Shape 69"/>
          <p:cNvSpPr/>
          <p:nvPr/>
        </p:nvSpPr>
        <p:spPr>
          <a:xfrm>
            <a:off x="6912864" y="3685032"/>
            <a:ext cx="64008" cy="64008"/>
          </a:xfrm>
          <a:prstGeom prst="line">
            <a:avLst/>
          </a:prstGeom>
          <a:solidFill>
            <a:srgbClr val="F5A840"/>
          </a:solidFill>
          <a:ln w="12700">
            <a:solidFill>
              <a:srgbClr val="F5A840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7022592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RL</a:t>
            </a:r>
            <a:endParaRPr lang="en-US" sz="900" dirty="0"/>
          </a:p>
        </p:txBody>
      </p:sp>
      <p:sp>
        <p:nvSpPr>
          <p:cNvPr id="77" name="Shape 71"/>
          <p:cNvSpPr/>
          <p:nvPr/>
        </p:nvSpPr>
        <p:spPr>
          <a:xfrm>
            <a:off x="6876288" y="4297680"/>
            <a:ext cx="1993392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5A840"/>
            </a:solidFill>
            <a:prstDash val="solid"/>
          </a:ln>
        </p:spPr>
      </p:sp>
      <p:sp>
        <p:nvSpPr>
          <p:cNvPr id="78" name="Text 72"/>
          <p:cNvSpPr/>
          <p:nvPr/>
        </p:nvSpPr>
        <p:spPr>
          <a:xfrm>
            <a:off x="6912864" y="4297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5A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Games, Robotics, Recommendation, Trading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SECTION 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Machine Learning Algorithm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297680" cy="13258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411480" cy="1325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243584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8961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12070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output a category (classification), a number (regression), or a structure (clustering, generation)? Problem type is your first filter.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804672"/>
            <a:ext cx="4297680" cy="13258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804672"/>
            <a:ext cx="411480" cy="1325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24358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8961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Size &amp; Shape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166360" y="12070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 favour high-bias models (Naive Bayes, Linear). Large data enables deep learning. High dimensionality requires regularization.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82880" y="2240280"/>
            <a:ext cx="4297680" cy="13258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82880" y="2240280"/>
            <a:ext cx="411480" cy="1325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" y="267919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" y="2331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Speed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5800" y="264261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ensembles yield better accuracy but slower inference. Linear models are fast and explainable. Balance depends on use-case SLA.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2240280"/>
            <a:ext cx="4297680" cy="13258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240280"/>
            <a:ext cx="411480" cy="1325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267919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2331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166360" y="264261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(banking, health) require explainability. Prefer Decision Trees, Logistic Regression, or SHAP-wrapped models.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82880" y="3675888"/>
            <a:ext cx="4297680" cy="13258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82880" y="3675888"/>
            <a:ext cx="411480" cy="1325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" y="411480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5800" y="3767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85800" y="407822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metric before training: Accuracy, Precision, Recall, F1, AUC-ROC for classification; RMSE, MAE, R² for regression.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63440" y="3675888"/>
            <a:ext cx="4297680" cy="13258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63440" y="3675888"/>
            <a:ext cx="411480" cy="1325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304" y="4114800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66360" y="3767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166360" y="407822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labels need SMOTE, class weights, or anomaly-detection framings. Accuracy alone is misleading—use F1 or AUC.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SECTION 04 — 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Quick-Reference Table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7955280" cy="442569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Algorithm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Best For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Needs Labels?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Interpretable?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Scale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classification,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Intuitive rules, small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data, feature importance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/ LightGBM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data competitions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High-dim, text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Images, speech, complex patterns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detection, spatial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Dimensionality reduction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decisions, games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SECTION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Your Data to an Algorithm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2148840"/>
            <a:ext cx="1005840" cy="7772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2148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1628"/>
                </a:solidFill>
              </a:rPr>
              <a:t>Your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1628"/>
                </a:solidFill>
              </a:rPr>
              <a:t>Dataset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2148840"/>
            <a:ext cx="1188720" cy="7772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21488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Labels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Available?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417320"/>
            <a:ext cx="1143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14173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Type?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2880360"/>
            <a:ext cx="1143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28803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Patterns /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Segments?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822960"/>
            <a:ext cx="1143000" cy="685800"/>
          </a:xfrm>
          <a:prstGeom prst="rect">
            <a:avLst/>
          </a:prstGeom>
          <a:solidFill>
            <a:srgbClr val="145A32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8229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Class /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1783080"/>
            <a:ext cx="1143000" cy="685800"/>
          </a:xfrm>
          <a:prstGeom prst="rect">
            <a:avLst/>
          </a:prstGeom>
          <a:solidFill>
            <a:srgbClr val="145A32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17830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Continuous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Number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2743200"/>
            <a:ext cx="1143000" cy="685800"/>
          </a:xfrm>
          <a:prstGeom prst="rect">
            <a:avLst/>
          </a:prstGeom>
          <a:solidFill>
            <a:srgbClr val="7D3C98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Clusters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3611880"/>
            <a:ext cx="1143000" cy="685800"/>
          </a:xfrm>
          <a:prstGeom prst="rect">
            <a:avLst/>
          </a:prstGeom>
          <a:solidFill>
            <a:srgbClr val="7D3C98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80560" y="3611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Reduce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Dims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749808"/>
            <a:ext cx="1417320" cy="841248"/>
          </a:xfrm>
          <a:prstGeom prst="rect">
            <a:avLst/>
          </a:prstGeom>
          <a:solidFill>
            <a:srgbClr val="0E6655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749808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SVM, RF,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XGBoost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Neural Net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1709928"/>
            <a:ext cx="1417320" cy="841248"/>
          </a:xfrm>
          <a:prstGeom prst="rect">
            <a:avLst/>
          </a:prstGeom>
          <a:solidFill>
            <a:srgbClr val="0E6655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1709928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Reg,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GBM, SVR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Ridge/Lasso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2670048"/>
            <a:ext cx="1417320" cy="841248"/>
          </a:xfrm>
          <a:prstGeom prst="rect">
            <a:avLst/>
          </a:prstGeom>
          <a:solidFill>
            <a:srgbClr val="6C348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2670048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K-Means,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DBSCAN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Hierarchical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538728"/>
            <a:ext cx="1417320" cy="841248"/>
          </a:xfrm>
          <a:prstGeom prst="rect">
            <a:avLst/>
          </a:prstGeom>
          <a:solidFill>
            <a:srgbClr val="6C348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3538728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PCA, t-SNE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UMAP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Autoencoder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07008" y="2542032"/>
            <a:ext cx="301752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697480" y="2103120"/>
            <a:ext cx="27432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560320" y="16093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CB"/>
                </a:solidFill>
              </a:rPr>
              <a:t>YES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97480" y="2926080"/>
            <a:ext cx="274320" cy="347472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560320" y="27249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CB"/>
                </a:solidFill>
              </a:rPr>
              <a:t>NO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0" y="1572768"/>
            <a:ext cx="36576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114800" y="1810512"/>
            <a:ext cx="365760" cy="32004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14800" y="3127248"/>
            <a:ext cx="36576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114800" y="3456432"/>
            <a:ext cx="365760" cy="50292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623560" y="1170432"/>
            <a:ext cx="77724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623560" y="2130552"/>
            <a:ext cx="77724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623560" y="3081528"/>
            <a:ext cx="77724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623560" y="3959352"/>
            <a:ext cx="77724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882128" y="804672"/>
            <a:ext cx="1170432" cy="4224528"/>
          </a:xfrm>
          <a:prstGeom prst="rect">
            <a:avLst/>
          </a:prstGeom>
          <a:solidFill>
            <a:srgbClr val="07101E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882128" y="82296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</a:rPr>
              <a:t>Key Tips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55280" y="1289304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65008" y="1234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simple—always baseline first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955280" y="1975104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65008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multiple algos, compare metrics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55280" y="2660904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65008" y="2606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quality &gt; algorithm choice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955280" y="3346704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65008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when unsure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55280" y="4032504"/>
            <a:ext cx="73152" cy="73152"/>
          </a:xfrm>
          <a:prstGeom prst="lin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65008" y="3977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held-out test data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line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474720"/>
            <a:ext cx="2286000" cy="2286000"/>
          </a:xfrm>
          <a:prstGeom prst="lin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7406640" cy="749808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411480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886968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before you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16128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problem statement prevents wasted training cycles. Know your output and success metric up front.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673352"/>
            <a:ext cx="7406640" cy="749808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73352"/>
            <a:ext cx="411480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73352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1737360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everything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01168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 of ML effort is data prep. Quality features beat complex algorithms — garbage in, garbage out.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23744"/>
            <a:ext cx="7406640" cy="749808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23744"/>
            <a:ext cx="411480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23744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258775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algorithm to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86207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→ Supervised. No labels → Unsupervised. Reward-driven → Reinforcement. Start with the simplest fit.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7406640" cy="749808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74136"/>
            <a:ext cx="411480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7413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3438144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lunch theorem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71246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algorithm wins on all problems. Always benchmark multiple approaches before committing.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224528"/>
            <a:ext cx="7406640" cy="749808"/>
          </a:xfrm>
          <a:prstGeom prst="rect">
            <a:avLst/>
          </a:prstGeom>
          <a:solidFill>
            <a:srgbClr val="122040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224528"/>
            <a:ext cx="411480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2452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4288536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and monitor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56285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a loop. Deploy, monitor drift, retrain. Production performance often differs from held-out metrics.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Machine Learning Applied to Your Data  •  ML Training Series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1043</Words>
  <Application>Microsoft Macintosh PowerPoint</Application>
  <PresentationFormat>On-screen Show (16:9)</PresentationFormat>
  <Paragraphs>255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Applied to Your Data</dc:title>
  <dc:subject>PptxGenJS Presentation</dc:subject>
  <dc:creator>ML Training Series</dc:creator>
  <cp:lastModifiedBy>Shalini Mittal</cp:lastModifiedBy>
  <cp:revision>2</cp:revision>
  <dcterms:created xsi:type="dcterms:W3CDTF">2026-04-01T02:51:46Z</dcterms:created>
  <dcterms:modified xsi:type="dcterms:W3CDTF">2026-04-01T04:39:41Z</dcterms:modified>
</cp:coreProperties>
</file>