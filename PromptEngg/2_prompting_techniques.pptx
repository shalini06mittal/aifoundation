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457200"/>
            <a:ext cx="0" cy="420624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6400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ADVANCED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PROMPTING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 ·  Chain-of-Thought  ·  Role-Based  ·  And More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132320" y="47548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PROMPTING TECHNIQUES — OVERVIEW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map of all major prompting strategies covered in this module.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65836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43000" y="1417320"/>
            <a:ext cx="365760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1453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Zero-Shot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280160" y="17282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examples given — rely on model's inherent knowledge.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65836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508760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577840" y="1417320"/>
            <a:ext cx="365760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4538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15000" y="1728216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2-5 examples to guide format and style.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304288"/>
            <a:ext cx="65836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39572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43000" y="2304288"/>
            <a:ext cx="365760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80160" y="2340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Chain-of-Thought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280160" y="26151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model to reason step-by-step before answering.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304288"/>
            <a:ext cx="65836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395728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77840" y="2304288"/>
            <a:ext cx="365760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2340864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715000" y="2615184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persona or expert role to the model.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191256"/>
            <a:ext cx="65836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28269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43000" y="3191256"/>
            <a:ext cx="365760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80160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Self-Consistency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80160" y="3502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reasoning paths; pick most frequent answer.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92040" y="3191256"/>
            <a:ext cx="65836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282696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77840" y="3191256"/>
            <a:ext cx="365760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15000" y="32278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 of Thoughts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715000" y="3502152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branching reasoning paths simultaneously.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078224"/>
            <a:ext cx="65836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169664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143000" y="4078224"/>
            <a:ext cx="365760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80160" y="4114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1280160" y="4389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Interleave reasoning steps with tool/action calls.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92040" y="4078224"/>
            <a:ext cx="658368" cy="7132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169664"/>
            <a:ext cx="6583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577840" y="4078224"/>
            <a:ext cx="3657600" cy="71323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15000" y="41148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Instruction Tuning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715000" y="438912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model behaviour via structured system prompts.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  —  ZERO-SHOT PROMPTING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4023360" cy="118872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44752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the model a task with NO prior examples. The model draws entirely on its training to produce the answer. It is the default baseline prompting approach.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26791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TO USE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017520"/>
            <a:ext cx="3200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04495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05409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classification or labelling tasks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447288"/>
            <a:ext cx="3200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474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68680" y="34838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Q&amp;A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77056"/>
            <a:ext cx="3200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904488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" y="3913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drafts where format doesn't matter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306824"/>
            <a:ext cx="320040" cy="3200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334256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8680" y="4343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tests before adding examples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54880" y="10515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389888"/>
            <a:ext cx="3931920" cy="132588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146304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the following review as Positive, Negative, or Neutral: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DDDD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"The delivery was late but the product quality exceeded my expectations."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54880" y="28346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 OUTPUT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172968"/>
            <a:ext cx="3931920" cy="594360"/>
          </a:xfrm>
          <a:prstGeom prst="rect">
            <a:avLst/>
          </a:prstGeom>
          <a:solidFill>
            <a:srgbClr val="F4F4F4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324612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 Mixed / Neutral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3886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417880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and style of output are unpredictable. Add examples (few-shot) when consistency matters.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  —  FEW-SHOT PROMPTING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2–5 input/output examples before your actual task to teach the model the exact pattern, format, and tone you need.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417320" cy="658368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1 →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65960" y="1508760"/>
            <a:ext cx="457200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03120" y="16184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"Loved the product, shipped super fast!"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1508760"/>
            <a:ext cx="205740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1636776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POSITIVE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313432"/>
            <a:ext cx="141732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2 →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65960" y="2313432"/>
            <a:ext cx="457200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2423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"Broken on arrival, completely useless."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29400" y="2313432"/>
            <a:ext cx="205740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441448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NEGATIVE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118104"/>
            <a:ext cx="1417320" cy="658368"/>
          </a:xfrm>
          <a:prstGeom prst="rect">
            <a:avLst/>
          </a:prstGeom>
          <a:solidFill>
            <a:srgbClr val="4444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9544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3 →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65960" y="3118104"/>
            <a:ext cx="457200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03120" y="32278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"It's fine, nothing special about it."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3118104"/>
            <a:ext cx="205740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246120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NEUTRAL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922776"/>
            <a:ext cx="141732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014216"/>
            <a:ext cx="1417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TASK →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965960" y="3922776"/>
            <a:ext cx="4572000" cy="6583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03120" y="40325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"Packaging was damaged but item works fine."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629400" y="3922776"/>
            <a:ext cx="2057400" cy="658368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4050792"/>
            <a:ext cx="1874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Label: ???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645152"/>
            <a:ext cx="20116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2–5 Examples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633472" y="4645152"/>
            <a:ext cx="20116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33472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Diverse Examples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9744" y="4645152"/>
            <a:ext cx="20116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Consistent Format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86016" y="4645152"/>
            <a:ext cx="20116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4663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Edge Cases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  —  CHAIN-OF-THOUGHT PROMPTING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the model to reason step-by-step before producing a final answer.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WITHOUT CoT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19072"/>
            <a:ext cx="3931920" cy="1965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792224"/>
            <a:ext cx="361188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train travels 60 km in 40 minutes, how far does it go in 1 hour?
</a:t>
            </a:r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km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754880" y="13533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CoT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719072"/>
            <a:ext cx="3931920" cy="196596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792224"/>
            <a:ext cx="3611880" cy="1810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</a:t>
            </a:r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...how far does it go in 1 hour? </a:t>
            </a:r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step-by-step.
</a:t>
            </a:r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Speed = 60 km / 40 min = 1.5 km/min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In 60 min → 1.5 × 60 = 90 km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km ✓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767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TRIGGER PHRASES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133088"/>
            <a:ext cx="1572768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418795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step-by-step."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39696" y="4133088"/>
            <a:ext cx="1572768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2848" y="418795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your reasoning."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22192" y="4133088"/>
            <a:ext cx="1572768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95344" y="418795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"Work through this carefully."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04688" y="4133088"/>
            <a:ext cx="1572768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418795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"Let's solve this methodically."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87184" y="4133088"/>
            <a:ext cx="1572768" cy="68580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0336" y="4187952"/>
            <a:ext cx="1444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"Explain each step before answering."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03b  —  CHAIN-OF-THOUGHT VARIANTS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97764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Zero-Shot CoT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11155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ZERO-SHOT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77640" cy="15727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2704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'Think step-by-step' to any prompt. No examples needed — the trigger phrase alone activates multi-step reasoning.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"Calculate the ROI. Think step-by-step."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" y="2587752"/>
            <a:ext cx="3703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3347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Quick reasoning tasks, maths, logic puzzles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92040" y="1051560"/>
            <a:ext cx="397764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01768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 CoT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818120" y="111556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892040" y="1463040"/>
            <a:ext cx="3977640" cy="15727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52704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2–3 examples where each answer includes visible reasoning steps. The model copies the reasoning style.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029200" y="219456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"Q: [example + steps + answer]\nQ: [your task]"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0" y="2587752"/>
            <a:ext cx="3703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3347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Complex multi-step problems, consistent format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3063240"/>
            <a:ext cx="397764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Auto-CoT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83280" y="3127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474720"/>
            <a:ext cx="3977640" cy="15727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53872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diverse exemplars with reasoning chains using the model itself, then use them as few-shot examples.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94360" y="42062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Cluster questions, auto-generate chains per cluster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" y="4599432"/>
            <a:ext cx="3703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6451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Large-scale or automated pipelines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892040" y="3063240"/>
            <a:ext cx="397764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01768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Self-Consistency CoT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818120" y="3127248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ENSEMBLE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92040" y="3474720"/>
            <a:ext cx="3977640" cy="157276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538728"/>
            <a:ext cx="3703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multiple CoT reasoning paths (e.g. temperature &gt; 0), then take a majority vote across final answers for accuracy.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29200" y="420624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"Run 5 reasoning paths → pick most common answer"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0" y="4599432"/>
            <a:ext cx="370332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4645152"/>
            <a:ext cx="3703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High-stakes decisions, arithmetic, factual Q&amp;A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  —  ROLE-BASED PROMPTING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the model an expert identity before the task. The persona shapes vocabulary, depth, tone, and perspective.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8229600" cy="59436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3619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TEMPLATE: 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 are a [ROLE] with [X years] of experience in [DOMAIN]. [TASK INSTRUCTION]."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2743200" cy="118872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12848"/>
            <a:ext cx="7315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27685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 Senior Data Scientist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21792" y="25786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21792" y="280720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model architecture and identify overfitting risks.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37560" y="2212848"/>
            <a:ext cx="2743200" cy="118872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37560" y="2212848"/>
            <a:ext cx="7315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02152" y="227685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⚖️  Legal Counsel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502152" y="25786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Law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02152" y="280720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any ambiguous clauses in this SaaS agreement.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2212848"/>
            <a:ext cx="2743200" cy="118872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212848"/>
            <a:ext cx="7315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27685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🎨  UX Researcher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82512" y="257860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Human-Centered 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82512" y="280720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 this onboarding flow from a usability standpoint.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38728"/>
            <a:ext cx="2743200" cy="118872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38728"/>
            <a:ext cx="7315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60273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📚  Secondary School Teacher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1792" y="39044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1792" y="413308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quantum entanglement using a classroom analogy.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337560" y="3538728"/>
            <a:ext cx="2743200" cy="118872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37560" y="3538728"/>
            <a:ext cx="7315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02152" y="360273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💹  Financial Analyst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502152" y="39044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02152" y="413308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 the key risks from this earnings call transcript.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17920" y="3538728"/>
            <a:ext cx="2743200" cy="118872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3538728"/>
            <a:ext cx="73152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82512" y="3602736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🚀  Startup Founder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382512" y="390448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B2B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382512" y="4133088"/>
            <a:ext cx="2514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cold outreach email to a potential enterprise client.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  —  SELF-CONSISTENCY PROMPTING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multiple independent reasoning paths — then vote on the most frequent answer.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463040"/>
            <a:ext cx="164592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6002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29968" y="1783080"/>
            <a:ext cx="5486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51760" y="1371600"/>
            <a:ext cx="3474720" cy="5943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48132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1: Step-by-step reasoning chain 1 → Answer: 42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2011680"/>
            <a:ext cx="3474720" cy="5943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21214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2: Step-by-step reasoning chain 2 → Answer: 41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51760" y="2651760"/>
            <a:ext cx="3474720" cy="594360"/>
          </a:xfrm>
          <a:prstGeom prst="rect">
            <a:avLst/>
          </a:prstGeom>
          <a:solidFill>
            <a:srgbClr val="1A1A1A"/>
          </a:solidFill>
          <a:ln w="1016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88920" y="276148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3: Step-by-step reasoning chain 3 → Answer: 42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792224"/>
            <a:ext cx="640080" cy="-118872"/>
          </a:xfrm>
          <a:prstGeom prst="line">
            <a:avLst/>
          </a:prstGeom>
          <a:noFill/>
          <a:ln w="8890">
            <a:solidFill>
              <a:srgbClr val="44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1792224"/>
            <a:ext cx="640080" cy="512064"/>
          </a:xfrm>
          <a:prstGeom prst="line">
            <a:avLst/>
          </a:prstGeom>
          <a:noFill/>
          <a:ln w="8890">
            <a:solidFill>
              <a:srgbClr val="44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11680" y="1792224"/>
            <a:ext cx="640080" cy="1152144"/>
          </a:xfrm>
          <a:prstGeom prst="line">
            <a:avLst/>
          </a:prstGeom>
          <a:noFill/>
          <a:ln w="8890">
            <a:solidFill>
              <a:srgbClr val="4444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4768" y="2304288"/>
            <a:ext cx="50292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993392"/>
            <a:ext cx="1737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029968"/>
            <a:ext cx="1737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MAJORITY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30768" y="2304288"/>
            <a:ext cx="320040" cy="0"/>
          </a:xfrm>
          <a:prstGeom prst="line">
            <a:avLst/>
          </a:prstGeom>
          <a:noFill/>
          <a:ln w="19050">
            <a:solidFill>
              <a:srgbClr val="8888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214884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42 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3429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WHEN SELF-CONSISTENCY WINS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2029968" cy="105156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84048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🔢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48640" y="4206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Maths &amp; Arithmetic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46227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calculation errors dramatically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633472" y="3794760"/>
            <a:ext cx="2029968" cy="105156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33472" y="384048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724912" y="4206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Commonsense Reasoning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724912" y="446227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diverse reasoning styles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9744" y="3794760"/>
            <a:ext cx="2029968" cy="105156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9744" y="384048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📋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901184" y="4206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Factual Q&amp;A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01184" y="446227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Boosts accuracy on ambiguous facts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986016" y="3794760"/>
            <a:ext cx="2029968" cy="1051560"/>
          </a:xfrm>
          <a:prstGeom prst="rect">
            <a:avLst/>
          </a:prstGeom>
          <a:solidFill>
            <a:srgbClr val="1A1A1A"/>
          </a:solidFill>
          <a:ln w="7620">
            <a:solidFill>
              <a:srgbClr val="4444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86016" y="384048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077456" y="420624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High-Stakes Decisions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077456" y="4462272"/>
            <a:ext cx="1847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safety layer via ensemble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  —  TREE OF THOUGHTS (ToT)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multiple distinct reasoning branches simultaneously. Evaluate each branch and prune dead-ends — like a search algorithm applied to thinking.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3520440" y="1463040"/>
            <a:ext cx="210312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20440" y="1527048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938528"/>
            <a:ext cx="-320040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Approach 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0116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A1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63040" y="3310128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401568"/>
            <a:ext cx="20116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A2 ✓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3877056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968496"/>
            <a:ext cx="20116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5993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A3 ✓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535424"/>
            <a:ext cx="2011680" cy="4114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5811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PATH 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938528"/>
            <a:ext cx="-548640" cy="34747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0" y="2286000"/>
            <a:ext cx="2011680" cy="457200"/>
          </a:xfrm>
          <a:prstGeom prst="rect">
            <a:avLst/>
          </a:prstGeom>
          <a:solidFill>
            <a:srgbClr val="1A1A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0" y="23317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Approach 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108960" y="2834640"/>
            <a:ext cx="201168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926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B1 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0" y="3310128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3401568"/>
            <a:ext cx="2011680" cy="475488"/>
          </a:xfrm>
          <a:prstGeom prst="rect">
            <a:avLst/>
          </a:prstGeom>
          <a:solidFill>
            <a:srgbClr val="E8E8E8"/>
          </a:solidFill>
          <a:ln w="6350">
            <a:solidFill>
              <a:srgbClr val="8888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0" y="34930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B2 ✗ (pruned)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148132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 vs CoT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49440" y="1901952"/>
            <a:ext cx="914400" cy="347472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19202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9560" y="1901952"/>
            <a:ext cx="914400" cy="34747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09560" y="19202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304288"/>
            <a:ext cx="96012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0" y="238658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Paths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949440" y="2304288"/>
            <a:ext cx="91440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49440" y="23865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09560" y="2304288"/>
            <a:ext cx="91440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09560" y="238658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943600" y="2852928"/>
            <a:ext cx="96012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0" y="29352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Backtrack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949440" y="2852928"/>
            <a:ext cx="91440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29352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909560" y="2852928"/>
            <a:ext cx="91440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09560" y="293522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943600" y="3401568"/>
            <a:ext cx="96012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34838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for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49440" y="3401568"/>
            <a:ext cx="91440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34838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tasks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909560" y="3401568"/>
            <a:ext cx="91440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909560" y="348386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/ planning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5943600" y="3950208"/>
            <a:ext cx="960120" cy="4754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43600" y="40325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949440" y="3950208"/>
            <a:ext cx="914400" cy="475488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40325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7909560" y="3950208"/>
            <a:ext cx="914400" cy="475488"/>
          </a:xfrm>
          <a:prstGeom prst="rect">
            <a:avLst/>
          </a:prstGeom>
          <a:solidFill>
            <a:srgbClr val="1A1A1A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909560" y="4032504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  —  REACT PROMPTING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+ Act. Interleave thinking steps with tool calls or environment actions.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457200" y="1261872"/>
            <a:ext cx="82296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71600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THOUGHT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653796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463040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reasons about the current state and what information is missing.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234440" y="1938528"/>
            <a:ext cx="0" cy="14630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084832"/>
            <a:ext cx="1554480" cy="566928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7627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148840" y="2084832"/>
            <a:ext cx="653796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176272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calls a tool (search, calculator, API) to retrieve or compute.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4440" y="2651760"/>
            <a:ext cx="0" cy="14630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798064"/>
            <a:ext cx="1554480" cy="566928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89504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OBSERVATION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148840" y="2798064"/>
            <a:ext cx="653796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2889504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 is fed back to the model as new context.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234440" y="3364992"/>
            <a:ext cx="0" cy="14630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511296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02736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THOUGHT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148840" y="3511296"/>
            <a:ext cx="653796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0" y="3602736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reasons again with the new information and decides next step.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234440" y="4078224"/>
            <a:ext cx="0" cy="146304"/>
          </a:xfrm>
          <a:prstGeom prst="line">
            <a:avLst/>
          </a:prstGeom>
          <a:noFill/>
          <a:ln w="1270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4224528"/>
            <a:ext cx="15544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31596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ANSWER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148840" y="4224528"/>
            <a:ext cx="6537960" cy="566928"/>
          </a:xfrm>
          <a:prstGeom prst="rect">
            <a:avLst/>
          </a:prstGeom>
          <a:solidFill>
            <a:srgbClr val="1A1A1A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4315968"/>
            <a:ext cx="6263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enough cycles the model produces the final grounded answer.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CASES:  Autonomous agents  ·  Complex research  ·  Multi-step planning  ·  Agentic code execution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  —  INSTRUCTION TUNING &amp; SYSTEM PROMPTS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prompts set persistent behaviour, persona, and constraints before any user message is processed.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146304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7276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PERSONA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011680" y="1481328"/>
            <a:ext cx="576072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5727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are a concise, data-driven business analyst."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2121408"/>
            <a:ext cx="146304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128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SCOPE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2121408"/>
            <a:ext cx="576072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2128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answer questions related to financial data analysis."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146304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5292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011680" y="2761488"/>
            <a:ext cx="576072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28529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"Always respond in bullet points. Max 5 bullets per answer."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146304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49300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TONE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011680" y="3401568"/>
            <a:ext cx="576072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48840" y="349300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 formal language. Avoid jargon unless defined."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4041648"/>
            <a:ext cx="1463040" cy="53035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1330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SAFETY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011680" y="4041648"/>
            <a:ext cx="5760720" cy="530352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41330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not speculate. State confidence level when uncertain."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PROMPT BEST PRACTICES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4773168"/>
            <a:ext cx="2011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773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high-priority instructions at the top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633472" y="4773168"/>
            <a:ext cx="2011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33472" y="4773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explicit about what NOT to do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9744" y="4773168"/>
            <a:ext cx="2011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9744" y="4773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the exact output format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86016" y="4773168"/>
            <a:ext cx="2011680" cy="274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86016" y="4773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adversarial user inputs after writing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 COMPARISON MATRIX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1024128"/>
            <a:ext cx="182880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42416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084832" y="1024128"/>
            <a:ext cx="192024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30552" y="10424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Best For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032504" y="1024128"/>
            <a:ext cx="242316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78224" y="104241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Example Use Case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3096" y="1024128"/>
            <a:ext cx="86868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042416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Effort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79208" y="1024128"/>
            <a:ext cx="1645920" cy="38404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24928" y="104241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 Boost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" y="1435608"/>
            <a:ext cx="182880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150876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Zero-Shot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084832" y="1435608"/>
            <a:ext cx="192024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9696" y="1508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tasks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032504" y="1435608"/>
            <a:ext cx="242316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87368" y="150876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classification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83096" y="1435608"/>
            <a:ext cx="86868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150876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379208" y="1435608"/>
            <a:ext cx="164592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5087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28600" y="1883664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3464" y="195681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084832" y="1883664"/>
            <a:ext cx="19202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39696" y="19568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format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032504" y="1883664"/>
            <a:ext cx="24231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87368" y="19568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templates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83096" y="1883664"/>
            <a:ext cx="8686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195681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379208" y="1883664"/>
            <a:ext cx="1645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34072" y="195681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" y="2331720"/>
            <a:ext cx="182880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" y="24048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Chain-of-Thought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084832" y="2331720"/>
            <a:ext cx="192024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39696" y="240487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/ maths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032504" y="2331720"/>
            <a:ext cx="242316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87368" y="240487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word problems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83096" y="2331720"/>
            <a:ext cx="86868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37960" y="240487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379208" y="2331720"/>
            <a:ext cx="164592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34072" y="240487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28600" y="2779776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" y="28529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084832" y="2779776"/>
            <a:ext cx="19202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39696" y="28529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&amp; perspective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032504" y="2779776"/>
            <a:ext cx="24231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087368" y="28529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clause review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483096" y="2779776"/>
            <a:ext cx="8686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85292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★☆☆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379208" y="2779776"/>
            <a:ext cx="1645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34072" y="2852928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228600" y="3227832"/>
            <a:ext cx="182880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3464" y="33009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Self-Consistency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084832" y="3227832"/>
            <a:ext cx="192024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39696" y="330098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accuracy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4032504" y="3227832"/>
            <a:ext cx="242316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087368" y="33009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/ logic checks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6483096" y="3227832"/>
            <a:ext cx="86868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537960" y="33009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379208" y="3227832"/>
            <a:ext cx="164592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434072" y="330098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28600" y="3675888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464" y="37490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 of Thoughts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084832" y="3675888"/>
            <a:ext cx="19202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139696" y="3749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Creative / planning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4032504" y="3675888"/>
            <a:ext cx="24231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087368" y="374904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itinerary planner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6483096" y="3675888"/>
            <a:ext cx="8686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537960" y="374904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7379208" y="3675888"/>
            <a:ext cx="1645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434072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228600" y="4123944"/>
            <a:ext cx="182880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83464" y="419709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084832" y="4123944"/>
            <a:ext cx="192024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139696" y="419709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tasks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4032504" y="4123944"/>
            <a:ext cx="242316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087368" y="419709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+ tool calling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6483096" y="4123944"/>
            <a:ext cx="86868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537960" y="4197096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7379208" y="4123944"/>
            <a:ext cx="1645920" cy="420624"/>
          </a:xfrm>
          <a:prstGeom prst="rect">
            <a:avLst/>
          </a:prstGeom>
          <a:solidFill>
            <a:srgbClr val="F4F4F4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434072" y="4197096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High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228600" y="4572000"/>
            <a:ext cx="1828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83464" y="464515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System Prompts</a:t>
            </a:r>
            <a:endParaRPr lang="en-US" sz="1050" dirty="0"/>
          </a:p>
        </p:txBody>
      </p:sp>
      <p:sp>
        <p:nvSpPr>
          <p:cNvPr id="86" name="Shape 84"/>
          <p:cNvSpPr/>
          <p:nvPr/>
        </p:nvSpPr>
        <p:spPr>
          <a:xfrm>
            <a:off x="2084832" y="4572000"/>
            <a:ext cx="192024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2139696" y="46451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behaviour</a:t>
            </a:r>
            <a:endParaRPr lang="en-US" sz="1050" dirty="0"/>
          </a:p>
        </p:txBody>
      </p:sp>
      <p:sp>
        <p:nvSpPr>
          <p:cNvPr id="88" name="Shape 86"/>
          <p:cNvSpPr/>
          <p:nvPr/>
        </p:nvSpPr>
        <p:spPr>
          <a:xfrm>
            <a:off x="4032504" y="4572000"/>
            <a:ext cx="242316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087368" y="464515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support chatbot</a:t>
            </a:r>
            <a:endParaRPr lang="en-US" sz="1050" dirty="0"/>
          </a:p>
        </p:txBody>
      </p:sp>
      <p:sp>
        <p:nvSpPr>
          <p:cNvPr id="90" name="Shape 88"/>
          <p:cNvSpPr/>
          <p:nvPr/>
        </p:nvSpPr>
        <p:spPr>
          <a:xfrm>
            <a:off x="6483096" y="4572000"/>
            <a:ext cx="86868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464515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★★☆</a:t>
            </a:r>
            <a:endParaRPr lang="en-US" sz="1050" dirty="0"/>
          </a:p>
        </p:txBody>
      </p:sp>
      <p:sp>
        <p:nvSpPr>
          <p:cNvPr id="92" name="Shape 90"/>
          <p:cNvSpPr/>
          <p:nvPr/>
        </p:nvSpPr>
        <p:spPr>
          <a:xfrm>
            <a:off x="7379208" y="4572000"/>
            <a:ext cx="16459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CCCC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34072" y="46451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TO CHOOSE THE RIGHT TECHNIQUE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64992" y="1179576"/>
            <a:ext cx="241401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type of task is it?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965960"/>
            <a:ext cx="2011680" cy="45720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204825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 / classification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51760" y="1965960"/>
            <a:ext cx="2011680" cy="45720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24912" y="204825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Format / style critical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0" y="1965960"/>
            <a:ext cx="2011680" cy="45720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02352" y="204825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Multi-step reasoning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406640" y="1965960"/>
            <a:ext cx="1463040" cy="45720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79792" y="204825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Agentic / tools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20116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91693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Zero-Shot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651760" y="2834640"/>
            <a:ext cx="20116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24912" y="291693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 + Role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0" y="2834640"/>
            <a:ext cx="20116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02352" y="2916936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CoT or Self-Consistency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406640" y="2834640"/>
            <a:ext cx="146304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79792" y="2916936"/>
            <a:ext cx="13167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or ToT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0" y="1600200"/>
            <a:ext cx="0" cy="36576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80160" y="1600200"/>
            <a:ext cx="0" cy="36576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0" y="1600200"/>
            <a:ext cx="0" cy="36576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1600200"/>
            <a:ext cx="0" cy="36576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38160" y="1600200"/>
            <a:ext cx="0" cy="36576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80160" y="2423160"/>
            <a:ext cx="0" cy="41148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2423160"/>
            <a:ext cx="0" cy="41148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35040" y="2423160"/>
            <a:ext cx="0" cy="41148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138160" y="2423160"/>
            <a:ext cx="0" cy="41148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80160" y="1600200"/>
            <a:ext cx="6858000" cy="0"/>
          </a:xfrm>
          <a:prstGeom prst="line">
            <a:avLst/>
          </a:prstGeom>
          <a:noFill/>
          <a:ln w="10160">
            <a:solidFill>
              <a:srgbClr val="8888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9300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 LAYER TECHNIQUES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858768"/>
            <a:ext cx="2084832" cy="100584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4361688"/>
            <a:ext cx="181051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07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Persona + consistent format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578608" y="3858768"/>
            <a:ext cx="2084832" cy="100584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0048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Chain-of-Thought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Few-Shot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15768" y="4361688"/>
            <a:ext cx="181051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70048" y="4407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Reasoned step-by-step examples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91456" y="3858768"/>
            <a:ext cx="2084832" cy="100584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82896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ReAct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Role-Based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28616" y="4361688"/>
            <a:ext cx="181051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82896" y="4407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Expert agent with tool access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004304" y="3858768"/>
            <a:ext cx="2084832" cy="1005840"/>
          </a:xfrm>
          <a:prstGeom prst="rect">
            <a:avLst/>
          </a:prstGeom>
          <a:solidFill>
            <a:srgbClr val="F4F4F4"/>
          </a:solidFill>
          <a:ln w="1016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95744" y="3913632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CoT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Self-Consistency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41464" y="4361688"/>
            <a:ext cx="1810512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95744" y="44074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Highest accuracy possible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6350">
            <a:solidFill>
              <a:srgbClr val="44444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51560" y="11064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simple, add complexity only as needed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51560" y="1399032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first. Add examples (few-shot) if format is off. Add CoT if reasoning fails.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1837944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1865376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Role + Few-Shot is your everyday power combo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2157984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Assigning a persona and showing 2–3 examples handles 80% of professional prompting needs.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2596896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051560" y="2624328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Chain-of-Thought unlocks reasoning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2916936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words — 'Think step-by-step' — can dramatically improve accuracy on complex tasks.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335584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051560" y="338328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Self-Consistency is your accuracy safety net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3675888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high-stakes outputs, run the prompt multiple times and take the majority answer.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8888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1051560" y="4142232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Techniques compound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4434840"/>
            <a:ext cx="7635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prompts layer multiple techniques: Role + CoT + Format constraints together outperform any single approach.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PROMPTING TECHNIQUES  ·  MODULE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Prompting Techniques</dc:title>
  <dc:subject>PptxGenJS Presentation</dc:subject>
  <dc:creator>PptxGenJS</dc:creator>
  <cp:lastModifiedBy>PptxGenJS</cp:lastModifiedBy>
  <cp:revision>1</cp:revision>
  <dcterms:created xsi:type="dcterms:W3CDTF">2026-05-07T02:22:21Z</dcterms:created>
  <dcterms:modified xsi:type="dcterms:W3CDTF">2026-05-07T02:22:21Z</dcterms:modified>
</cp:coreProperties>
</file>