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72240"/>
  </p:normalViewPr>
  <p:slideViewPr>
    <p:cSldViewPr snapToGrid="0" snapToObjects="1">
      <p:cViewPr varScale="1">
        <p:scale>
          <a:sx n="100" d="100"/>
          <a:sy n="100" d="100"/>
        </p:scale>
        <p:origin x="1960" y="160"/>
      </p:cViewPr>
      <p:guideLst/>
    </p:cSldViewPr>
  </p:slideViewPr>
  <p:notesTextViewPr>
    <p:cViewPr>
      <p:scale>
        <a:sx n="1" d="1"/>
        <a:sy n="1" d="1"/>
      </p:scale>
      <p:origin x="0" y="-340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0542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is Noise?</a:t>
            </a:r>
          </a:p>
          <a:p>
            <a:r>
              <a:rPr lang="en-US" dirty="0"/>
              <a:t>👉 </a:t>
            </a:r>
            <a:r>
              <a:rPr lang="en-US" b="1" dirty="0"/>
              <a:t>Noise = irrelevant, random, or misleading data</a:t>
            </a:r>
            <a:br>
              <a:rPr lang="en-US" dirty="0"/>
            </a:br>
            <a:r>
              <a:rPr lang="en-US" dirty="0"/>
              <a:t>It does NOT help the model learn the real pattern.</a:t>
            </a:r>
          </a:p>
          <a:p>
            <a:r>
              <a:rPr lang="en-US" dirty="0"/>
              <a:t>Imagine you’re trying to predict:</a:t>
            </a:r>
            <a:br>
              <a:rPr lang="en-US" dirty="0"/>
            </a:br>
            <a:r>
              <a:rPr lang="en-US" dirty="0"/>
              <a:t>👉 “Will a student pass an exam?”</a:t>
            </a:r>
          </a:p>
          <a:p>
            <a:r>
              <a:rPr lang="en-US" b="1" dirty="0"/>
              <a:t>Useful (Signal):</a:t>
            </a:r>
          </a:p>
          <a:p>
            <a:r>
              <a:rPr lang="en-US" dirty="0"/>
              <a:t>Study hours </a:t>
            </a:r>
          </a:p>
          <a:p>
            <a:r>
              <a:rPr lang="en-US" dirty="0"/>
              <a:t>Previous scores </a:t>
            </a:r>
          </a:p>
          <a:p>
            <a:r>
              <a:rPr lang="en-US" b="1" dirty="0"/>
              <a:t>Noise:</a:t>
            </a:r>
          </a:p>
          <a:p>
            <a:r>
              <a:rPr lang="en-US" dirty="0"/>
              <a:t>Favorite color 🎨 </a:t>
            </a:r>
          </a:p>
          <a:p>
            <a:r>
              <a:rPr lang="en-US" dirty="0"/>
              <a:t>Shoe size 👟 </a:t>
            </a:r>
          </a:p>
          <a:p>
            <a:r>
              <a:rPr lang="en-US" dirty="0"/>
              <a:t>Random typos in data </a:t>
            </a:r>
          </a:p>
          <a:p>
            <a:r>
              <a:rPr lang="en-US" dirty="0"/>
              <a:t>👉 Noise = distraction from the real pattern</a:t>
            </a:r>
          </a:p>
          <a:p>
            <a:endParaRPr lang="en-US" dirty="0"/>
          </a:p>
          <a:p>
            <a:endParaRPr lang="en-US" dirty="0"/>
          </a:p>
          <a:p>
            <a:r>
              <a:rPr lang="en-US" b="1" dirty="0"/>
              <a:t>Example 1: Text Classification (Spam Detection)</a:t>
            </a:r>
          </a:p>
          <a:p>
            <a:r>
              <a:rPr lang="en-US" b="1" dirty="0"/>
              <a:t>📩 Raw Email:</a:t>
            </a:r>
          </a:p>
          <a:p>
            <a:r>
              <a:rPr lang="en-US" dirty="0"/>
              <a:t>“🔥 WIN $$$ NOW!!! Limited offer!!! Call 12345”</a:t>
            </a:r>
          </a:p>
          <a:p>
            <a:br>
              <a:rPr lang="en-US" dirty="0"/>
            </a:br>
            <a:endParaRPr lang="en-US" dirty="0"/>
          </a:p>
          <a:p>
            <a:r>
              <a:rPr lang="en-US" b="1" dirty="0"/>
              <a:t>🧠 Signal:</a:t>
            </a:r>
          </a:p>
          <a:p>
            <a:r>
              <a:rPr lang="en-US" dirty="0"/>
              <a:t>“WIN” </a:t>
            </a:r>
          </a:p>
          <a:p>
            <a:r>
              <a:rPr lang="en-US" dirty="0"/>
              <a:t>“$$$” </a:t>
            </a:r>
          </a:p>
          <a:p>
            <a:r>
              <a:rPr lang="en-US" dirty="0"/>
              <a:t>“offer” </a:t>
            </a:r>
          </a:p>
          <a:p>
            <a:r>
              <a:rPr lang="en-US" dirty="0"/>
              <a:t>👉 Indicates spam</a:t>
            </a:r>
          </a:p>
          <a:p>
            <a:br>
              <a:rPr lang="en-US" dirty="0"/>
            </a:br>
            <a:endParaRPr lang="en-US" dirty="0"/>
          </a:p>
          <a:p>
            <a:r>
              <a:rPr lang="en-US" b="1" dirty="0"/>
              <a:t>❌ Noise:</a:t>
            </a:r>
          </a:p>
          <a:p>
            <a:r>
              <a:rPr lang="en-US" dirty="0"/>
              <a:t>“🔥” emoji </a:t>
            </a:r>
          </a:p>
          <a:p>
            <a:r>
              <a:rPr lang="en-US" dirty="0"/>
              <a:t>Extra “!!!” </a:t>
            </a:r>
          </a:p>
          <a:p>
            <a:r>
              <a:rPr lang="en-US" dirty="0"/>
              <a:t>Random phone number </a:t>
            </a:r>
          </a:p>
          <a:p>
            <a:r>
              <a:rPr lang="en-US" dirty="0"/>
              <a:t>Upper/lower case variations</a:t>
            </a:r>
          </a:p>
          <a:p>
            <a:endParaRPr lang="en-US" dirty="0"/>
          </a:p>
          <a:p>
            <a:r>
              <a:rPr lang="en-US" b="1" dirty="0"/>
              <a:t>Example 2: Image Data (Deep Learning)</a:t>
            </a:r>
          </a:p>
          <a:p>
            <a:r>
              <a:rPr lang="en-US" b="1" dirty="0"/>
              <a:t>🖼 Raw Data:</a:t>
            </a:r>
          </a:p>
          <a:p>
            <a:r>
              <a:rPr lang="en-US" dirty="0"/>
              <a:t>Pixels of an image</a:t>
            </a:r>
          </a:p>
          <a:p>
            <a:r>
              <a:rPr lang="en-US" b="1" dirty="0"/>
              <a:t>Noise:</a:t>
            </a:r>
          </a:p>
          <a:p>
            <a:r>
              <a:rPr lang="en-US" dirty="0"/>
              <a:t>Blur </a:t>
            </a:r>
          </a:p>
          <a:p>
            <a:r>
              <a:rPr lang="en-US" dirty="0"/>
              <a:t>Grain (low light) </a:t>
            </a:r>
          </a:p>
          <a:p>
            <a:r>
              <a:rPr lang="en-US" dirty="0"/>
              <a:t>Random pixels </a:t>
            </a:r>
          </a:p>
          <a:p>
            <a:br>
              <a:rPr lang="en-US" dirty="0"/>
            </a:br>
            <a:endParaRPr lang="en-US" dirty="0"/>
          </a:p>
          <a:p>
            <a:r>
              <a:rPr lang="en-US" b="1" dirty="0"/>
              <a:t>🧠 Signal:</a:t>
            </a:r>
          </a:p>
          <a:p>
            <a:r>
              <a:rPr lang="en-US" dirty="0"/>
              <a:t>Edges </a:t>
            </a:r>
          </a:p>
          <a:p>
            <a:r>
              <a:rPr lang="en-US" dirty="0"/>
              <a:t>Shapes </a:t>
            </a:r>
          </a:p>
          <a:p>
            <a:r>
              <a:rPr lang="en-US" dirty="0"/>
              <a:t>Object boundaries </a:t>
            </a:r>
          </a:p>
          <a:p>
            <a:br>
              <a:rPr lang="en-US" dirty="0"/>
            </a:br>
            <a:endParaRPr lang="en-US" dirty="0"/>
          </a:p>
          <a:p>
            <a:r>
              <a:rPr lang="en-US" b="1" dirty="0"/>
              <a:t>🔧 Noise Reduction Techniques:</a:t>
            </a:r>
          </a:p>
          <a:p>
            <a:r>
              <a:rPr lang="en-US" dirty="0"/>
              <a:t>Gaussian blur </a:t>
            </a:r>
          </a:p>
          <a:p>
            <a:r>
              <a:rPr lang="en-US" dirty="0"/>
              <a:t>Image smoothing </a:t>
            </a:r>
          </a:p>
          <a:p>
            <a:r>
              <a:rPr lang="en-US" dirty="0"/>
              <a:t>Normalization </a:t>
            </a:r>
          </a:p>
          <a:p>
            <a:r>
              <a:rPr lang="en-US" dirty="0"/>
              <a:t>👉 Helps model detect edges → objects</a:t>
            </a:r>
          </a:p>
          <a:p>
            <a:endParaRPr lang="en-US" dirty="0"/>
          </a:p>
          <a:p>
            <a:endParaRPr lang="en-US" dirty="0"/>
          </a:p>
          <a:p>
            <a:r>
              <a:rPr lang="en-US" b="1" dirty="0"/>
              <a:t>Example 3: Tabular Data (Your ML Projects)</a:t>
            </a:r>
          </a:p>
          <a:p>
            <a:r>
              <a:rPr lang="en-US" b="1" dirty="0"/>
              <a:t>📊 Dataset:</a:t>
            </a:r>
          </a:p>
          <a:p>
            <a:r>
              <a:rPr lang="en-US" dirty="0"/>
              <a:t>AgeSalaryPurchased2550000Yes2550000No ❌</a:t>
            </a:r>
          </a:p>
          <a:p>
            <a:br>
              <a:rPr lang="en-US" dirty="0"/>
            </a:br>
            <a:endParaRPr lang="en-US" dirty="0"/>
          </a:p>
          <a:p>
            <a:r>
              <a:rPr lang="en-US" b="1" dirty="0"/>
              <a:t>❌ Noise:</a:t>
            </a:r>
          </a:p>
          <a:p>
            <a:r>
              <a:rPr lang="en-US" dirty="0"/>
              <a:t>Same inputs → different outputs</a:t>
            </a:r>
            <a:br>
              <a:rPr lang="en-US" dirty="0"/>
            </a:br>
            <a:r>
              <a:rPr lang="en-US" dirty="0"/>
              <a:t>👉 Confuses model </a:t>
            </a:r>
          </a:p>
          <a:p>
            <a:br>
              <a:rPr lang="en-US" dirty="0"/>
            </a:br>
            <a:endParaRPr lang="en-US" dirty="0"/>
          </a:p>
          <a:p>
            <a:r>
              <a:rPr lang="en-US" b="1" dirty="0"/>
              <a:t>🔧 Fix:</a:t>
            </a:r>
          </a:p>
          <a:p>
            <a:r>
              <a:rPr lang="en-US" dirty="0"/>
              <a:t>Clean inconsistent rows </a:t>
            </a:r>
          </a:p>
          <a:p>
            <a:r>
              <a:rPr lang="en-US" dirty="0"/>
              <a:t>Remove duplicates </a:t>
            </a:r>
          </a:p>
          <a:p>
            <a:r>
              <a:rPr lang="en-US" dirty="0"/>
              <a:t>Handle missing values </a:t>
            </a:r>
          </a:p>
          <a:p>
            <a:endParaRPr lang="en-US" dirty="0"/>
          </a:p>
          <a:p>
            <a:r>
              <a:rPr lang="en-US" b="1" dirty="0"/>
              <a:t>Random Noise</a:t>
            </a:r>
          </a:p>
          <a:p>
            <a:r>
              <a:rPr lang="en-US" dirty="0"/>
              <a:t>Measurement errors </a:t>
            </a:r>
          </a:p>
          <a:p>
            <a:r>
              <a:rPr lang="en-US" dirty="0"/>
              <a:t>Typos </a:t>
            </a:r>
          </a:p>
          <a:p>
            <a:r>
              <a:rPr lang="en-US" dirty="0"/>
              <a:t>👉 Fix: Cleaning, smoothing</a:t>
            </a:r>
          </a:p>
          <a:p>
            <a:br>
              <a:rPr lang="en-US" dirty="0"/>
            </a:br>
            <a:endParaRPr lang="en-US" dirty="0"/>
          </a:p>
          <a:p>
            <a:r>
              <a:rPr lang="en-US" b="1" dirty="0"/>
              <a:t>2️⃣ Irrelevant Features</a:t>
            </a:r>
          </a:p>
          <a:p>
            <a:r>
              <a:rPr lang="en-US" dirty="0"/>
              <a:t>Useless columns </a:t>
            </a:r>
          </a:p>
          <a:p>
            <a:r>
              <a:rPr lang="en-US" dirty="0"/>
              <a:t>👉 Fix: Feature selection</a:t>
            </a:r>
          </a:p>
          <a:p>
            <a:br>
              <a:rPr lang="en-US" dirty="0"/>
            </a:br>
            <a:endParaRPr lang="en-US" dirty="0"/>
          </a:p>
          <a:p>
            <a:r>
              <a:rPr lang="en-US" b="1" dirty="0"/>
              <a:t>3️⃣ Outliers</a:t>
            </a:r>
          </a:p>
          <a:p>
            <a:r>
              <a:rPr lang="en-US" dirty="0"/>
              <a:t>Extreme values </a:t>
            </a:r>
          </a:p>
          <a:p>
            <a:pPr rtl="0"/>
            <a:r>
              <a:rPr lang="en-US" sz="1200" kern="1200" dirty="0">
                <a:solidFill>
                  <a:schemeClr val="tx1"/>
                </a:solidFill>
                <a:latin typeface="+mn-lt"/>
                <a:ea typeface="+mn-ea"/>
                <a:cs typeface="+mn-cs"/>
              </a:rPr>
              <a:t># Example: remove outliers</a:t>
            </a:r>
            <a:br>
              <a:rPr lang="en-US" sz="1200" kern="1200" dirty="0">
                <a:solidFill>
                  <a:schemeClr val="tx1"/>
                </a:solidFill>
                <a:latin typeface="+mn-lt"/>
                <a:ea typeface="+mn-ea"/>
                <a:cs typeface="+mn-cs"/>
              </a:rPr>
            </a:br>
            <a:r>
              <a:rPr lang="en-US" sz="1200" kern="1200" dirty="0" err="1">
                <a:solidFill>
                  <a:schemeClr val="tx1"/>
                </a:solidFill>
                <a:latin typeface="+mn-lt"/>
                <a:ea typeface="+mn-ea"/>
                <a:cs typeface="+mn-cs"/>
              </a:rPr>
              <a:t>df</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df</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df</a:t>
            </a:r>
            <a:r>
              <a:rPr lang="en-US" sz="1200" kern="1200" dirty="0">
                <a:solidFill>
                  <a:schemeClr val="tx1"/>
                </a:solidFill>
                <a:latin typeface="+mn-lt"/>
                <a:ea typeface="+mn-ea"/>
                <a:cs typeface="+mn-cs"/>
              </a:rPr>
              <a:t>["salary"] &lt; 200000]</a:t>
            </a:r>
          </a:p>
          <a:p>
            <a:pPr rtl="0"/>
            <a:r>
              <a:rPr lang="en-US" dirty="0"/>
              <a:t>Noise reduction is essential because ML models learn patterns blindly—if noise is not removed, the model learns wrong patterns, leading to poor generalization</a:t>
            </a:r>
            <a:endParaRPr lang="en-US" sz="1200" kern="1200" dirty="0">
              <a:solidFill>
                <a:schemeClr val="tx1"/>
              </a:solidFill>
              <a:latin typeface="+mn-lt"/>
              <a:ea typeface="+mn-ea"/>
              <a:cs typeface="+mn-cs"/>
            </a:endParaRPr>
          </a:p>
          <a:p>
            <a:endParaRPr lang="en-US" dirty="0"/>
          </a:p>
          <a:p>
            <a:r>
              <a:rPr lang="en-US" dirty="0" err="1"/>
              <a:t>ProblemSolution</a:t>
            </a:r>
            <a:endParaRPr lang="en-US" dirty="0"/>
          </a:p>
          <a:p>
            <a:r>
              <a:rPr lang="en-US" dirty="0"/>
              <a:t>Text noise		Cleaning (regex, </a:t>
            </a:r>
            <a:r>
              <a:rPr lang="en-US" dirty="0" err="1"/>
              <a:t>stopwords</a:t>
            </a:r>
            <a:r>
              <a:rPr lang="en-US" dirty="0"/>
              <a:t>)</a:t>
            </a:r>
          </a:p>
          <a:p>
            <a:r>
              <a:rPr lang="en-US" dirty="0"/>
              <a:t>Image noise		Filtering, smoothing</a:t>
            </a:r>
          </a:p>
          <a:p>
            <a:r>
              <a:rPr lang="en-US" dirty="0"/>
              <a:t>Data noise		Remove duplicates, nulls</a:t>
            </a:r>
          </a:p>
          <a:p>
            <a:r>
              <a:rPr lang="en-US" dirty="0"/>
              <a:t>Irrelevant features	Feature selection</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answers the question: </a:t>
            </a:r>
            <a:r>
              <a:rPr lang="en-US" i="1" dirty="0"/>
              <a:t>"Of all the actual positives, how many did the model correctly catch?"</a:t>
            </a:r>
            <a:endParaRPr lang="en-US" b="1" dirty="0"/>
          </a:p>
          <a:p>
            <a:r>
              <a:rPr lang="en-US" b="1" dirty="0"/>
              <a:t>TP</a:t>
            </a:r>
            <a:r>
              <a:rPr lang="en-US" dirty="0"/>
              <a:t> (True Positives) — correctly predicted positive cases </a:t>
            </a:r>
            <a:r>
              <a:rPr lang="en-US" b="1" dirty="0"/>
              <a:t>FN</a:t>
            </a:r>
            <a:r>
              <a:rPr lang="en-US" dirty="0"/>
              <a:t> (False Negatives) — actual positives the model </a:t>
            </a:r>
            <a:r>
              <a:rPr lang="en-US" i="1" dirty="0"/>
              <a:t>missed</a:t>
            </a:r>
          </a:p>
          <a:p>
            <a:endParaRPr lang="en-US" i="1" dirty="0"/>
          </a:p>
          <a:p>
            <a:r>
              <a:rPr lang="en-US" dirty="0"/>
              <a:t>So the denominator TP + FN represents </a:t>
            </a:r>
            <a:r>
              <a:rPr lang="en-US" b="1" dirty="0"/>
              <a:t>all real positives</a:t>
            </a:r>
            <a:r>
              <a:rPr lang="en-US" dirty="0"/>
              <a:t> in your dataset, and you're measuring what fraction your model successfully identified.</a:t>
            </a:r>
          </a:p>
          <a:p>
            <a:endParaRPr lang="en-US" dirty="0"/>
          </a:p>
          <a:p>
            <a:r>
              <a:rPr lang="en-US" dirty="0"/>
              <a:t>So the denominator TP + FN represents </a:t>
            </a:r>
            <a:r>
              <a:rPr lang="en-US" b="1" dirty="0"/>
              <a:t>all real positives</a:t>
            </a:r>
            <a:r>
              <a:rPr lang="en-US" dirty="0"/>
              <a:t> in your dataset, and you're measuring what fraction your model successfully identified.</a:t>
            </a:r>
          </a:p>
          <a:p>
            <a:endParaRPr lang="en-US" dirty="0"/>
          </a:p>
          <a:p>
            <a:r>
              <a:rPr lang="en-US" b="1" dirty="0"/>
              <a:t>In healthcare context</a:t>
            </a:r>
            <a:r>
              <a:rPr lang="en-US" dirty="0"/>
              <a:t>, recall is often the priority metric. </a:t>
            </a:r>
          </a:p>
          <a:p>
            <a:r>
              <a:rPr lang="en-US" dirty="0"/>
              <a:t>For example, in a sepsis detection model, a False Negative means a sick patient went undetected — which is far more dangerous than a False Positive (an unnecessary check on a healthy patient). </a:t>
            </a:r>
          </a:p>
          <a:p>
            <a:r>
              <a:rPr lang="en-US" dirty="0"/>
              <a:t>High recall = low miss rate.</a:t>
            </a:r>
          </a:p>
          <a:p>
            <a:r>
              <a:rPr lang="en-US" dirty="0"/>
              <a:t>It's one of the four values that come from the confusion matrix, alongside:</a:t>
            </a:r>
          </a:p>
          <a:p>
            <a:r>
              <a:rPr lang="en-US" dirty="0"/>
              <a:t>Metric		Formula				What it measures</a:t>
            </a:r>
          </a:p>
          <a:p>
            <a:r>
              <a:rPr lang="en-US" b="1" dirty="0"/>
              <a:t>Recall / Sensitivity	</a:t>
            </a:r>
            <a:r>
              <a:rPr lang="en-US" dirty="0"/>
              <a:t>TP / (TP + FN)			Of real positives, how many caught?</a:t>
            </a:r>
          </a:p>
          <a:p>
            <a:r>
              <a:rPr lang="en-US" b="1" dirty="0"/>
              <a:t>Precision		</a:t>
            </a:r>
            <a:r>
              <a:rPr lang="en-US" dirty="0"/>
              <a:t>TP / (TP + FP)			Of predicted positives, how many correct?	</a:t>
            </a:r>
          </a:p>
          <a:p>
            <a:r>
              <a:rPr lang="en-US" b="1" dirty="0"/>
              <a:t>Specificity		</a:t>
            </a:r>
            <a:r>
              <a:rPr lang="en-US" dirty="0"/>
              <a:t>TN / (TN + FP)			Of real negatives, how many correctly excluded?</a:t>
            </a:r>
          </a:p>
          <a:p>
            <a:r>
              <a:rPr lang="en-US" b="1" dirty="0"/>
              <a:t>F1 Score		</a:t>
            </a:r>
            <a:r>
              <a:rPr lang="en-US" dirty="0"/>
              <a:t>2 × (P × R) / (P + R)			Harmonic mean of precision and recall</a:t>
            </a:r>
          </a:p>
          <a:p>
            <a:endParaRPr lang="en-US" dirty="0"/>
          </a:p>
          <a:p>
            <a:r>
              <a:rPr lang="en-US" b="1" dirty="0"/>
              <a:t>Why "harmonic mean" and not just a regular average?</a:t>
            </a:r>
            <a:endParaRPr lang="en-US" dirty="0"/>
          </a:p>
          <a:p>
            <a:r>
              <a:rPr lang="en-US" dirty="0"/>
              <a:t>A regular average (arithmetic mean) of Precision and Recall would be:</a:t>
            </a:r>
          </a:p>
          <a:p>
            <a:r>
              <a:rPr lang="en-US" dirty="0"/>
              <a:t>(Precision + Recall) / 2</a:t>
            </a:r>
          </a:p>
          <a:p>
            <a:r>
              <a:rPr lang="en-US" dirty="0"/>
              <a:t>The problem is this </a:t>
            </a:r>
            <a:r>
              <a:rPr lang="en-US" b="1" dirty="0"/>
              <a:t>rewards imbalance</a:t>
            </a:r>
            <a:r>
              <a:rPr lang="en-US" dirty="0"/>
              <a:t>. If your model is lazy and predicts </a:t>
            </a:r>
            <a:r>
              <a:rPr lang="en-US" i="1" dirty="0"/>
              <a:t>everything</a:t>
            </a:r>
            <a:r>
              <a:rPr lang="en-US" dirty="0"/>
              <a:t> as positive, Recall becomes 1.0 but Precision crashes to near 0. The arithmetic mean would still give you ~0.5, making it look decent. That's misleading.</a:t>
            </a:r>
          </a:p>
          <a:p>
            <a:r>
              <a:rPr lang="en-US" dirty="0"/>
              <a:t>The </a:t>
            </a:r>
            <a:r>
              <a:rPr lang="en-US" b="1" dirty="0"/>
              <a:t>harmonic mean</a:t>
            </a:r>
            <a:r>
              <a:rPr lang="en-US" dirty="0"/>
              <a:t> punishes this:</a:t>
            </a:r>
          </a:p>
          <a:p>
            <a:r>
              <a:rPr lang="en-US" dirty="0"/>
              <a:t>2 × (P × R) / (P + R)</a:t>
            </a:r>
          </a:p>
          <a:p>
            <a:r>
              <a:rPr lang="en-US" dirty="0"/>
              <a:t>It pulls the result </a:t>
            </a:r>
            <a:r>
              <a:rPr lang="en-US" b="1" dirty="0"/>
              <a:t>toward whichever value is lower</a:t>
            </a:r>
            <a:r>
              <a:rPr lang="en-US" dirty="0"/>
              <a:t>. Both Precision AND Recall have to be high for F1 to be high. One weak number drags the whole score down.</a:t>
            </a:r>
          </a:p>
          <a:p>
            <a:br>
              <a:rPr lang="en-US" dirty="0"/>
            </a:br>
            <a:endParaRPr lang="en-US" dirty="0"/>
          </a:p>
          <a:p>
            <a:r>
              <a:rPr lang="en-US" b="1" dirty="0"/>
              <a:t>A concrete example:</a:t>
            </a:r>
            <a:endParaRPr lang="en-US" dirty="0"/>
          </a:p>
          <a:p>
            <a:r>
              <a:rPr lang="en-US" dirty="0"/>
              <a:t>Scenario		Precision		Recall	Arithmetic Mean	F1(Harmonic Mean)	</a:t>
            </a:r>
          </a:p>
          <a:p>
            <a:r>
              <a:rPr lang="en-US" dirty="0"/>
              <a:t>Balanced model	0.80		0.80	0.80		0.80</a:t>
            </a:r>
          </a:p>
          <a:p>
            <a:r>
              <a:rPr lang="en-US" dirty="0"/>
              <a:t>Recall-biased model	0.10		1.00	0.55		</a:t>
            </a:r>
            <a:r>
              <a:rPr lang="en-US" b="1" dirty="0"/>
              <a:t>0.18</a:t>
            </a:r>
          </a:p>
          <a:p>
            <a:r>
              <a:rPr lang="en-US" dirty="0"/>
              <a:t>Precision-biased model	1.00		0.10	0.55		</a:t>
            </a:r>
            <a:r>
              <a:rPr lang="en-US" b="1" dirty="0"/>
              <a:t>0.18</a:t>
            </a:r>
          </a:p>
          <a:p>
            <a:endParaRPr lang="en-US" dirty="0"/>
          </a:p>
          <a:p>
            <a:r>
              <a:rPr lang="en-US" dirty="0"/>
              <a:t>Notice the arithmetic mean gives 0.55 in both biased cases — falsely optimistic. F1 exposes the problem and gives 0.18.</a:t>
            </a:r>
          </a:p>
          <a:p>
            <a:endParaRPr lang="en-US" dirty="0"/>
          </a:p>
          <a:p>
            <a:r>
              <a:rPr lang="en-US" dirty="0"/>
              <a:t>F1 is asking </a:t>
            </a:r>
            <a:r>
              <a:rPr lang="en-US" i="1" dirty="0"/>
              <a:t>"are you good at both finding positives AND being right when you claim something is positive?"</a:t>
            </a:r>
            <a:r>
              <a:rPr lang="en-US" dirty="0"/>
              <a:t> — and you only score well if the answer to </a:t>
            </a:r>
            <a:r>
              <a:rPr lang="en-US" b="1" dirty="0"/>
              <a:t>both</a:t>
            </a:r>
            <a:r>
              <a:rPr lang="en-US" dirty="0"/>
              <a:t> is yes.</a:t>
            </a:r>
          </a:p>
          <a:p>
            <a:r>
              <a:rPr lang="en-US" dirty="0"/>
              <a:t>In healthcare, this matters enormously. A sepsis model that flags everyone has perfect recall but useless precision. </a:t>
            </a:r>
            <a:r>
              <a:rPr lang="en-US"/>
              <a:t>F1 forces you to balance the tradeoff honestly.</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6366F1">
              <a:alpha val="15000"/>
            </a:srgbClr>
          </a:solidFill>
          <a:ln/>
        </p:spPr>
      </p:sp>
      <p:sp>
        <p:nvSpPr>
          <p:cNvPr id="3" name="Shape 1"/>
          <p:cNvSpPr/>
          <p:nvPr/>
        </p:nvSpPr>
        <p:spPr>
          <a:xfrm>
            <a:off x="7132320" y="-548640"/>
            <a:ext cx="2743200" cy="2743200"/>
          </a:xfrm>
          <a:prstGeom prst="ellipse">
            <a:avLst/>
          </a:prstGeom>
          <a:solidFill>
            <a:srgbClr val="8B5CF6">
              <a:alpha val="20000"/>
            </a:srgbClr>
          </a:solidFill>
          <a:ln/>
        </p:spPr>
      </p:sp>
      <p:sp>
        <p:nvSpPr>
          <p:cNvPr id="4" name="Shape 2"/>
          <p:cNvSpPr/>
          <p:nvPr/>
        </p:nvSpPr>
        <p:spPr>
          <a:xfrm>
            <a:off x="-914400" y="3200400"/>
            <a:ext cx="3200400" cy="3200400"/>
          </a:xfrm>
          <a:prstGeom prst="ellipse">
            <a:avLst/>
          </a:prstGeom>
          <a:solidFill>
            <a:srgbClr val="14B8A6">
              <a:alpha val="12000"/>
            </a:srgbClr>
          </a:solidFill>
          <a:ln/>
        </p:spPr>
      </p:sp>
      <p:sp>
        <p:nvSpPr>
          <p:cNvPr id="5" name="Shape 3"/>
          <p:cNvSpPr/>
          <p:nvPr/>
        </p:nvSpPr>
        <p:spPr>
          <a:xfrm>
            <a:off x="548640" y="457200"/>
            <a:ext cx="2194560" cy="320040"/>
          </a:xfrm>
          <a:prstGeom prst="rect">
            <a:avLst/>
          </a:prstGeom>
          <a:solidFill>
            <a:srgbClr val="6366F1"/>
          </a:solidFill>
          <a:ln w="12700">
            <a:solidFill>
              <a:srgbClr val="6366F1"/>
            </a:solidFill>
            <a:prstDash val="solid"/>
          </a:ln>
        </p:spPr>
      </p:sp>
      <p:sp>
        <p:nvSpPr>
          <p:cNvPr id="6" name="Text 4"/>
          <p:cNvSpPr/>
          <p:nvPr/>
        </p:nvSpPr>
        <p:spPr>
          <a:xfrm>
            <a:off x="548640" y="457200"/>
            <a:ext cx="2194560" cy="320040"/>
          </a:xfrm>
          <a:prstGeom prst="rect">
            <a:avLst/>
          </a:prstGeom>
          <a:noFill/>
          <a:ln/>
        </p:spPr>
        <p:txBody>
          <a:bodyPr wrap="square" lIns="0" tIns="0" rIns="0" bIns="0" rtlCol="0" anchor="ctr"/>
          <a:lstStyle/>
          <a:p>
            <a:pPr marL="0" indent="0" algn="ctr">
              <a:buNone/>
            </a:pPr>
            <a:r>
              <a:rPr lang="en-US" sz="900" b="1" dirty="0">
                <a:solidFill>
                  <a:srgbClr val="FFFFFF"/>
                </a:solidFill>
              </a:rPr>
              <a:t>MACHINE LEARNING</a:t>
            </a:r>
            <a:endParaRPr lang="en-US" sz="900" dirty="0"/>
          </a:p>
        </p:txBody>
      </p:sp>
      <p:sp>
        <p:nvSpPr>
          <p:cNvPr id="7" name="Text 5"/>
          <p:cNvSpPr/>
          <p:nvPr/>
        </p:nvSpPr>
        <p:spPr>
          <a:xfrm>
            <a:off x="548640" y="1005840"/>
            <a:ext cx="6400800" cy="548640"/>
          </a:xfrm>
          <a:prstGeom prst="rect">
            <a:avLst/>
          </a:prstGeom>
          <a:noFill/>
          <a:ln/>
        </p:spPr>
        <p:txBody>
          <a:bodyPr wrap="square" rtlCol="0" anchor="ctr"/>
          <a:lstStyle/>
          <a:p>
            <a:pPr marL="0" indent="0">
              <a:buNone/>
            </a:pPr>
            <a:r>
              <a:rPr lang="en-US" sz="2400" dirty="0">
                <a:solidFill>
                  <a:srgbClr val="94A3B8"/>
                </a:solidFill>
                <a:latin typeface="Calibri Light" pitchFamily="34" charset="0"/>
                <a:ea typeface="Calibri Light" pitchFamily="34" charset="-122"/>
                <a:cs typeface="Calibri Light" pitchFamily="34" charset="-120"/>
              </a:rPr>
              <a:t>Introducing</a:t>
            </a:r>
            <a:endParaRPr lang="en-US" sz="2400" dirty="0"/>
          </a:p>
        </p:txBody>
      </p:sp>
      <p:sp>
        <p:nvSpPr>
          <p:cNvPr id="8" name="Text 6"/>
          <p:cNvSpPr/>
          <p:nvPr/>
        </p:nvSpPr>
        <p:spPr>
          <a:xfrm>
            <a:off x="548640" y="1463040"/>
            <a:ext cx="7772400" cy="1280160"/>
          </a:xfrm>
          <a:prstGeom prst="rect">
            <a:avLst/>
          </a:prstGeom>
          <a:noFill/>
          <a:ln/>
        </p:spPr>
        <p:txBody>
          <a:bodyPr wrap="square"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Machine Learning</a:t>
            </a:r>
            <a:endParaRPr lang="en-US" sz="5800" dirty="0"/>
          </a:p>
        </p:txBody>
      </p:sp>
      <p:sp>
        <p:nvSpPr>
          <p:cNvPr id="9" name="Text 7"/>
          <p:cNvSpPr/>
          <p:nvPr/>
        </p:nvSpPr>
        <p:spPr>
          <a:xfrm>
            <a:off x="548640" y="2834640"/>
            <a:ext cx="6858000" cy="822960"/>
          </a:xfrm>
          <a:prstGeom prst="rect">
            <a:avLst/>
          </a:prstGeom>
          <a:noFill/>
          <a:ln/>
        </p:spPr>
        <p:txBody>
          <a:bodyPr wrap="square" rtlCol="0" anchor="ctr"/>
          <a:lstStyle/>
          <a:p>
            <a:pPr marL="0" indent="0">
              <a:buNone/>
            </a:pPr>
            <a:r>
              <a:rPr lang="en-US" sz="1500" dirty="0">
                <a:solidFill>
                  <a:srgbClr val="CBD5E1"/>
                </a:solidFill>
                <a:latin typeface="Calibri Light" pitchFamily="34" charset="0"/>
                <a:ea typeface="Calibri Light" pitchFamily="34" charset="-122"/>
                <a:cs typeface="Calibri Light" pitchFamily="34" charset="-120"/>
              </a:rPr>
              <a:t>A comprehensive exploration of intelligent systems,</a:t>
            </a:r>
            <a:endParaRPr lang="en-US" sz="1500" dirty="0"/>
          </a:p>
          <a:p>
            <a:pPr marL="0" indent="0">
              <a:buNone/>
            </a:pPr>
            <a:r>
              <a:rPr lang="en-US" sz="1500" dirty="0">
                <a:solidFill>
                  <a:srgbClr val="CBD5E1"/>
                </a:solidFill>
                <a:latin typeface="Calibri Light" pitchFamily="34" charset="0"/>
                <a:ea typeface="Calibri Light" pitchFamily="34" charset="-122"/>
                <a:cs typeface="Calibri Light" pitchFamily="34" charset="-120"/>
              </a:rPr>
              <a:t>learning algorithms, and the future of AI</a:t>
            </a:r>
            <a:endParaRPr lang="en-US" sz="1500" dirty="0"/>
          </a:p>
        </p:txBody>
      </p:sp>
      <p:sp>
        <p:nvSpPr>
          <p:cNvPr id="10" name="Shape 8"/>
          <p:cNvSpPr/>
          <p:nvPr/>
        </p:nvSpPr>
        <p:spPr>
          <a:xfrm>
            <a:off x="0" y="4800600"/>
            <a:ext cx="9144000" cy="342900"/>
          </a:xfrm>
          <a:prstGeom prst="rect">
            <a:avLst/>
          </a:prstGeom>
          <a:solidFill>
            <a:srgbClr val="1A2235"/>
          </a:solidFill>
          <a:ln w="12700">
            <a:solidFill>
              <a:srgbClr val="1A2235"/>
            </a:solidFill>
            <a:prstDash val="solid"/>
          </a:ln>
        </p:spPr>
      </p:sp>
      <p:sp>
        <p:nvSpPr>
          <p:cNvPr id="11" name="Shape 9"/>
          <p:cNvSpPr/>
          <p:nvPr/>
        </p:nvSpPr>
        <p:spPr>
          <a:xfrm>
            <a:off x="0" y="4800600"/>
            <a:ext cx="1828800" cy="342900"/>
          </a:xfrm>
          <a:prstGeom prst="rect">
            <a:avLst/>
          </a:prstGeom>
          <a:solidFill>
            <a:srgbClr val="6366F1"/>
          </a:solidFill>
          <a:ln w="12700">
            <a:solidFill>
              <a:srgbClr val="6366F1"/>
            </a:solidFill>
            <a:prstDash val="solid"/>
          </a:ln>
        </p:spPr>
      </p:sp>
      <p:sp>
        <p:nvSpPr>
          <p:cNvPr id="12" name="Text 10"/>
          <p:cNvSpPr/>
          <p:nvPr/>
        </p:nvSpPr>
        <p:spPr>
          <a:xfrm>
            <a:off x="1920240" y="4800600"/>
            <a:ext cx="6858000" cy="342900"/>
          </a:xfrm>
          <a:prstGeom prst="rect">
            <a:avLst/>
          </a:prstGeom>
          <a:noFill/>
          <a:ln/>
        </p:spPr>
        <p:txBody>
          <a:bodyPr wrap="square" lIns="0" tIns="0" rIns="0" bIns="0" rtlCol="0" anchor="ctr"/>
          <a:lstStyle/>
          <a:p>
            <a:pPr marL="0" indent="0">
              <a:buNone/>
            </a:pPr>
            <a:r>
              <a:rPr lang="en-US" sz="1000" dirty="0">
                <a:solidFill>
                  <a:srgbClr val="64748B"/>
                </a:solidFill>
              </a:rPr>
              <a:t>7 Key Topics  •  Detailed Overview  •  Concepts &amp; Theory</a:t>
            </a:r>
            <a:endParaRPr lang="en-US" sz="1000" dirty="0"/>
          </a:p>
        </p:txBody>
      </p:sp>
      <p:pic>
        <p:nvPicPr>
          <p:cNvPr id="13" name="Image 0" descr="preencoded.png"/>
          <p:cNvPicPr>
            <a:picLocks noChangeAspect="1"/>
          </p:cNvPicPr>
          <p:nvPr/>
        </p:nvPicPr>
        <p:blipFill>
          <a:blip r:embed="rId3">
            <a:alphaModFix amt="80000"/>
          </a:blip>
          <a:stretch>
            <a:fillRect/>
          </a:stretch>
        </p:blipFill>
        <p:spPr>
          <a:xfrm>
            <a:off x="7315200" y="137160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6366F1"/>
          </a:solidFill>
          <a:ln w="12700">
            <a:solidFill>
              <a:srgbClr val="6366F1"/>
            </a:solidFill>
            <a:prstDash val="solid"/>
          </a:ln>
        </p:spPr>
      </p:sp>
      <p:sp>
        <p:nvSpPr>
          <p:cNvPr id="3" name="Text 1"/>
          <p:cNvSpPr/>
          <p:nvPr/>
        </p:nvSpPr>
        <p:spPr>
          <a:xfrm>
            <a:off x="274320" y="320040"/>
            <a:ext cx="1828800" cy="274320"/>
          </a:xfrm>
          <a:prstGeom prst="rect">
            <a:avLst/>
          </a:prstGeom>
          <a:noFill/>
          <a:ln/>
        </p:spPr>
        <p:txBody>
          <a:bodyPr wrap="square" lIns="0" tIns="0" rIns="0" bIns="0" rtlCol="0" anchor="ctr"/>
          <a:lstStyle/>
          <a:p>
            <a:pPr marL="0" indent="0">
              <a:buNone/>
            </a:pPr>
            <a:r>
              <a:rPr lang="en-US" sz="1000" b="1" kern="0" spc="400" dirty="0">
                <a:solidFill>
                  <a:srgbClr val="6366F1"/>
                </a:solidFill>
              </a:rPr>
              <a:t>AGENDA</a:t>
            </a:r>
            <a:endParaRPr lang="en-US" sz="1000" dirty="0"/>
          </a:p>
        </p:txBody>
      </p:sp>
      <p:sp>
        <p:nvSpPr>
          <p:cNvPr id="4" name="Text 2"/>
          <p:cNvSpPr/>
          <p:nvPr/>
        </p:nvSpPr>
        <p:spPr>
          <a:xfrm>
            <a:off x="274320" y="640080"/>
            <a:ext cx="8229600" cy="5486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We'll Cover</a:t>
            </a:r>
            <a:endParaRPr lang="en-US" sz="3200" dirty="0"/>
          </a:p>
        </p:txBody>
      </p:sp>
      <p:sp>
        <p:nvSpPr>
          <p:cNvPr id="5" name="Shape 3"/>
          <p:cNvSpPr/>
          <p:nvPr/>
        </p:nvSpPr>
        <p:spPr>
          <a:xfrm>
            <a:off x="274320" y="1325880"/>
            <a:ext cx="8595360" cy="457200"/>
          </a:xfrm>
          <a:prstGeom prst="rect">
            <a:avLst/>
          </a:prstGeom>
          <a:solidFill>
            <a:srgbClr val="1A2235"/>
          </a:solidFill>
          <a:ln w="12700">
            <a:solidFill>
              <a:srgbClr val="1A2235"/>
            </a:solidFill>
            <a:prstDash val="solid"/>
          </a:ln>
        </p:spPr>
      </p:sp>
      <p:sp>
        <p:nvSpPr>
          <p:cNvPr id="6" name="Text 4"/>
          <p:cNvSpPr/>
          <p:nvPr/>
        </p:nvSpPr>
        <p:spPr>
          <a:xfrm>
            <a:off x="320040" y="1325880"/>
            <a:ext cx="502920" cy="457200"/>
          </a:xfrm>
          <a:prstGeom prst="rect">
            <a:avLst/>
          </a:prstGeom>
          <a:noFill/>
          <a:ln/>
        </p:spPr>
        <p:txBody>
          <a:bodyPr wrap="square" lIns="0" tIns="0" rIns="0" bIns="0" rtlCol="0" anchor="ctr"/>
          <a:lstStyle/>
          <a:p>
            <a:pPr marL="0" indent="0" algn="ctr">
              <a:buNone/>
            </a:pPr>
            <a:r>
              <a:rPr lang="en-US" sz="1600" b="1" dirty="0">
                <a:solidFill>
                  <a:srgbClr val="6366F1"/>
                </a:solidFill>
              </a:rPr>
              <a:t>01</a:t>
            </a:r>
            <a:endParaRPr lang="en-US" sz="1600" dirty="0"/>
          </a:p>
        </p:txBody>
      </p:sp>
      <p:sp>
        <p:nvSpPr>
          <p:cNvPr id="7" name="Text 5"/>
          <p:cNvSpPr/>
          <p:nvPr/>
        </p:nvSpPr>
        <p:spPr>
          <a:xfrm>
            <a:off x="868680" y="1362456"/>
            <a:ext cx="4389120" cy="256032"/>
          </a:xfrm>
          <a:prstGeom prst="rect">
            <a:avLst/>
          </a:prstGeom>
          <a:noFill/>
          <a:ln/>
        </p:spPr>
        <p:txBody>
          <a:bodyPr wrap="square" lIns="0" tIns="0" rIns="0" bIns="0" rtlCol="0" anchor="b"/>
          <a:lstStyle/>
          <a:p>
            <a:pPr marL="0" indent="0">
              <a:buNone/>
            </a:pPr>
            <a:r>
              <a:rPr lang="en-US" sz="1300" b="1" dirty="0">
                <a:solidFill>
                  <a:srgbClr val="FFFFFF"/>
                </a:solidFill>
              </a:rPr>
              <a:t>Introducing Machine Learning</a:t>
            </a:r>
            <a:endParaRPr lang="en-US" sz="1300" dirty="0"/>
          </a:p>
        </p:txBody>
      </p:sp>
      <p:sp>
        <p:nvSpPr>
          <p:cNvPr id="8" name="Text 6"/>
          <p:cNvSpPr/>
          <p:nvPr/>
        </p:nvSpPr>
        <p:spPr>
          <a:xfrm>
            <a:off x="868680" y="1581912"/>
            <a:ext cx="4389120" cy="182880"/>
          </a:xfrm>
          <a:prstGeom prst="rect">
            <a:avLst/>
          </a:prstGeom>
          <a:noFill/>
          <a:ln/>
        </p:spPr>
        <p:txBody>
          <a:bodyPr wrap="square" lIns="0" tIns="0" rIns="0" bIns="0" rtlCol="0" anchor="t"/>
          <a:lstStyle/>
          <a:p>
            <a:pPr marL="0" indent="0">
              <a:buNone/>
            </a:pPr>
            <a:r>
              <a:rPr lang="en-US" sz="950" dirty="0">
                <a:solidFill>
                  <a:srgbClr val="94A3B8"/>
                </a:solidFill>
              </a:rPr>
              <a:t>What ML is, its scope and significance</a:t>
            </a:r>
            <a:endParaRPr lang="en-US" sz="950" dirty="0"/>
          </a:p>
        </p:txBody>
      </p:sp>
      <p:sp>
        <p:nvSpPr>
          <p:cNvPr id="9" name="Shape 7"/>
          <p:cNvSpPr/>
          <p:nvPr/>
        </p:nvSpPr>
        <p:spPr>
          <a:xfrm>
            <a:off x="8229600" y="1417320"/>
            <a:ext cx="548640" cy="274320"/>
          </a:xfrm>
          <a:prstGeom prst="rect">
            <a:avLst/>
          </a:prstGeom>
          <a:solidFill>
            <a:srgbClr val="6366F1">
              <a:alpha val="30000"/>
            </a:srgbClr>
          </a:solidFill>
          <a:ln w="12700">
            <a:solidFill>
              <a:srgbClr val="6366F1"/>
            </a:solidFill>
            <a:prstDash val="solid"/>
          </a:ln>
        </p:spPr>
      </p:sp>
      <p:sp>
        <p:nvSpPr>
          <p:cNvPr id="10" name="Shape 8"/>
          <p:cNvSpPr/>
          <p:nvPr/>
        </p:nvSpPr>
        <p:spPr>
          <a:xfrm>
            <a:off x="274320" y="1819656"/>
            <a:ext cx="8595360" cy="457200"/>
          </a:xfrm>
          <a:prstGeom prst="rect">
            <a:avLst/>
          </a:prstGeom>
          <a:solidFill>
            <a:srgbClr val="111827"/>
          </a:solidFill>
          <a:ln w="12700">
            <a:solidFill>
              <a:srgbClr val="111827"/>
            </a:solidFill>
            <a:prstDash val="solid"/>
          </a:ln>
        </p:spPr>
      </p:sp>
      <p:sp>
        <p:nvSpPr>
          <p:cNvPr id="11" name="Text 9"/>
          <p:cNvSpPr/>
          <p:nvPr/>
        </p:nvSpPr>
        <p:spPr>
          <a:xfrm>
            <a:off x="320040" y="1819656"/>
            <a:ext cx="502920" cy="457200"/>
          </a:xfrm>
          <a:prstGeom prst="rect">
            <a:avLst/>
          </a:prstGeom>
          <a:noFill/>
          <a:ln/>
        </p:spPr>
        <p:txBody>
          <a:bodyPr wrap="square" lIns="0" tIns="0" rIns="0" bIns="0" rtlCol="0" anchor="ctr"/>
          <a:lstStyle/>
          <a:p>
            <a:pPr marL="0" indent="0" algn="ctr">
              <a:buNone/>
            </a:pPr>
            <a:r>
              <a:rPr lang="en-US" sz="1600" b="1" dirty="0">
                <a:solidFill>
                  <a:srgbClr val="6366F1"/>
                </a:solidFill>
              </a:rPr>
              <a:t>02</a:t>
            </a:r>
            <a:endParaRPr lang="en-US" sz="1600" dirty="0"/>
          </a:p>
        </p:txBody>
      </p:sp>
      <p:sp>
        <p:nvSpPr>
          <p:cNvPr id="12" name="Text 10"/>
          <p:cNvSpPr/>
          <p:nvPr/>
        </p:nvSpPr>
        <p:spPr>
          <a:xfrm>
            <a:off x="868680" y="1856232"/>
            <a:ext cx="4389120" cy="256032"/>
          </a:xfrm>
          <a:prstGeom prst="rect">
            <a:avLst/>
          </a:prstGeom>
          <a:noFill/>
          <a:ln/>
        </p:spPr>
        <p:txBody>
          <a:bodyPr wrap="square" lIns="0" tIns="0" rIns="0" bIns="0" rtlCol="0" anchor="b"/>
          <a:lstStyle/>
          <a:p>
            <a:pPr marL="0" indent="0">
              <a:buNone/>
            </a:pPr>
            <a:r>
              <a:rPr lang="en-US" sz="1300" b="1" dirty="0">
                <a:solidFill>
                  <a:srgbClr val="FFFFFF"/>
                </a:solidFill>
              </a:rPr>
              <a:t>Origins of Machine Learning</a:t>
            </a:r>
            <a:endParaRPr lang="en-US" sz="1300" dirty="0"/>
          </a:p>
        </p:txBody>
      </p:sp>
      <p:sp>
        <p:nvSpPr>
          <p:cNvPr id="13" name="Text 11"/>
          <p:cNvSpPr/>
          <p:nvPr/>
        </p:nvSpPr>
        <p:spPr>
          <a:xfrm>
            <a:off x="868680" y="2075688"/>
            <a:ext cx="4389120" cy="182880"/>
          </a:xfrm>
          <a:prstGeom prst="rect">
            <a:avLst/>
          </a:prstGeom>
          <a:noFill/>
          <a:ln/>
        </p:spPr>
        <p:txBody>
          <a:bodyPr wrap="square" lIns="0" tIns="0" rIns="0" bIns="0" rtlCol="0" anchor="t"/>
          <a:lstStyle/>
          <a:p>
            <a:pPr marL="0" indent="0">
              <a:buNone/>
            </a:pPr>
            <a:r>
              <a:rPr lang="en-US" sz="950" dirty="0">
                <a:solidFill>
                  <a:srgbClr val="94A3B8"/>
                </a:solidFill>
              </a:rPr>
              <a:t>Historical milestones and pioneering work</a:t>
            </a:r>
            <a:endParaRPr lang="en-US" sz="950" dirty="0"/>
          </a:p>
        </p:txBody>
      </p:sp>
      <p:sp>
        <p:nvSpPr>
          <p:cNvPr id="14" name="Shape 12"/>
          <p:cNvSpPr/>
          <p:nvPr/>
        </p:nvSpPr>
        <p:spPr>
          <a:xfrm>
            <a:off x="8229600" y="1911096"/>
            <a:ext cx="548640" cy="274320"/>
          </a:xfrm>
          <a:prstGeom prst="rect">
            <a:avLst/>
          </a:prstGeom>
          <a:solidFill>
            <a:srgbClr val="6366F1">
              <a:alpha val="30000"/>
            </a:srgbClr>
          </a:solidFill>
          <a:ln w="12700">
            <a:solidFill>
              <a:srgbClr val="6366F1"/>
            </a:solidFill>
            <a:prstDash val="solid"/>
          </a:ln>
        </p:spPr>
      </p:sp>
      <p:sp>
        <p:nvSpPr>
          <p:cNvPr id="15" name="Shape 13"/>
          <p:cNvSpPr/>
          <p:nvPr/>
        </p:nvSpPr>
        <p:spPr>
          <a:xfrm>
            <a:off x="274320" y="2313432"/>
            <a:ext cx="8595360" cy="457200"/>
          </a:xfrm>
          <a:prstGeom prst="rect">
            <a:avLst/>
          </a:prstGeom>
          <a:solidFill>
            <a:srgbClr val="1A2235"/>
          </a:solidFill>
          <a:ln w="12700">
            <a:solidFill>
              <a:srgbClr val="1A2235"/>
            </a:solidFill>
            <a:prstDash val="solid"/>
          </a:ln>
        </p:spPr>
      </p:sp>
      <p:sp>
        <p:nvSpPr>
          <p:cNvPr id="16" name="Text 14"/>
          <p:cNvSpPr/>
          <p:nvPr/>
        </p:nvSpPr>
        <p:spPr>
          <a:xfrm>
            <a:off x="320040" y="2313432"/>
            <a:ext cx="502920" cy="457200"/>
          </a:xfrm>
          <a:prstGeom prst="rect">
            <a:avLst/>
          </a:prstGeom>
          <a:noFill/>
          <a:ln/>
        </p:spPr>
        <p:txBody>
          <a:bodyPr wrap="square" lIns="0" tIns="0" rIns="0" bIns="0" rtlCol="0" anchor="ctr"/>
          <a:lstStyle/>
          <a:p>
            <a:pPr marL="0" indent="0" algn="ctr">
              <a:buNone/>
            </a:pPr>
            <a:r>
              <a:rPr lang="en-US" sz="1600" b="1" dirty="0">
                <a:solidFill>
                  <a:srgbClr val="6366F1"/>
                </a:solidFill>
              </a:rPr>
              <a:t>03</a:t>
            </a:r>
            <a:endParaRPr lang="en-US" sz="1600" dirty="0"/>
          </a:p>
        </p:txBody>
      </p:sp>
      <p:sp>
        <p:nvSpPr>
          <p:cNvPr id="17" name="Text 15"/>
          <p:cNvSpPr/>
          <p:nvPr/>
        </p:nvSpPr>
        <p:spPr>
          <a:xfrm>
            <a:off x="868680" y="2350008"/>
            <a:ext cx="4389120" cy="256032"/>
          </a:xfrm>
          <a:prstGeom prst="rect">
            <a:avLst/>
          </a:prstGeom>
          <a:noFill/>
          <a:ln/>
        </p:spPr>
        <p:txBody>
          <a:bodyPr wrap="square" lIns="0" tIns="0" rIns="0" bIns="0" rtlCol="0" anchor="b"/>
          <a:lstStyle/>
          <a:p>
            <a:pPr marL="0" indent="0">
              <a:buNone/>
            </a:pPr>
            <a:r>
              <a:rPr lang="en-US" sz="1300" b="1" dirty="0">
                <a:solidFill>
                  <a:srgbClr val="FFFFFF"/>
                </a:solidFill>
              </a:rPr>
              <a:t>Uses of Machine Learning</a:t>
            </a:r>
            <a:endParaRPr lang="en-US" sz="1300" dirty="0"/>
          </a:p>
        </p:txBody>
      </p:sp>
      <p:sp>
        <p:nvSpPr>
          <p:cNvPr id="18" name="Text 16"/>
          <p:cNvSpPr/>
          <p:nvPr/>
        </p:nvSpPr>
        <p:spPr>
          <a:xfrm>
            <a:off x="868680" y="2569464"/>
            <a:ext cx="4389120" cy="182880"/>
          </a:xfrm>
          <a:prstGeom prst="rect">
            <a:avLst/>
          </a:prstGeom>
          <a:noFill/>
          <a:ln/>
        </p:spPr>
        <p:txBody>
          <a:bodyPr wrap="square" lIns="0" tIns="0" rIns="0" bIns="0" rtlCol="0" anchor="t"/>
          <a:lstStyle/>
          <a:p>
            <a:pPr marL="0" indent="0">
              <a:buNone/>
            </a:pPr>
            <a:r>
              <a:rPr lang="en-US" sz="950" dirty="0">
                <a:solidFill>
                  <a:srgbClr val="94A3B8"/>
                </a:solidFill>
              </a:rPr>
              <a:t>Real-world applications across industries</a:t>
            </a:r>
            <a:endParaRPr lang="en-US" sz="950" dirty="0"/>
          </a:p>
        </p:txBody>
      </p:sp>
      <p:sp>
        <p:nvSpPr>
          <p:cNvPr id="19" name="Shape 17"/>
          <p:cNvSpPr/>
          <p:nvPr/>
        </p:nvSpPr>
        <p:spPr>
          <a:xfrm>
            <a:off x="8229600" y="2404872"/>
            <a:ext cx="548640" cy="274320"/>
          </a:xfrm>
          <a:prstGeom prst="rect">
            <a:avLst/>
          </a:prstGeom>
          <a:solidFill>
            <a:srgbClr val="6366F1">
              <a:alpha val="30000"/>
            </a:srgbClr>
          </a:solidFill>
          <a:ln w="12700">
            <a:solidFill>
              <a:srgbClr val="6366F1"/>
            </a:solidFill>
            <a:prstDash val="solid"/>
          </a:ln>
        </p:spPr>
      </p:sp>
      <p:sp>
        <p:nvSpPr>
          <p:cNvPr id="20" name="Shape 18"/>
          <p:cNvSpPr/>
          <p:nvPr/>
        </p:nvSpPr>
        <p:spPr>
          <a:xfrm>
            <a:off x="274320" y="2807208"/>
            <a:ext cx="8595360" cy="457200"/>
          </a:xfrm>
          <a:prstGeom prst="rect">
            <a:avLst/>
          </a:prstGeom>
          <a:solidFill>
            <a:srgbClr val="111827"/>
          </a:solidFill>
          <a:ln w="12700">
            <a:solidFill>
              <a:srgbClr val="111827"/>
            </a:solidFill>
            <a:prstDash val="solid"/>
          </a:ln>
        </p:spPr>
      </p:sp>
      <p:sp>
        <p:nvSpPr>
          <p:cNvPr id="21" name="Text 19"/>
          <p:cNvSpPr/>
          <p:nvPr/>
        </p:nvSpPr>
        <p:spPr>
          <a:xfrm>
            <a:off x="320040" y="2807208"/>
            <a:ext cx="502920" cy="457200"/>
          </a:xfrm>
          <a:prstGeom prst="rect">
            <a:avLst/>
          </a:prstGeom>
          <a:noFill/>
          <a:ln/>
        </p:spPr>
        <p:txBody>
          <a:bodyPr wrap="square" lIns="0" tIns="0" rIns="0" bIns="0" rtlCol="0" anchor="ctr"/>
          <a:lstStyle/>
          <a:p>
            <a:pPr marL="0" indent="0" algn="ctr">
              <a:buNone/>
            </a:pPr>
            <a:r>
              <a:rPr lang="en-US" sz="1600" b="1" dirty="0">
                <a:solidFill>
                  <a:srgbClr val="6366F1"/>
                </a:solidFill>
              </a:rPr>
              <a:t>04</a:t>
            </a:r>
            <a:endParaRPr lang="en-US" sz="1600" dirty="0"/>
          </a:p>
        </p:txBody>
      </p:sp>
      <p:sp>
        <p:nvSpPr>
          <p:cNvPr id="22" name="Text 20"/>
          <p:cNvSpPr/>
          <p:nvPr/>
        </p:nvSpPr>
        <p:spPr>
          <a:xfrm>
            <a:off x="868680" y="2843784"/>
            <a:ext cx="4389120" cy="256032"/>
          </a:xfrm>
          <a:prstGeom prst="rect">
            <a:avLst/>
          </a:prstGeom>
          <a:noFill/>
          <a:ln/>
        </p:spPr>
        <p:txBody>
          <a:bodyPr wrap="square" lIns="0" tIns="0" rIns="0" bIns="0" rtlCol="0" anchor="b"/>
          <a:lstStyle/>
          <a:p>
            <a:pPr marL="0" indent="0">
              <a:buNone/>
            </a:pPr>
            <a:r>
              <a:rPr lang="en-US" sz="1300" b="1" dirty="0">
                <a:solidFill>
                  <a:srgbClr val="FFFFFF"/>
                </a:solidFill>
              </a:rPr>
              <a:t>How Do Machines Learn?</a:t>
            </a:r>
            <a:endParaRPr lang="en-US" sz="1300" dirty="0"/>
          </a:p>
        </p:txBody>
      </p:sp>
      <p:sp>
        <p:nvSpPr>
          <p:cNvPr id="23" name="Text 21"/>
          <p:cNvSpPr/>
          <p:nvPr/>
        </p:nvSpPr>
        <p:spPr>
          <a:xfrm>
            <a:off x="868680" y="3063240"/>
            <a:ext cx="4389120" cy="182880"/>
          </a:xfrm>
          <a:prstGeom prst="rect">
            <a:avLst/>
          </a:prstGeom>
          <a:noFill/>
          <a:ln/>
        </p:spPr>
        <p:txBody>
          <a:bodyPr wrap="square" lIns="0" tIns="0" rIns="0" bIns="0" rtlCol="0" anchor="t"/>
          <a:lstStyle/>
          <a:p>
            <a:pPr marL="0" indent="0">
              <a:buNone/>
            </a:pPr>
            <a:r>
              <a:rPr lang="en-US" sz="950" dirty="0">
                <a:solidFill>
                  <a:srgbClr val="94A3B8"/>
                </a:solidFill>
              </a:rPr>
              <a:t>Core learning paradigms and algorithms</a:t>
            </a:r>
            <a:endParaRPr lang="en-US" sz="950" dirty="0"/>
          </a:p>
        </p:txBody>
      </p:sp>
      <p:sp>
        <p:nvSpPr>
          <p:cNvPr id="24" name="Shape 22"/>
          <p:cNvSpPr/>
          <p:nvPr/>
        </p:nvSpPr>
        <p:spPr>
          <a:xfrm>
            <a:off x="8229600" y="2898648"/>
            <a:ext cx="548640" cy="274320"/>
          </a:xfrm>
          <a:prstGeom prst="rect">
            <a:avLst/>
          </a:prstGeom>
          <a:solidFill>
            <a:srgbClr val="6366F1">
              <a:alpha val="30000"/>
            </a:srgbClr>
          </a:solidFill>
          <a:ln w="12700">
            <a:solidFill>
              <a:srgbClr val="6366F1"/>
            </a:solidFill>
            <a:prstDash val="solid"/>
          </a:ln>
        </p:spPr>
      </p:sp>
      <p:sp>
        <p:nvSpPr>
          <p:cNvPr id="25" name="Shape 23"/>
          <p:cNvSpPr/>
          <p:nvPr/>
        </p:nvSpPr>
        <p:spPr>
          <a:xfrm>
            <a:off x="274320" y="3300984"/>
            <a:ext cx="8595360" cy="457200"/>
          </a:xfrm>
          <a:prstGeom prst="rect">
            <a:avLst/>
          </a:prstGeom>
          <a:solidFill>
            <a:srgbClr val="1A2235"/>
          </a:solidFill>
          <a:ln w="12700">
            <a:solidFill>
              <a:srgbClr val="1A2235"/>
            </a:solidFill>
            <a:prstDash val="solid"/>
          </a:ln>
        </p:spPr>
      </p:sp>
      <p:sp>
        <p:nvSpPr>
          <p:cNvPr id="26" name="Text 24"/>
          <p:cNvSpPr/>
          <p:nvPr/>
        </p:nvSpPr>
        <p:spPr>
          <a:xfrm>
            <a:off x="320040" y="3300984"/>
            <a:ext cx="502920" cy="457200"/>
          </a:xfrm>
          <a:prstGeom prst="rect">
            <a:avLst/>
          </a:prstGeom>
          <a:noFill/>
          <a:ln/>
        </p:spPr>
        <p:txBody>
          <a:bodyPr wrap="square" lIns="0" tIns="0" rIns="0" bIns="0" rtlCol="0" anchor="ctr"/>
          <a:lstStyle/>
          <a:p>
            <a:pPr marL="0" indent="0" algn="ctr">
              <a:buNone/>
            </a:pPr>
            <a:r>
              <a:rPr lang="en-US" sz="1600" b="1" dirty="0">
                <a:solidFill>
                  <a:srgbClr val="6366F1"/>
                </a:solidFill>
              </a:rPr>
              <a:t>05</a:t>
            </a:r>
            <a:endParaRPr lang="en-US" sz="1600" dirty="0"/>
          </a:p>
        </p:txBody>
      </p:sp>
      <p:sp>
        <p:nvSpPr>
          <p:cNvPr id="27" name="Text 25"/>
          <p:cNvSpPr/>
          <p:nvPr/>
        </p:nvSpPr>
        <p:spPr>
          <a:xfrm>
            <a:off x="868680" y="3337560"/>
            <a:ext cx="4389120" cy="256032"/>
          </a:xfrm>
          <a:prstGeom prst="rect">
            <a:avLst/>
          </a:prstGeom>
          <a:noFill/>
          <a:ln/>
        </p:spPr>
        <p:txBody>
          <a:bodyPr wrap="square" lIns="0" tIns="0" rIns="0" bIns="0" rtlCol="0" anchor="b"/>
          <a:lstStyle/>
          <a:p>
            <a:pPr marL="0" indent="0">
              <a:buNone/>
            </a:pPr>
            <a:r>
              <a:rPr lang="en-US" sz="1300" b="1" dirty="0">
                <a:solidFill>
                  <a:srgbClr val="FFFFFF"/>
                </a:solidFill>
              </a:rPr>
              <a:t>Abstraction &amp; Knowledge Representation</a:t>
            </a:r>
            <a:endParaRPr lang="en-US" sz="1300" dirty="0"/>
          </a:p>
        </p:txBody>
      </p:sp>
      <p:sp>
        <p:nvSpPr>
          <p:cNvPr id="28" name="Text 26"/>
          <p:cNvSpPr/>
          <p:nvPr/>
        </p:nvSpPr>
        <p:spPr>
          <a:xfrm>
            <a:off x="868680" y="3557016"/>
            <a:ext cx="4389120" cy="182880"/>
          </a:xfrm>
          <a:prstGeom prst="rect">
            <a:avLst/>
          </a:prstGeom>
          <a:noFill/>
          <a:ln/>
        </p:spPr>
        <p:txBody>
          <a:bodyPr wrap="square" lIns="0" tIns="0" rIns="0" bIns="0" rtlCol="0" anchor="t"/>
          <a:lstStyle/>
          <a:p>
            <a:pPr marL="0" indent="0">
              <a:buNone/>
            </a:pPr>
            <a:r>
              <a:rPr lang="en-US" sz="950" dirty="0">
                <a:solidFill>
                  <a:srgbClr val="94A3B8"/>
                </a:solidFill>
              </a:rPr>
              <a:t>How ML models internalize the world</a:t>
            </a:r>
            <a:endParaRPr lang="en-US" sz="950" dirty="0"/>
          </a:p>
        </p:txBody>
      </p:sp>
      <p:sp>
        <p:nvSpPr>
          <p:cNvPr id="29" name="Shape 27"/>
          <p:cNvSpPr/>
          <p:nvPr/>
        </p:nvSpPr>
        <p:spPr>
          <a:xfrm>
            <a:off x="8229600" y="3392424"/>
            <a:ext cx="548640" cy="274320"/>
          </a:xfrm>
          <a:prstGeom prst="rect">
            <a:avLst/>
          </a:prstGeom>
          <a:solidFill>
            <a:srgbClr val="6366F1">
              <a:alpha val="30000"/>
            </a:srgbClr>
          </a:solidFill>
          <a:ln w="12700">
            <a:solidFill>
              <a:srgbClr val="6366F1"/>
            </a:solidFill>
            <a:prstDash val="solid"/>
          </a:ln>
        </p:spPr>
      </p:sp>
      <p:sp>
        <p:nvSpPr>
          <p:cNvPr id="30" name="Shape 28"/>
          <p:cNvSpPr/>
          <p:nvPr/>
        </p:nvSpPr>
        <p:spPr>
          <a:xfrm>
            <a:off x="274320" y="3794760"/>
            <a:ext cx="8595360" cy="457200"/>
          </a:xfrm>
          <a:prstGeom prst="rect">
            <a:avLst/>
          </a:prstGeom>
          <a:solidFill>
            <a:srgbClr val="111827"/>
          </a:solidFill>
          <a:ln w="12700">
            <a:solidFill>
              <a:srgbClr val="111827"/>
            </a:solidFill>
            <a:prstDash val="solid"/>
          </a:ln>
        </p:spPr>
      </p:sp>
      <p:sp>
        <p:nvSpPr>
          <p:cNvPr id="31" name="Text 29"/>
          <p:cNvSpPr/>
          <p:nvPr/>
        </p:nvSpPr>
        <p:spPr>
          <a:xfrm>
            <a:off x="320040" y="3794760"/>
            <a:ext cx="502920" cy="457200"/>
          </a:xfrm>
          <a:prstGeom prst="rect">
            <a:avLst/>
          </a:prstGeom>
          <a:noFill/>
          <a:ln/>
        </p:spPr>
        <p:txBody>
          <a:bodyPr wrap="square" lIns="0" tIns="0" rIns="0" bIns="0" rtlCol="0" anchor="ctr"/>
          <a:lstStyle/>
          <a:p>
            <a:pPr marL="0" indent="0" algn="ctr">
              <a:buNone/>
            </a:pPr>
            <a:r>
              <a:rPr lang="en-US" sz="1600" b="1" dirty="0">
                <a:solidFill>
                  <a:srgbClr val="6366F1"/>
                </a:solidFill>
              </a:rPr>
              <a:t>06</a:t>
            </a:r>
            <a:endParaRPr lang="en-US" sz="1600" dirty="0"/>
          </a:p>
        </p:txBody>
      </p:sp>
      <p:sp>
        <p:nvSpPr>
          <p:cNvPr id="32" name="Text 30"/>
          <p:cNvSpPr/>
          <p:nvPr/>
        </p:nvSpPr>
        <p:spPr>
          <a:xfrm>
            <a:off x="868680" y="3831336"/>
            <a:ext cx="4389120" cy="256032"/>
          </a:xfrm>
          <a:prstGeom prst="rect">
            <a:avLst/>
          </a:prstGeom>
          <a:noFill/>
          <a:ln/>
        </p:spPr>
        <p:txBody>
          <a:bodyPr wrap="square" lIns="0" tIns="0" rIns="0" bIns="0" rtlCol="0" anchor="b"/>
          <a:lstStyle/>
          <a:p>
            <a:pPr marL="0" indent="0">
              <a:buNone/>
            </a:pPr>
            <a:r>
              <a:rPr lang="en-US" sz="1300" b="1" dirty="0">
                <a:solidFill>
                  <a:srgbClr val="FFFFFF"/>
                </a:solidFill>
              </a:rPr>
              <a:t>Generalization</a:t>
            </a:r>
            <a:endParaRPr lang="en-US" sz="1300" dirty="0"/>
          </a:p>
        </p:txBody>
      </p:sp>
      <p:sp>
        <p:nvSpPr>
          <p:cNvPr id="33" name="Text 31"/>
          <p:cNvSpPr/>
          <p:nvPr/>
        </p:nvSpPr>
        <p:spPr>
          <a:xfrm>
            <a:off x="868680" y="4050792"/>
            <a:ext cx="4389120" cy="182880"/>
          </a:xfrm>
          <a:prstGeom prst="rect">
            <a:avLst/>
          </a:prstGeom>
          <a:noFill/>
          <a:ln/>
        </p:spPr>
        <p:txBody>
          <a:bodyPr wrap="square" lIns="0" tIns="0" rIns="0" bIns="0" rtlCol="0" anchor="t"/>
          <a:lstStyle/>
          <a:p>
            <a:pPr marL="0" indent="0">
              <a:buNone/>
            </a:pPr>
            <a:r>
              <a:rPr lang="en-US" sz="950" dirty="0">
                <a:solidFill>
                  <a:srgbClr val="94A3B8"/>
                </a:solidFill>
              </a:rPr>
              <a:t>Learning patterns beyond training data</a:t>
            </a:r>
            <a:endParaRPr lang="en-US" sz="950" dirty="0"/>
          </a:p>
        </p:txBody>
      </p:sp>
      <p:sp>
        <p:nvSpPr>
          <p:cNvPr id="34" name="Shape 32"/>
          <p:cNvSpPr/>
          <p:nvPr/>
        </p:nvSpPr>
        <p:spPr>
          <a:xfrm>
            <a:off x="8229600" y="3886200"/>
            <a:ext cx="548640" cy="274320"/>
          </a:xfrm>
          <a:prstGeom prst="rect">
            <a:avLst/>
          </a:prstGeom>
          <a:solidFill>
            <a:srgbClr val="6366F1">
              <a:alpha val="30000"/>
            </a:srgbClr>
          </a:solidFill>
          <a:ln w="12700">
            <a:solidFill>
              <a:srgbClr val="6366F1"/>
            </a:solidFill>
            <a:prstDash val="solid"/>
          </a:ln>
        </p:spPr>
      </p:sp>
      <p:sp>
        <p:nvSpPr>
          <p:cNvPr id="35" name="Shape 33"/>
          <p:cNvSpPr/>
          <p:nvPr/>
        </p:nvSpPr>
        <p:spPr>
          <a:xfrm>
            <a:off x="274320" y="4288536"/>
            <a:ext cx="8595360" cy="457200"/>
          </a:xfrm>
          <a:prstGeom prst="rect">
            <a:avLst/>
          </a:prstGeom>
          <a:solidFill>
            <a:srgbClr val="1A2235"/>
          </a:solidFill>
          <a:ln w="12700">
            <a:solidFill>
              <a:srgbClr val="1A2235"/>
            </a:solidFill>
            <a:prstDash val="solid"/>
          </a:ln>
        </p:spPr>
      </p:sp>
      <p:sp>
        <p:nvSpPr>
          <p:cNvPr id="36" name="Text 34"/>
          <p:cNvSpPr/>
          <p:nvPr/>
        </p:nvSpPr>
        <p:spPr>
          <a:xfrm>
            <a:off x="320040" y="4288536"/>
            <a:ext cx="502920" cy="457200"/>
          </a:xfrm>
          <a:prstGeom prst="rect">
            <a:avLst/>
          </a:prstGeom>
          <a:noFill/>
          <a:ln/>
        </p:spPr>
        <p:txBody>
          <a:bodyPr wrap="square" lIns="0" tIns="0" rIns="0" bIns="0" rtlCol="0" anchor="ctr"/>
          <a:lstStyle/>
          <a:p>
            <a:pPr marL="0" indent="0" algn="ctr">
              <a:buNone/>
            </a:pPr>
            <a:r>
              <a:rPr lang="en-US" sz="1600" b="1" dirty="0">
                <a:solidFill>
                  <a:srgbClr val="6366F1"/>
                </a:solidFill>
              </a:rPr>
              <a:t>07</a:t>
            </a:r>
            <a:endParaRPr lang="en-US" sz="1600" dirty="0"/>
          </a:p>
        </p:txBody>
      </p:sp>
      <p:sp>
        <p:nvSpPr>
          <p:cNvPr id="37" name="Text 35"/>
          <p:cNvSpPr/>
          <p:nvPr/>
        </p:nvSpPr>
        <p:spPr>
          <a:xfrm>
            <a:off x="868680" y="4325112"/>
            <a:ext cx="4389120" cy="256032"/>
          </a:xfrm>
          <a:prstGeom prst="rect">
            <a:avLst/>
          </a:prstGeom>
          <a:noFill/>
          <a:ln/>
        </p:spPr>
        <p:txBody>
          <a:bodyPr wrap="square" lIns="0" tIns="0" rIns="0" bIns="0" rtlCol="0" anchor="b"/>
          <a:lstStyle/>
          <a:p>
            <a:pPr marL="0" indent="0">
              <a:buNone/>
            </a:pPr>
            <a:r>
              <a:rPr lang="en-US" sz="1300" b="1" dirty="0">
                <a:solidFill>
                  <a:srgbClr val="FFFFFF"/>
                </a:solidFill>
              </a:rPr>
              <a:t>Assessing the Success of Learning</a:t>
            </a:r>
            <a:endParaRPr lang="en-US" sz="1300" dirty="0"/>
          </a:p>
        </p:txBody>
      </p:sp>
      <p:sp>
        <p:nvSpPr>
          <p:cNvPr id="38" name="Text 36"/>
          <p:cNvSpPr/>
          <p:nvPr/>
        </p:nvSpPr>
        <p:spPr>
          <a:xfrm>
            <a:off x="868680" y="4544568"/>
            <a:ext cx="4389120" cy="182880"/>
          </a:xfrm>
          <a:prstGeom prst="rect">
            <a:avLst/>
          </a:prstGeom>
          <a:noFill/>
          <a:ln/>
        </p:spPr>
        <p:txBody>
          <a:bodyPr wrap="square" lIns="0" tIns="0" rIns="0" bIns="0" rtlCol="0" anchor="t"/>
          <a:lstStyle/>
          <a:p>
            <a:pPr marL="0" indent="0">
              <a:buNone/>
            </a:pPr>
            <a:r>
              <a:rPr lang="en-US" sz="950" dirty="0">
                <a:solidFill>
                  <a:srgbClr val="94A3B8"/>
                </a:solidFill>
              </a:rPr>
              <a:t>Metrics, evaluation, and model performance</a:t>
            </a:r>
            <a:endParaRPr lang="en-US" sz="950" dirty="0"/>
          </a:p>
        </p:txBody>
      </p:sp>
      <p:sp>
        <p:nvSpPr>
          <p:cNvPr id="39" name="Shape 37"/>
          <p:cNvSpPr/>
          <p:nvPr/>
        </p:nvSpPr>
        <p:spPr>
          <a:xfrm>
            <a:off x="8229600" y="4379976"/>
            <a:ext cx="548640" cy="274320"/>
          </a:xfrm>
          <a:prstGeom prst="rect">
            <a:avLst/>
          </a:prstGeom>
          <a:solidFill>
            <a:srgbClr val="6366F1">
              <a:alpha val="30000"/>
            </a:srgbClr>
          </a:solidFill>
          <a:ln w="12700">
            <a:solidFill>
              <a:srgbClr val="6366F1"/>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A40"/>
          </a:solidFill>
          <a:ln w="12700">
            <a:solidFill>
              <a:srgbClr val="1E2A40"/>
            </a:solidFill>
            <a:prstDash val="solid"/>
          </a:ln>
        </p:spPr>
      </p:sp>
      <p:sp>
        <p:nvSpPr>
          <p:cNvPr id="3" name="Shape 1"/>
          <p:cNvSpPr/>
          <p:nvPr/>
        </p:nvSpPr>
        <p:spPr>
          <a:xfrm>
            <a:off x="0" y="0"/>
            <a:ext cx="54864" cy="1005840"/>
          </a:xfrm>
          <a:prstGeom prst="rect">
            <a:avLst/>
          </a:prstGeom>
          <a:solidFill>
            <a:srgbClr val="6366F1"/>
          </a:solidFill>
          <a:ln w="12700">
            <a:solidFill>
              <a:srgbClr val="6366F1"/>
            </a:solidFill>
            <a:prstDash val="solid"/>
          </a:ln>
        </p:spPr>
      </p:sp>
      <p:sp>
        <p:nvSpPr>
          <p:cNvPr id="4" name="Text 2"/>
          <p:cNvSpPr/>
          <p:nvPr/>
        </p:nvSpPr>
        <p:spPr>
          <a:xfrm>
            <a:off x="137160" y="0"/>
            <a:ext cx="731520" cy="1005840"/>
          </a:xfrm>
          <a:prstGeom prst="rect">
            <a:avLst/>
          </a:prstGeom>
          <a:noFill/>
          <a:ln/>
        </p:spPr>
        <p:txBody>
          <a:bodyPr wrap="square" lIns="0" tIns="0" rIns="0" bIns="0" rtlCol="0" anchor="ctr"/>
          <a:lstStyle/>
          <a:p>
            <a:pPr marL="0" indent="0">
              <a:buNone/>
            </a:pPr>
            <a:r>
              <a:rPr lang="en-US" sz="3800" b="1" dirty="0">
                <a:solidFill>
                  <a:srgbClr val="6366F1"/>
                </a:solidFill>
              </a:rPr>
              <a:t>01</a:t>
            </a:r>
            <a:endParaRPr lang="en-US" sz="3800" dirty="0"/>
          </a:p>
        </p:txBody>
      </p:sp>
      <p:sp>
        <p:nvSpPr>
          <p:cNvPr id="5" name="Text 3"/>
          <p:cNvSpPr/>
          <p:nvPr/>
        </p:nvSpPr>
        <p:spPr>
          <a:xfrm>
            <a:off x="1005840" y="0"/>
            <a:ext cx="7772400" cy="10058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Introducing Machine Learning</a:t>
            </a:r>
            <a:endParaRPr lang="en-US" sz="3000" dirty="0"/>
          </a:p>
        </p:txBody>
      </p:sp>
      <p:sp>
        <p:nvSpPr>
          <p:cNvPr id="6" name="Shape 4"/>
          <p:cNvSpPr/>
          <p:nvPr/>
        </p:nvSpPr>
        <p:spPr>
          <a:xfrm>
            <a:off x="274320" y="1143000"/>
            <a:ext cx="8595360" cy="1051560"/>
          </a:xfrm>
          <a:prstGeom prst="rect">
            <a:avLst/>
          </a:prstGeom>
          <a:solidFill>
            <a:srgbClr val="1A2235"/>
          </a:solidFill>
          <a:ln w="19050">
            <a:solidFill>
              <a:srgbClr val="6366F1"/>
            </a:solidFill>
            <a:prstDash val="solid"/>
          </a:ln>
        </p:spPr>
      </p:sp>
      <p:sp>
        <p:nvSpPr>
          <p:cNvPr id="7" name="Text 5"/>
          <p:cNvSpPr/>
          <p:nvPr/>
        </p:nvSpPr>
        <p:spPr>
          <a:xfrm>
            <a:off x="457200" y="1188720"/>
            <a:ext cx="8229600" cy="960120"/>
          </a:xfrm>
          <a:prstGeom prst="rect">
            <a:avLst/>
          </a:prstGeom>
          <a:noFill/>
          <a:ln/>
        </p:spPr>
        <p:txBody>
          <a:bodyPr wrap="square" rtlCol="0" anchor="ctr"/>
          <a:lstStyle/>
          <a:p>
            <a:pPr marL="0" indent="0">
              <a:buNone/>
            </a:pPr>
            <a:r>
              <a:rPr lang="en-US" sz="1300" b="1" dirty="0">
                <a:solidFill>
                  <a:srgbClr val="6366F1"/>
                </a:solidFill>
              </a:rPr>
              <a:t>Definition: </a:t>
            </a:r>
            <a:r>
              <a:rPr lang="en-US" sz="1300" dirty="0">
                <a:solidFill>
                  <a:srgbClr val="CBD5E1"/>
                </a:solidFill>
              </a:rPr>
              <a:t>Machine Learning (ML) is a branch of artificial intelligence that enables systems to learn and improve from experience without being explicitly programmed. It focuses on developing computer programs that can access data and use it to learn for themselves.</a:t>
            </a:r>
            <a:endParaRPr lang="en-US" sz="1300" dirty="0"/>
          </a:p>
        </p:txBody>
      </p:sp>
      <p:sp>
        <p:nvSpPr>
          <p:cNvPr id="8" name="Shape 6"/>
          <p:cNvSpPr/>
          <p:nvPr/>
        </p:nvSpPr>
        <p:spPr>
          <a:xfrm>
            <a:off x="274320" y="2331720"/>
            <a:ext cx="2743200" cy="2514600"/>
          </a:xfrm>
          <a:prstGeom prst="rect">
            <a:avLst/>
          </a:prstGeom>
          <a:solidFill>
            <a:srgbClr val="1A2235"/>
          </a:solidFill>
          <a:ln w="12700">
            <a:solidFill>
              <a:srgbClr val="8B5CF6"/>
            </a:solidFill>
            <a:prstDash val="solid"/>
          </a:ln>
        </p:spPr>
      </p:sp>
      <p:sp>
        <p:nvSpPr>
          <p:cNvPr id="9" name="Shape 7"/>
          <p:cNvSpPr/>
          <p:nvPr/>
        </p:nvSpPr>
        <p:spPr>
          <a:xfrm>
            <a:off x="274320" y="2331720"/>
            <a:ext cx="2743200" cy="73152"/>
          </a:xfrm>
          <a:prstGeom prst="rect">
            <a:avLst/>
          </a:prstGeom>
          <a:solidFill>
            <a:srgbClr val="8B5CF6"/>
          </a:solidFill>
          <a:ln w="12700">
            <a:solidFill>
              <a:srgbClr val="8B5CF6"/>
            </a:solidFill>
            <a:prstDash val="solid"/>
          </a:ln>
        </p:spPr>
      </p:sp>
      <p:sp>
        <p:nvSpPr>
          <p:cNvPr id="10" name="Text 8"/>
          <p:cNvSpPr/>
          <p:nvPr/>
        </p:nvSpPr>
        <p:spPr>
          <a:xfrm>
            <a:off x="411480" y="2450592"/>
            <a:ext cx="2468880" cy="347472"/>
          </a:xfrm>
          <a:prstGeom prst="rect">
            <a:avLst/>
          </a:prstGeom>
          <a:noFill/>
          <a:ln/>
        </p:spPr>
        <p:txBody>
          <a:bodyPr wrap="square" lIns="0" tIns="0" rIns="0" bIns="0" rtlCol="0" anchor="ctr"/>
          <a:lstStyle/>
          <a:p>
            <a:pPr marL="0" indent="0">
              <a:buNone/>
            </a:pPr>
            <a:r>
              <a:rPr lang="en-US" sz="1400" b="1" dirty="0">
                <a:solidFill>
                  <a:srgbClr val="FFFFFF"/>
                </a:solidFill>
              </a:rPr>
              <a:t>Data-Driven</a:t>
            </a:r>
            <a:endParaRPr lang="en-US" sz="1400" dirty="0"/>
          </a:p>
        </p:txBody>
      </p:sp>
      <p:sp>
        <p:nvSpPr>
          <p:cNvPr id="11" name="Text 9"/>
          <p:cNvSpPr/>
          <p:nvPr/>
        </p:nvSpPr>
        <p:spPr>
          <a:xfrm>
            <a:off x="411480" y="2834640"/>
            <a:ext cx="2468880" cy="1874520"/>
          </a:xfrm>
          <a:prstGeom prst="rect">
            <a:avLst/>
          </a:prstGeom>
          <a:noFill/>
          <a:ln/>
        </p:spPr>
        <p:txBody>
          <a:bodyPr wrap="square" lIns="0" tIns="0" rIns="0" bIns="0" rtlCol="0" anchor="ctr"/>
          <a:lstStyle/>
          <a:p>
            <a:pPr marL="0" indent="0">
              <a:buNone/>
            </a:pPr>
            <a:r>
              <a:rPr lang="en-US" sz="1150" dirty="0">
                <a:solidFill>
                  <a:srgbClr val="CBD5E1"/>
                </a:solidFill>
              </a:rPr>
              <a:t>ML algorithms learn from historical data patterns rather than hard-coded rules. The quality and quantity of data directly determines model performance.</a:t>
            </a:r>
            <a:endParaRPr lang="en-US" sz="1150" dirty="0"/>
          </a:p>
        </p:txBody>
      </p:sp>
      <p:sp>
        <p:nvSpPr>
          <p:cNvPr id="12" name="Shape 10"/>
          <p:cNvSpPr/>
          <p:nvPr/>
        </p:nvSpPr>
        <p:spPr>
          <a:xfrm>
            <a:off x="3154680" y="2331720"/>
            <a:ext cx="2743200" cy="2514600"/>
          </a:xfrm>
          <a:prstGeom prst="rect">
            <a:avLst/>
          </a:prstGeom>
          <a:solidFill>
            <a:srgbClr val="1A2235"/>
          </a:solidFill>
          <a:ln w="12700">
            <a:solidFill>
              <a:srgbClr val="8B5CF6"/>
            </a:solidFill>
            <a:prstDash val="solid"/>
          </a:ln>
        </p:spPr>
      </p:sp>
      <p:sp>
        <p:nvSpPr>
          <p:cNvPr id="13" name="Shape 11"/>
          <p:cNvSpPr/>
          <p:nvPr/>
        </p:nvSpPr>
        <p:spPr>
          <a:xfrm>
            <a:off x="3154680" y="2331720"/>
            <a:ext cx="2743200" cy="73152"/>
          </a:xfrm>
          <a:prstGeom prst="rect">
            <a:avLst/>
          </a:prstGeom>
          <a:solidFill>
            <a:srgbClr val="8B5CF6"/>
          </a:solidFill>
          <a:ln w="12700">
            <a:solidFill>
              <a:srgbClr val="8B5CF6"/>
            </a:solidFill>
            <a:prstDash val="solid"/>
          </a:ln>
        </p:spPr>
      </p:sp>
      <p:sp>
        <p:nvSpPr>
          <p:cNvPr id="14" name="Text 12"/>
          <p:cNvSpPr/>
          <p:nvPr/>
        </p:nvSpPr>
        <p:spPr>
          <a:xfrm>
            <a:off x="3291840" y="2450592"/>
            <a:ext cx="2468880" cy="347472"/>
          </a:xfrm>
          <a:prstGeom prst="rect">
            <a:avLst/>
          </a:prstGeom>
          <a:noFill/>
          <a:ln/>
        </p:spPr>
        <p:txBody>
          <a:bodyPr wrap="square" lIns="0" tIns="0" rIns="0" bIns="0" rtlCol="0" anchor="ctr"/>
          <a:lstStyle/>
          <a:p>
            <a:pPr marL="0" indent="0">
              <a:buNone/>
            </a:pPr>
            <a:r>
              <a:rPr lang="en-US" sz="1400" b="1" dirty="0">
                <a:solidFill>
                  <a:srgbClr val="FFFFFF"/>
                </a:solidFill>
              </a:rPr>
              <a:t>Self-Improving</a:t>
            </a:r>
            <a:endParaRPr lang="en-US" sz="1400" dirty="0"/>
          </a:p>
        </p:txBody>
      </p:sp>
      <p:sp>
        <p:nvSpPr>
          <p:cNvPr id="15" name="Text 13"/>
          <p:cNvSpPr/>
          <p:nvPr/>
        </p:nvSpPr>
        <p:spPr>
          <a:xfrm>
            <a:off x="3291840" y="2834640"/>
            <a:ext cx="2468880" cy="1874520"/>
          </a:xfrm>
          <a:prstGeom prst="rect">
            <a:avLst/>
          </a:prstGeom>
          <a:noFill/>
          <a:ln/>
        </p:spPr>
        <p:txBody>
          <a:bodyPr wrap="square" lIns="0" tIns="0" rIns="0" bIns="0" rtlCol="0" anchor="ctr"/>
          <a:lstStyle/>
          <a:p>
            <a:pPr marL="0" indent="0">
              <a:buNone/>
            </a:pPr>
            <a:r>
              <a:rPr lang="en-US" sz="1150" dirty="0">
                <a:solidFill>
                  <a:srgbClr val="CBD5E1"/>
                </a:solidFill>
              </a:rPr>
              <a:t>Systems refine their accuracy as they are exposed to more data over time, continuously improving predictions and outcomes autonomously.</a:t>
            </a:r>
            <a:endParaRPr lang="en-US" sz="1150" dirty="0"/>
          </a:p>
        </p:txBody>
      </p:sp>
      <p:sp>
        <p:nvSpPr>
          <p:cNvPr id="16" name="Shape 14"/>
          <p:cNvSpPr/>
          <p:nvPr/>
        </p:nvSpPr>
        <p:spPr>
          <a:xfrm>
            <a:off x="6035040" y="2331720"/>
            <a:ext cx="2743200" cy="2514600"/>
          </a:xfrm>
          <a:prstGeom prst="rect">
            <a:avLst/>
          </a:prstGeom>
          <a:solidFill>
            <a:srgbClr val="1A2235"/>
          </a:solidFill>
          <a:ln w="12700">
            <a:solidFill>
              <a:srgbClr val="8B5CF6"/>
            </a:solidFill>
            <a:prstDash val="solid"/>
          </a:ln>
        </p:spPr>
      </p:sp>
      <p:sp>
        <p:nvSpPr>
          <p:cNvPr id="17" name="Shape 15"/>
          <p:cNvSpPr/>
          <p:nvPr/>
        </p:nvSpPr>
        <p:spPr>
          <a:xfrm>
            <a:off x="6035040" y="2331720"/>
            <a:ext cx="2743200" cy="73152"/>
          </a:xfrm>
          <a:prstGeom prst="rect">
            <a:avLst/>
          </a:prstGeom>
          <a:solidFill>
            <a:srgbClr val="8B5CF6"/>
          </a:solidFill>
          <a:ln w="12700">
            <a:solidFill>
              <a:srgbClr val="8B5CF6"/>
            </a:solidFill>
            <a:prstDash val="solid"/>
          </a:ln>
        </p:spPr>
      </p:sp>
      <p:sp>
        <p:nvSpPr>
          <p:cNvPr id="18" name="Text 16"/>
          <p:cNvSpPr/>
          <p:nvPr/>
        </p:nvSpPr>
        <p:spPr>
          <a:xfrm>
            <a:off x="6172200" y="2450592"/>
            <a:ext cx="2468880" cy="347472"/>
          </a:xfrm>
          <a:prstGeom prst="rect">
            <a:avLst/>
          </a:prstGeom>
          <a:noFill/>
          <a:ln/>
        </p:spPr>
        <p:txBody>
          <a:bodyPr wrap="square" lIns="0" tIns="0" rIns="0" bIns="0" rtlCol="0" anchor="ctr"/>
          <a:lstStyle/>
          <a:p>
            <a:pPr marL="0" indent="0">
              <a:buNone/>
            </a:pPr>
            <a:r>
              <a:rPr lang="en-US" sz="1400" b="1" dirty="0">
                <a:solidFill>
                  <a:srgbClr val="FFFFFF"/>
                </a:solidFill>
              </a:rPr>
              <a:t>Pattern Recognition</a:t>
            </a:r>
            <a:endParaRPr lang="en-US" sz="1400" dirty="0"/>
          </a:p>
        </p:txBody>
      </p:sp>
      <p:sp>
        <p:nvSpPr>
          <p:cNvPr id="19" name="Text 17"/>
          <p:cNvSpPr/>
          <p:nvPr/>
        </p:nvSpPr>
        <p:spPr>
          <a:xfrm>
            <a:off x="6172200" y="2834640"/>
            <a:ext cx="2468880" cy="1874520"/>
          </a:xfrm>
          <a:prstGeom prst="rect">
            <a:avLst/>
          </a:prstGeom>
          <a:noFill/>
          <a:ln/>
        </p:spPr>
        <p:txBody>
          <a:bodyPr wrap="square" lIns="0" tIns="0" rIns="0" bIns="0" rtlCol="0" anchor="ctr"/>
          <a:lstStyle/>
          <a:p>
            <a:pPr marL="0" indent="0">
              <a:buNone/>
            </a:pPr>
            <a:r>
              <a:rPr lang="en-US" sz="1150" dirty="0">
                <a:solidFill>
                  <a:srgbClr val="CBD5E1"/>
                </a:solidFill>
              </a:rPr>
              <a:t>At its core, ML is about identifying patterns and relationships in data that humans may not explicitly see or articulate.</a:t>
            </a:r>
            <a:endParaRPr lang="en-US" sz="1150" dirty="0"/>
          </a:p>
        </p:txBody>
      </p:sp>
      <p:sp>
        <p:nvSpPr>
          <p:cNvPr id="20" name="Shape 18"/>
          <p:cNvSpPr/>
          <p:nvPr/>
        </p:nvSpPr>
        <p:spPr>
          <a:xfrm>
            <a:off x="0" y="4846320"/>
            <a:ext cx="9144000" cy="297180"/>
          </a:xfrm>
          <a:prstGeom prst="rect">
            <a:avLst/>
          </a:prstGeom>
          <a:solidFill>
            <a:srgbClr val="1E2A40"/>
          </a:solidFill>
          <a:ln w="12700">
            <a:solidFill>
              <a:srgbClr val="1E2A40"/>
            </a:solidFill>
            <a:prstDash val="solid"/>
          </a:ln>
        </p:spPr>
      </p:sp>
      <p:sp>
        <p:nvSpPr>
          <p:cNvPr id="21" name="Text 19"/>
          <p:cNvSpPr/>
          <p:nvPr/>
        </p:nvSpPr>
        <p:spPr>
          <a:xfrm>
            <a:off x="274320" y="4846320"/>
            <a:ext cx="8595360" cy="297180"/>
          </a:xfrm>
          <a:prstGeom prst="rect">
            <a:avLst/>
          </a:prstGeom>
          <a:noFill/>
          <a:ln/>
        </p:spPr>
        <p:txBody>
          <a:bodyPr wrap="square" lIns="0" tIns="0" rIns="0" bIns="0" rtlCol="0" anchor="ctr"/>
          <a:lstStyle/>
          <a:p>
            <a:pPr marL="0" indent="0">
              <a:buNone/>
            </a:pPr>
            <a:r>
              <a:rPr lang="en-US" sz="1000" i="1" dirty="0">
                <a:solidFill>
                  <a:srgbClr val="94A3B8"/>
                </a:solidFill>
              </a:rPr>
              <a:t>"ML gives computers the ability to learn without being explicitly programmed." — Arthur Samuel, 1959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A40"/>
          </a:solidFill>
          <a:ln w="12700">
            <a:solidFill>
              <a:srgbClr val="1E2A40"/>
            </a:solidFill>
            <a:prstDash val="solid"/>
          </a:ln>
        </p:spPr>
      </p:sp>
      <p:sp>
        <p:nvSpPr>
          <p:cNvPr id="3" name="Shape 1"/>
          <p:cNvSpPr/>
          <p:nvPr/>
        </p:nvSpPr>
        <p:spPr>
          <a:xfrm>
            <a:off x="0" y="0"/>
            <a:ext cx="54864" cy="1005840"/>
          </a:xfrm>
          <a:prstGeom prst="rect">
            <a:avLst/>
          </a:prstGeom>
          <a:solidFill>
            <a:srgbClr val="14B8A6"/>
          </a:solidFill>
          <a:ln w="12700">
            <a:solidFill>
              <a:srgbClr val="14B8A6"/>
            </a:solidFill>
            <a:prstDash val="solid"/>
          </a:ln>
        </p:spPr>
      </p:sp>
      <p:sp>
        <p:nvSpPr>
          <p:cNvPr id="4" name="Text 2"/>
          <p:cNvSpPr/>
          <p:nvPr/>
        </p:nvSpPr>
        <p:spPr>
          <a:xfrm>
            <a:off x="137160" y="0"/>
            <a:ext cx="731520" cy="1005840"/>
          </a:xfrm>
          <a:prstGeom prst="rect">
            <a:avLst/>
          </a:prstGeom>
          <a:noFill/>
          <a:ln/>
        </p:spPr>
        <p:txBody>
          <a:bodyPr wrap="square" lIns="0" tIns="0" rIns="0" bIns="0" rtlCol="0" anchor="ctr"/>
          <a:lstStyle/>
          <a:p>
            <a:pPr marL="0" indent="0">
              <a:buNone/>
            </a:pPr>
            <a:r>
              <a:rPr lang="en-US" sz="3800" b="1" dirty="0">
                <a:solidFill>
                  <a:srgbClr val="14B8A6"/>
                </a:solidFill>
              </a:rPr>
              <a:t>02</a:t>
            </a:r>
            <a:endParaRPr lang="en-US" sz="3800" dirty="0"/>
          </a:p>
        </p:txBody>
      </p:sp>
      <p:sp>
        <p:nvSpPr>
          <p:cNvPr id="5" name="Text 3"/>
          <p:cNvSpPr/>
          <p:nvPr/>
        </p:nvSpPr>
        <p:spPr>
          <a:xfrm>
            <a:off x="1005840" y="0"/>
            <a:ext cx="7772400" cy="10058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Origins of Machine Learning</a:t>
            </a:r>
            <a:endParaRPr lang="en-US" sz="3000" dirty="0"/>
          </a:p>
        </p:txBody>
      </p:sp>
      <p:sp>
        <p:nvSpPr>
          <p:cNvPr id="6" name="Shape 4"/>
          <p:cNvSpPr/>
          <p:nvPr/>
        </p:nvSpPr>
        <p:spPr>
          <a:xfrm>
            <a:off x="1234440" y="1207008"/>
            <a:ext cx="0" cy="3392424"/>
          </a:xfrm>
          <a:prstGeom prst="line">
            <a:avLst/>
          </a:prstGeom>
          <a:noFill/>
          <a:ln w="25400">
            <a:solidFill>
              <a:srgbClr val="14B8A6"/>
            </a:solidFill>
            <a:prstDash val="solid"/>
          </a:ln>
        </p:spPr>
      </p:sp>
      <p:sp>
        <p:nvSpPr>
          <p:cNvPr id="7" name="Shape 5"/>
          <p:cNvSpPr/>
          <p:nvPr/>
        </p:nvSpPr>
        <p:spPr>
          <a:xfrm>
            <a:off x="1143000" y="1152144"/>
            <a:ext cx="182880" cy="182880"/>
          </a:xfrm>
          <a:prstGeom prst="ellipse">
            <a:avLst/>
          </a:prstGeom>
          <a:solidFill>
            <a:srgbClr val="14B8A6"/>
          </a:solidFill>
          <a:ln w="25400">
            <a:solidFill>
              <a:srgbClr val="0A0E1A"/>
            </a:solidFill>
            <a:prstDash val="solid"/>
          </a:ln>
        </p:spPr>
      </p:sp>
      <p:sp>
        <p:nvSpPr>
          <p:cNvPr id="8" name="Text 6"/>
          <p:cNvSpPr/>
          <p:nvPr/>
        </p:nvSpPr>
        <p:spPr>
          <a:xfrm>
            <a:off x="137160" y="1097280"/>
            <a:ext cx="960120" cy="292608"/>
          </a:xfrm>
          <a:prstGeom prst="rect">
            <a:avLst/>
          </a:prstGeom>
          <a:noFill/>
          <a:ln/>
        </p:spPr>
        <p:txBody>
          <a:bodyPr wrap="square" lIns="0" tIns="0" rIns="0" bIns="0" rtlCol="0" anchor="ctr"/>
          <a:lstStyle/>
          <a:p>
            <a:pPr marL="0" indent="0" algn="r">
              <a:buNone/>
            </a:pPr>
            <a:r>
              <a:rPr lang="en-US" sz="1200" b="1" dirty="0">
                <a:solidFill>
                  <a:srgbClr val="14B8A6"/>
                </a:solidFill>
              </a:rPr>
              <a:t>1943</a:t>
            </a:r>
            <a:endParaRPr lang="en-US" sz="1200" dirty="0"/>
          </a:p>
        </p:txBody>
      </p:sp>
      <p:sp>
        <p:nvSpPr>
          <p:cNvPr id="9" name="Text 7"/>
          <p:cNvSpPr/>
          <p:nvPr/>
        </p:nvSpPr>
        <p:spPr>
          <a:xfrm>
            <a:off x="1417320" y="1097280"/>
            <a:ext cx="7498080" cy="475488"/>
          </a:xfrm>
          <a:prstGeom prst="rect">
            <a:avLst/>
          </a:prstGeom>
          <a:noFill/>
          <a:ln/>
        </p:spPr>
        <p:txBody>
          <a:bodyPr wrap="square" lIns="0" tIns="0" rIns="0" bIns="0" rtlCol="0" anchor="ctr"/>
          <a:lstStyle/>
          <a:p>
            <a:pPr marL="0" indent="0">
              <a:buNone/>
            </a:pPr>
            <a:r>
              <a:rPr lang="en-US" sz="1100" dirty="0">
                <a:solidFill>
                  <a:srgbClr val="CBD5E1"/>
                </a:solidFill>
              </a:rPr>
              <a:t>McCulloch &amp; Pitts publish first mathematical model of a neuron, laying groundwork for neural networks</a:t>
            </a:r>
            <a:endParaRPr lang="en-US" sz="1100" dirty="0"/>
          </a:p>
        </p:txBody>
      </p:sp>
      <p:sp>
        <p:nvSpPr>
          <p:cNvPr id="10" name="Shape 8"/>
          <p:cNvSpPr/>
          <p:nvPr/>
        </p:nvSpPr>
        <p:spPr>
          <a:xfrm>
            <a:off x="1143000" y="1682496"/>
            <a:ext cx="182880" cy="182880"/>
          </a:xfrm>
          <a:prstGeom prst="ellipse">
            <a:avLst/>
          </a:prstGeom>
          <a:solidFill>
            <a:srgbClr val="6366F1"/>
          </a:solidFill>
          <a:ln w="25400">
            <a:solidFill>
              <a:srgbClr val="0A0E1A"/>
            </a:solidFill>
            <a:prstDash val="solid"/>
          </a:ln>
        </p:spPr>
      </p:sp>
      <p:sp>
        <p:nvSpPr>
          <p:cNvPr id="11" name="Text 9"/>
          <p:cNvSpPr/>
          <p:nvPr/>
        </p:nvSpPr>
        <p:spPr>
          <a:xfrm>
            <a:off x="137160" y="1627632"/>
            <a:ext cx="960120" cy="292608"/>
          </a:xfrm>
          <a:prstGeom prst="rect">
            <a:avLst/>
          </a:prstGeom>
          <a:noFill/>
          <a:ln/>
        </p:spPr>
        <p:txBody>
          <a:bodyPr wrap="square" lIns="0" tIns="0" rIns="0" bIns="0" rtlCol="0" anchor="ctr"/>
          <a:lstStyle/>
          <a:p>
            <a:pPr marL="0" indent="0" algn="r">
              <a:buNone/>
            </a:pPr>
            <a:r>
              <a:rPr lang="en-US" sz="1200" b="1" dirty="0">
                <a:solidFill>
                  <a:srgbClr val="14B8A6"/>
                </a:solidFill>
              </a:rPr>
              <a:t>1950</a:t>
            </a:r>
            <a:endParaRPr lang="en-US" sz="1200" dirty="0"/>
          </a:p>
        </p:txBody>
      </p:sp>
      <p:sp>
        <p:nvSpPr>
          <p:cNvPr id="12" name="Text 10"/>
          <p:cNvSpPr/>
          <p:nvPr/>
        </p:nvSpPr>
        <p:spPr>
          <a:xfrm>
            <a:off x="1417320" y="1627632"/>
            <a:ext cx="7498080" cy="475488"/>
          </a:xfrm>
          <a:prstGeom prst="rect">
            <a:avLst/>
          </a:prstGeom>
          <a:noFill/>
          <a:ln/>
        </p:spPr>
        <p:txBody>
          <a:bodyPr wrap="square" lIns="0" tIns="0" rIns="0" bIns="0" rtlCol="0" anchor="ctr"/>
          <a:lstStyle/>
          <a:p>
            <a:pPr marL="0" indent="0">
              <a:buNone/>
            </a:pPr>
            <a:r>
              <a:rPr lang="en-US" sz="1100" dirty="0">
                <a:solidFill>
                  <a:srgbClr val="CBD5E1"/>
                </a:solidFill>
              </a:rPr>
              <a:t>Alan Turing proposes the Turing Test in 'Computing Machinery and Intelligence', defining machine intelligence</a:t>
            </a:r>
            <a:endParaRPr lang="en-US" sz="1100" dirty="0"/>
          </a:p>
        </p:txBody>
      </p:sp>
      <p:sp>
        <p:nvSpPr>
          <p:cNvPr id="13" name="Shape 11"/>
          <p:cNvSpPr/>
          <p:nvPr/>
        </p:nvSpPr>
        <p:spPr>
          <a:xfrm>
            <a:off x="1143000" y="2212848"/>
            <a:ext cx="182880" cy="182880"/>
          </a:xfrm>
          <a:prstGeom prst="ellipse">
            <a:avLst/>
          </a:prstGeom>
          <a:solidFill>
            <a:srgbClr val="14B8A6"/>
          </a:solidFill>
          <a:ln w="25400">
            <a:solidFill>
              <a:srgbClr val="0A0E1A"/>
            </a:solidFill>
            <a:prstDash val="solid"/>
          </a:ln>
        </p:spPr>
      </p:sp>
      <p:sp>
        <p:nvSpPr>
          <p:cNvPr id="14" name="Text 12"/>
          <p:cNvSpPr/>
          <p:nvPr/>
        </p:nvSpPr>
        <p:spPr>
          <a:xfrm>
            <a:off x="137160" y="2157984"/>
            <a:ext cx="960120" cy="292608"/>
          </a:xfrm>
          <a:prstGeom prst="rect">
            <a:avLst/>
          </a:prstGeom>
          <a:noFill/>
          <a:ln/>
        </p:spPr>
        <p:txBody>
          <a:bodyPr wrap="square" lIns="0" tIns="0" rIns="0" bIns="0" rtlCol="0" anchor="ctr"/>
          <a:lstStyle/>
          <a:p>
            <a:pPr marL="0" indent="0" algn="r">
              <a:buNone/>
            </a:pPr>
            <a:r>
              <a:rPr lang="en-US" sz="1200" b="1" dirty="0">
                <a:solidFill>
                  <a:srgbClr val="14B8A6"/>
                </a:solidFill>
              </a:rPr>
              <a:t>1959</a:t>
            </a:r>
            <a:endParaRPr lang="en-US" sz="1200" dirty="0"/>
          </a:p>
        </p:txBody>
      </p:sp>
      <p:sp>
        <p:nvSpPr>
          <p:cNvPr id="15" name="Text 13"/>
          <p:cNvSpPr/>
          <p:nvPr/>
        </p:nvSpPr>
        <p:spPr>
          <a:xfrm>
            <a:off x="1417320" y="2157984"/>
            <a:ext cx="7498080" cy="475488"/>
          </a:xfrm>
          <a:prstGeom prst="rect">
            <a:avLst/>
          </a:prstGeom>
          <a:noFill/>
          <a:ln/>
        </p:spPr>
        <p:txBody>
          <a:bodyPr wrap="square" lIns="0" tIns="0" rIns="0" bIns="0" rtlCol="0" anchor="ctr"/>
          <a:lstStyle/>
          <a:p>
            <a:pPr marL="0" indent="0">
              <a:buNone/>
            </a:pPr>
            <a:r>
              <a:rPr lang="en-US" sz="1100" dirty="0">
                <a:solidFill>
                  <a:srgbClr val="CBD5E1"/>
                </a:solidFill>
              </a:rPr>
              <a:t>Arthur Samuel coins the term 'Machine Learning' while working on checkers-playing programs at IBM</a:t>
            </a:r>
            <a:endParaRPr lang="en-US" sz="1100" dirty="0"/>
          </a:p>
        </p:txBody>
      </p:sp>
      <p:sp>
        <p:nvSpPr>
          <p:cNvPr id="16" name="Shape 14"/>
          <p:cNvSpPr/>
          <p:nvPr/>
        </p:nvSpPr>
        <p:spPr>
          <a:xfrm>
            <a:off x="1143000" y="2743200"/>
            <a:ext cx="182880" cy="182880"/>
          </a:xfrm>
          <a:prstGeom prst="ellipse">
            <a:avLst/>
          </a:prstGeom>
          <a:solidFill>
            <a:srgbClr val="6366F1"/>
          </a:solidFill>
          <a:ln w="25400">
            <a:solidFill>
              <a:srgbClr val="0A0E1A"/>
            </a:solidFill>
            <a:prstDash val="solid"/>
          </a:ln>
        </p:spPr>
      </p:sp>
      <p:sp>
        <p:nvSpPr>
          <p:cNvPr id="17" name="Text 15"/>
          <p:cNvSpPr/>
          <p:nvPr/>
        </p:nvSpPr>
        <p:spPr>
          <a:xfrm>
            <a:off x="137160" y="2688336"/>
            <a:ext cx="960120" cy="292608"/>
          </a:xfrm>
          <a:prstGeom prst="rect">
            <a:avLst/>
          </a:prstGeom>
          <a:noFill/>
          <a:ln/>
        </p:spPr>
        <p:txBody>
          <a:bodyPr wrap="square" lIns="0" tIns="0" rIns="0" bIns="0" rtlCol="0" anchor="ctr"/>
          <a:lstStyle/>
          <a:p>
            <a:pPr marL="0" indent="0" algn="r">
              <a:buNone/>
            </a:pPr>
            <a:r>
              <a:rPr lang="en-US" sz="1200" b="1" dirty="0">
                <a:solidFill>
                  <a:srgbClr val="14B8A6"/>
                </a:solidFill>
              </a:rPr>
              <a:t>1986</a:t>
            </a:r>
            <a:endParaRPr lang="en-US" sz="1200" dirty="0"/>
          </a:p>
        </p:txBody>
      </p:sp>
      <p:sp>
        <p:nvSpPr>
          <p:cNvPr id="18" name="Text 16"/>
          <p:cNvSpPr/>
          <p:nvPr/>
        </p:nvSpPr>
        <p:spPr>
          <a:xfrm>
            <a:off x="1417320" y="2688336"/>
            <a:ext cx="7498080" cy="475488"/>
          </a:xfrm>
          <a:prstGeom prst="rect">
            <a:avLst/>
          </a:prstGeom>
          <a:noFill/>
          <a:ln/>
        </p:spPr>
        <p:txBody>
          <a:bodyPr wrap="square" lIns="0" tIns="0" rIns="0" bIns="0" rtlCol="0" anchor="ctr"/>
          <a:lstStyle/>
          <a:p>
            <a:pPr marL="0" indent="0">
              <a:buNone/>
            </a:pPr>
            <a:r>
              <a:rPr lang="en-US" sz="1100" dirty="0">
                <a:solidFill>
                  <a:srgbClr val="CBD5E1"/>
                </a:solidFill>
              </a:rPr>
              <a:t>Rumelhart &amp; Hinton popularize backpropagation algorithm, revolutionizing neural network training</a:t>
            </a:r>
            <a:endParaRPr lang="en-US" sz="1100" dirty="0"/>
          </a:p>
        </p:txBody>
      </p:sp>
      <p:sp>
        <p:nvSpPr>
          <p:cNvPr id="19" name="Shape 17"/>
          <p:cNvSpPr/>
          <p:nvPr/>
        </p:nvSpPr>
        <p:spPr>
          <a:xfrm>
            <a:off x="1143000" y="3273552"/>
            <a:ext cx="182880" cy="182880"/>
          </a:xfrm>
          <a:prstGeom prst="ellipse">
            <a:avLst/>
          </a:prstGeom>
          <a:solidFill>
            <a:srgbClr val="14B8A6"/>
          </a:solidFill>
          <a:ln w="25400">
            <a:solidFill>
              <a:srgbClr val="0A0E1A"/>
            </a:solidFill>
            <a:prstDash val="solid"/>
          </a:ln>
        </p:spPr>
      </p:sp>
      <p:sp>
        <p:nvSpPr>
          <p:cNvPr id="20" name="Text 18"/>
          <p:cNvSpPr/>
          <p:nvPr/>
        </p:nvSpPr>
        <p:spPr>
          <a:xfrm>
            <a:off x="137160" y="3218688"/>
            <a:ext cx="960120" cy="292608"/>
          </a:xfrm>
          <a:prstGeom prst="rect">
            <a:avLst/>
          </a:prstGeom>
          <a:noFill/>
          <a:ln/>
        </p:spPr>
        <p:txBody>
          <a:bodyPr wrap="square" lIns="0" tIns="0" rIns="0" bIns="0" rtlCol="0" anchor="ctr"/>
          <a:lstStyle/>
          <a:p>
            <a:pPr marL="0" indent="0" algn="r">
              <a:buNone/>
            </a:pPr>
            <a:r>
              <a:rPr lang="en-US" sz="1200" b="1" dirty="0">
                <a:solidFill>
                  <a:srgbClr val="14B8A6"/>
                </a:solidFill>
              </a:rPr>
              <a:t>1997</a:t>
            </a:r>
            <a:endParaRPr lang="en-US" sz="1200" dirty="0"/>
          </a:p>
        </p:txBody>
      </p:sp>
      <p:sp>
        <p:nvSpPr>
          <p:cNvPr id="21" name="Text 19"/>
          <p:cNvSpPr/>
          <p:nvPr/>
        </p:nvSpPr>
        <p:spPr>
          <a:xfrm>
            <a:off x="1417320" y="3218688"/>
            <a:ext cx="7498080" cy="475488"/>
          </a:xfrm>
          <a:prstGeom prst="rect">
            <a:avLst/>
          </a:prstGeom>
          <a:noFill/>
          <a:ln/>
        </p:spPr>
        <p:txBody>
          <a:bodyPr wrap="square" lIns="0" tIns="0" rIns="0" bIns="0" rtlCol="0" anchor="ctr"/>
          <a:lstStyle/>
          <a:p>
            <a:pPr marL="0" indent="0">
              <a:buNone/>
            </a:pPr>
            <a:r>
              <a:rPr lang="en-US" sz="1100" dirty="0">
                <a:solidFill>
                  <a:srgbClr val="CBD5E1"/>
                </a:solidFill>
              </a:rPr>
              <a:t>IBM's Deep Blue defeats chess world champion Kasparov — landmark AI achievement</a:t>
            </a:r>
            <a:endParaRPr lang="en-US" sz="1100" dirty="0"/>
          </a:p>
        </p:txBody>
      </p:sp>
      <p:sp>
        <p:nvSpPr>
          <p:cNvPr id="22" name="Shape 20"/>
          <p:cNvSpPr/>
          <p:nvPr/>
        </p:nvSpPr>
        <p:spPr>
          <a:xfrm>
            <a:off x="1143000" y="3803904"/>
            <a:ext cx="182880" cy="182880"/>
          </a:xfrm>
          <a:prstGeom prst="ellipse">
            <a:avLst/>
          </a:prstGeom>
          <a:solidFill>
            <a:srgbClr val="6366F1"/>
          </a:solidFill>
          <a:ln w="25400">
            <a:solidFill>
              <a:srgbClr val="0A0E1A"/>
            </a:solidFill>
            <a:prstDash val="solid"/>
          </a:ln>
        </p:spPr>
      </p:sp>
      <p:sp>
        <p:nvSpPr>
          <p:cNvPr id="23" name="Text 21"/>
          <p:cNvSpPr/>
          <p:nvPr/>
        </p:nvSpPr>
        <p:spPr>
          <a:xfrm>
            <a:off x="137160" y="3749040"/>
            <a:ext cx="960120" cy="292608"/>
          </a:xfrm>
          <a:prstGeom prst="rect">
            <a:avLst/>
          </a:prstGeom>
          <a:noFill/>
          <a:ln/>
        </p:spPr>
        <p:txBody>
          <a:bodyPr wrap="square" lIns="0" tIns="0" rIns="0" bIns="0" rtlCol="0" anchor="ctr"/>
          <a:lstStyle/>
          <a:p>
            <a:pPr marL="0" indent="0" algn="r">
              <a:buNone/>
            </a:pPr>
            <a:r>
              <a:rPr lang="en-US" sz="1200" b="1" dirty="0">
                <a:solidFill>
                  <a:srgbClr val="14B8A6"/>
                </a:solidFill>
              </a:rPr>
              <a:t>2012</a:t>
            </a:r>
            <a:endParaRPr lang="en-US" sz="1200" dirty="0"/>
          </a:p>
        </p:txBody>
      </p:sp>
      <p:sp>
        <p:nvSpPr>
          <p:cNvPr id="24" name="Text 22"/>
          <p:cNvSpPr/>
          <p:nvPr/>
        </p:nvSpPr>
        <p:spPr>
          <a:xfrm>
            <a:off x="1417320" y="3749040"/>
            <a:ext cx="7498080" cy="475488"/>
          </a:xfrm>
          <a:prstGeom prst="rect">
            <a:avLst/>
          </a:prstGeom>
          <a:noFill/>
          <a:ln/>
        </p:spPr>
        <p:txBody>
          <a:bodyPr wrap="square" lIns="0" tIns="0" rIns="0" bIns="0" rtlCol="0" anchor="ctr"/>
          <a:lstStyle/>
          <a:p>
            <a:pPr marL="0" indent="0">
              <a:buNone/>
            </a:pPr>
            <a:r>
              <a:rPr lang="en-US" sz="1100" dirty="0">
                <a:solidFill>
                  <a:srgbClr val="CBD5E1"/>
                </a:solidFill>
              </a:rPr>
              <a:t>AlexNet wins ImageNet competition, marking the deep learning revolution that transformed the field</a:t>
            </a:r>
            <a:endParaRPr lang="en-US" sz="1100" dirty="0"/>
          </a:p>
        </p:txBody>
      </p:sp>
      <p:sp>
        <p:nvSpPr>
          <p:cNvPr id="25" name="Shape 23"/>
          <p:cNvSpPr/>
          <p:nvPr/>
        </p:nvSpPr>
        <p:spPr>
          <a:xfrm>
            <a:off x="1143000" y="4334256"/>
            <a:ext cx="182880" cy="182880"/>
          </a:xfrm>
          <a:prstGeom prst="ellipse">
            <a:avLst/>
          </a:prstGeom>
          <a:solidFill>
            <a:srgbClr val="14B8A6"/>
          </a:solidFill>
          <a:ln w="25400">
            <a:solidFill>
              <a:srgbClr val="0A0E1A"/>
            </a:solidFill>
            <a:prstDash val="solid"/>
          </a:ln>
        </p:spPr>
      </p:sp>
      <p:sp>
        <p:nvSpPr>
          <p:cNvPr id="26" name="Text 24"/>
          <p:cNvSpPr/>
          <p:nvPr/>
        </p:nvSpPr>
        <p:spPr>
          <a:xfrm>
            <a:off x="137160" y="4279392"/>
            <a:ext cx="960120" cy="292608"/>
          </a:xfrm>
          <a:prstGeom prst="rect">
            <a:avLst/>
          </a:prstGeom>
          <a:noFill/>
          <a:ln/>
        </p:spPr>
        <p:txBody>
          <a:bodyPr wrap="square" lIns="0" tIns="0" rIns="0" bIns="0" rtlCol="0" anchor="ctr"/>
          <a:lstStyle/>
          <a:p>
            <a:pPr marL="0" indent="0" algn="r">
              <a:buNone/>
            </a:pPr>
            <a:r>
              <a:rPr lang="en-US" sz="1200" b="1" dirty="0">
                <a:solidFill>
                  <a:srgbClr val="14B8A6"/>
                </a:solidFill>
              </a:rPr>
              <a:t>2016+</a:t>
            </a:r>
            <a:endParaRPr lang="en-US" sz="1200" dirty="0"/>
          </a:p>
        </p:txBody>
      </p:sp>
      <p:sp>
        <p:nvSpPr>
          <p:cNvPr id="27" name="Text 25"/>
          <p:cNvSpPr/>
          <p:nvPr/>
        </p:nvSpPr>
        <p:spPr>
          <a:xfrm>
            <a:off x="1417320" y="4279392"/>
            <a:ext cx="7498080" cy="475488"/>
          </a:xfrm>
          <a:prstGeom prst="rect">
            <a:avLst/>
          </a:prstGeom>
          <a:noFill/>
          <a:ln/>
        </p:spPr>
        <p:txBody>
          <a:bodyPr wrap="square" lIns="0" tIns="0" rIns="0" bIns="0" rtlCol="0" anchor="ctr"/>
          <a:lstStyle/>
          <a:p>
            <a:pPr marL="0" indent="0">
              <a:buNone/>
            </a:pPr>
            <a:r>
              <a:rPr lang="en-US" sz="1100" dirty="0">
                <a:solidFill>
                  <a:srgbClr val="CBD5E1"/>
                </a:solidFill>
              </a:rPr>
              <a:t>Transformers, GPT models, and large language models redefine AI capabilities across all domains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A40"/>
          </a:solidFill>
          <a:ln w="12700">
            <a:solidFill>
              <a:srgbClr val="1E2A40"/>
            </a:solidFill>
            <a:prstDash val="solid"/>
          </a:ln>
        </p:spPr>
      </p:sp>
      <p:sp>
        <p:nvSpPr>
          <p:cNvPr id="3" name="Shape 1"/>
          <p:cNvSpPr/>
          <p:nvPr/>
        </p:nvSpPr>
        <p:spPr>
          <a:xfrm>
            <a:off x="0" y="0"/>
            <a:ext cx="54864" cy="1005840"/>
          </a:xfrm>
          <a:prstGeom prst="rect">
            <a:avLst/>
          </a:prstGeom>
          <a:solidFill>
            <a:srgbClr val="F59E0B"/>
          </a:solidFill>
          <a:ln w="12700">
            <a:solidFill>
              <a:srgbClr val="F59E0B"/>
            </a:solidFill>
            <a:prstDash val="solid"/>
          </a:ln>
        </p:spPr>
      </p:sp>
      <p:sp>
        <p:nvSpPr>
          <p:cNvPr id="4" name="Text 2"/>
          <p:cNvSpPr/>
          <p:nvPr/>
        </p:nvSpPr>
        <p:spPr>
          <a:xfrm>
            <a:off x="137160" y="0"/>
            <a:ext cx="731520" cy="1005840"/>
          </a:xfrm>
          <a:prstGeom prst="rect">
            <a:avLst/>
          </a:prstGeom>
          <a:noFill/>
          <a:ln/>
        </p:spPr>
        <p:txBody>
          <a:bodyPr wrap="square" lIns="0" tIns="0" rIns="0" bIns="0" rtlCol="0" anchor="ctr"/>
          <a:lstStyle/>
          <a:p>
            <a:pPr marL="0" indent="0">
              <a:buNone/>
            </a:pPr>
            <a:r>
              <a:rPr lang="en-US" sz="3800" b="1" dirty="0">
                <a:solidFill>
                  <a:srgbClr val="F59E0B"/>
                </a:solidFill>
              </a:rPr>
              <a:t>03</a:t>
            </a:r>
            <a:endParaRPr lang="en-US" sz="3800" dirty="0"/>
          </a:p>
        </p:txBody>
      </p:sp>
      <p:sp>
        <p:nvSpPr>
          <p:cNvPr id="5" name="Text 3"/>
          <p:cNvSpPr/>
          <p:nvPr/>
        </p:nvSpPr>
        <p:spPr>
          <a:xfrm>
            <a:off x="1005840" y="0"/>
            <a:ext cx="7772400" cy="10058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Uses of Machine Learning</a:t>
            </a:r>
            <a:endParaRPr lang="en-US" sz="3000" dirty="0"/>
          </a:p>
        </p:txBody>
      </p:sp>
      <p:sp>
        <p:nvSpPr>
          <p:cNvPr id="6" name="Shape 4"/>
          <p:cNvSpPr/>
          <p:nvPr/>
        </p:nvSpPr>
        <p:spPr>
          <a:xfrm>
            <a:off x="274320" y="1115568"/>
            <a:ext cx="4206240" cy="1170432"/>
          </a:xfrm>
          <a:prstGeom prst="rect">
            <a:avLst/>
          </a:prstGeom>
          <a:solidFill>
            <a:srgbClr val="1A2235"/>
          </a:solidFill>
          <a:ln w="12700">
            <a:solidFill>
              <a:srgbClr val="14B8A6"/>
            </a:solidFill>
            <a:prstDash val="solid"/>
          </a:ln>
        </p:spPr>
      </p:sp>
      <p:sp>
        <p:nvSpPr>
          <p:cNvPr id="7" name="Shape 5"/>
          <p:cNvSpPr/>
          <p:nvPr/>
        </p:nvSpPr>
        <p:spPr>
          <a:xfrm>
            <a:off x="274320" y="1115568"/>
            <a:ext cx="64008" cy="1170432"/>
          </a:xfrm>
          <a:prstGeom prst="rect">
            <a:avLst/>
          </a:prstGeom>
          <a:solidFill>
            <a:srgbClr val="14B8A6"/>
          </a:solidFill>
          <a:ln w="12700">
            <a:solidFill>
              <a:srgbClr val="14B8A6"/>
            </a:solidFill>
            <a:prstDash val="solid"/>
          </a:ln>
        </p:spPr>
      </p:sp>
      <p:sp>
        <p:nvSpPr>
          <p:cNvPr id="8" name="Text 6"/>
          <p:cNvSpPr/>
          <p:nvPr/>
        </p:nvSpPr>
        <p:spPr>
          <a:xfrm>
            <a:off x="438912" y="1207008"/>
            <a:ext cx="3931920" cy="274320"/>
          </a:xfrm>
          <a:prstGeom prst="rect">
            <a:avLst/>
          </a:prstGeom>
          <a:noFill/>
          <a:ln/>
        </p:spPr>
        <p:txBody>
          <a:bodyPr wrap="square" lIns="0" tIns="0" rIns="0" bIns="0" rtlCol="0" anchor="ctr"/>
          <a:lstStyle/>
          <a:p>
            <a:pPr marL="0" indent="0">
              <a:buNone/>
            </a:pPr>
            <a:r>
              <a:rPr lang="en-US" sz="1300" b="1" dirty="0">
                <a:solidFill>
                  <a:srgbClr val="14B8A6"/>
                </a:solidFill>
              </a:rPr>
              <a:t>Healthcare</a:t>
            </a:r>
            <a:endParaRPr lang="en-US" sz="1300" dirty="0"/>
          </a:p>
        </p:txBody>
      </p:sp>
      <p:sp>
        <p:nvSpPr>
          <p:cNvPr id="9" name="Text 7"/>
          <p:cNvSpPr/>
          <p:nvPr/>
        </p:nvSpPr>
        <p:spPr>
          <a:xfrm>
            <a:off x="438912" y="1499616"/>
            <a:ext cx="3931920" cy="731520"/>
          </a:xfrm>
          <a:prstGeom prst="rect">
            <a:avLst/>
          </a:prstGeom>
          <a:noFill/>
          <a:ln/>
        </p:spPr>
        <p:txBody>
          <a:bodyPr wrap="square" lIns="0" tIns="0" rIns="0" bIns="0" rtlCol="0" anchor="ctr"/>
          <a:lstStyle/>
          <a:p>
            <a:pPr marL="0" indent="0">
              <a:buNone/>
            </a:pPr>
            <a:r>
              <a:rPr lang="en-US" sz="1050" dirty="0">
                <a:solidFill>
                  <a:srgbClr val="CBD5E1"/>
                </a:solidFill>
              </a:rPr>
              <a:t>Disease diagnosis, medical imaging analysis, drug discovery, patient outcome prediction, genomics research</a:t>
            </a:r>
            <a:endParaRPr lang="en-US" sz="1050" dirty="0"/>
          </a:p>
        </p:txBody>
      </p:sp>
      <p:sp>
        <p:nvSpPr>
          <p:cNvPr id="10" name="Shape 8"/>
          <p:cNvSpPr/>
          <p:nvPr/>
        </p:nvSpPr>
        <p:spPr>
          <a:xfrm>
            <a:off x="4709160" y="1115568"/>
            <a:ext cx="4206240" cy="1170432"/>
          </a:xfrm>
          <a:prstGeom prst="rect">
            <a:avLst/>
          </a:prstGeom>
          <a:solidFill>
            <a:srgbClr val="1A2235"/>
          </a:solidFill>
          <a:ln w="12700">
            <a:solidFill>
              <a:srgbClr val="6366F1"/>
            </a:solidFill>
            <a:prstDash val="solid"/>
          </a:ln>
        </p:spPr>
      </p:sp>
      <p:sp>
        <p:nvSpPr>
          <p:cNvPr id="11" name="Shape 9"/>
          <p:cNvSpPr/>
          <p:nvPr/>
        </p:nvSpPr>
        <p:spPr>
          <a:xfrm>
            <a:off x="4709160" y="1115568"/>
            <a:ext cx="64008" cy="1170432"/>
          </a:xfrm>
          <a:prstGeom prst="rect">
            <a:avLst/>
          </a:prstGeom>
          <a:solidFill>
            <a:srgbClr val="6366F1"/>
          </a:solidFill>
          <a:ln w="12700">
            <a:solidFill>
              <a:srgbClr val="6366F1"/>
            </a:solidFill>
            <a:prstDash val="solid"/>
          </a:ln>
        </p:spPr>
      </p:sp>
      <p:sp>
        <p:nvSpPr>
          <p:cNvPr id="12" name="Text 10"/>
          <p:cNvSpPr/>
          <p:nvPr/>
        </p:nvSpPr>
        <p:spPr>
          <a:xfrm>
            <a:off x="4873752" y="1207008"/>
            <a:ext cx="3931920" cy="274320"/>
          </a:xfrm>
          <a:prstGeom prst="rect">
            <a:avLst/>
          </a:prstGeom>
          <a:noFill/>
          <a:ln/>
        </p:spPr>
        <p:txBody>
          <a:bodyPr wrap="square" lIns="0" tIns="0" rIns="0" bIns="0" rtlCol="0" anchor="ctr"/>
          <a:lstStyle/>
          <a:p>
            <a:pPr marL="0" indent="0">
              <a:buNone/>
            </a:pPr>
            <a:r>
              <a:rPr lang="en-US" sz="1300" b="1" dirty="0">
                <a:solidFill>
                  <a:srgbClr val="6366F1"/>
                </a:solidFill>
              </a:rPr>
              <a:t>Finance</a:t>
            </a:r>
            <a:endParaRPr lang="en-US" sz="1300" dirty="0"/>
          </a:p>
        </p:txBody>
      </p:sp>
      <p:sp>
        <p:nvSpPr>
          <p:cNvPr id="13" name="Text 11"/>
          <p:cNvSpPr/>
          <p:nvPr/>
        </p:nvSpPr>
        <p:spPr>
          <a:xfrm>
            <a:off x="4873752" y="1499616"/>
            <a:ext cx="3931920" cy="731520"/>
          </a:xfrm>
          <a:prstGeom prst="rect">
            <a:avLst/>
          </a:prstGeom>
          <a:noFill/>
          <a:ln/>
        </p:spPr>
        <p:txBody>
          <a:bodyPr wrap="square" lIns="0" tIns="0" rIns="0" bIns="0" rtlCol="0" anchor="ctr"/>
          <a:lstStyle/>
          <a:p>
            <a:pPr marL="0" indent="0">
              <a:buNone/>
            </a:pPr>
            <a:r>
              <a:rPr lang="en-US" sz="1050" dirty="0">
                <a:solidFill>
                  <a:srgbClr val="CBD5E1"/>
                </a:solidFill>
              </a:rPr>
              <a:t>Fraud detection, algorithmic trading, credit scoring, risk assessment, customer churn prediction</a:t>
            </a:r>
            <a:endParaRPr lang="en-US" sz="1050" dirty="0"/>
          </a:p>
        </p:txBody>
      </p:sp>
      <p:sp>
        <p:nvSpPr>
          <p:cNvPr id="14" name="Shape 12"/>
          <p:cNvSpPr/>
          <p:nvPr/>
        </p:nvSpPr>
        <p:spPr>
          <a:xfrm>
            <a:off x="274320" y="2395728"/>
            <a:ext cx="4206240" cy="1170432"/>
          </a:xfrm>
          <a:prstGeom prst="rect">
            <a:avLst/>
          </a:prstGeom>
          <a:solidFill>
            <a:srgbClr val="1A2235"/>
          </a:solidFill>
          <a:ln w="12700">
            <a:solidFill>
              <a:srgbClr val="8B5CF6"/>
            </a:solidFill>
            <a:prstDash val="solid"/>
          </a:ln>
        </p:spPr>
      </p:sp>
      <p:sp>
        <p:nvSpPr>
          <p:cNvPr id="15" name="Shape 13"/>
          <p:cNvSpPr/>
          <p:nvPr/>
        </p:nvSpPr>
        <p:spPr>
          <a:xfrm>
            <a:off x="274320" y="2395728"/>
            <a:ext cx="64008" cy="1170432"/>
          </a:xfrm>
          <a:prstGeom prst="rect">
            <a:avLst/>
          </a:prstGeom>
          <a:solidFill>
            <a:srgbClr val="8B5CF6"/>
          </a:solidFill>
          <a:ln w="12700">
            <a:solidFill>
              <a:srgbClr val="8B5CF6"/>
            </a:solidFill>
            <a:prstDash val="solid"/>
          </a:ln>
        </p:spPr>
      </p:sp>
      <p:sp>
        <p:nvSpPr>
          <p:cNvPr id="16" name="Text 14"/>
          <p:cNvSpPr/>
          <p:nvPr/>
        </p:nvSpPr>
        <p:spPr>
          <a:xfrm>
            <a:off x="438912" y="2487168"/>
            <a:ext cx="3931920" cy="274320"/>
          </a:xfrm>
          <a:prstGeom prst="rect">
            <a:avLst/>
          </a:prstGeom>
          <a:noFill/>
          <a:ln/>
        </p:spPr>
        <p:txBody>
          <a:bodyPr wrap="square" lIns="0" tIns="0" rIns="0" bIns="0" rtlCol="0" anchor="ctr"/>
          <a:lstStyle/>
          <a:p>
            <a:pPr marL="0" indent="0">
              <a:buNone/>
            </a:pPr>
            <a:r>
              <a:rPr lang="en-US" sz="1300" b="1" dirty="0">
                <a:solidFill>
                  <a:srgbClr val="8B5CF6"/>
                </a:solidFill>
              </a:rPr>
              <a:t>Natural Language</a:t>
            </a:r>
            <a:endParaRPr lang="en-US" sz="1300" dirty="0"/>
          </a:p>
        </p:txBody>
      </p:sp>
      <p:sp>
        <p:nvSpPr>
          <p:cNvPr id="17" name="Text 15"/>
          <p:cNvSpPr/>
          <p:nvPr/>
        </p:nvSpPr>
        <p:spPr>
          <a:xfrm>
            <a:off x="438912" y="2779776"/>
            <a:ext cx="3931920" cy="731520"/>
          </a:xfrm>
          <a:prstGeom prst="rect">
            <a:avLst/>
          </a:prstGeom>
          <a:noFill/>
          <a:ln/>
        </p:spPr>
        <p:txBody>
          <a:bodyPr wrap="square" lIns="0" tIns="0" rIns="0" bIns="0" rtlCol="0" anchor="ctr"/>
          <a:lstStyle/>
          <a:p>
            <a:pPr marL="0" indent="0">
              <a:buNone/>
            </a:pPr>
            <a:r>
              <a:rPr lang="en-US" sz="1050" dirty="0">
                <a:solidFill>
                  <a:srgbClr val="CBD5E1"/>
                </a:solidFill>
              </a:rPr>
              <a:t>Machine translation, sentiment analysis, chatbots, voice assistants, document summarization</a:t>
            </a:r>
            <a:endParaRPr lang="en-US" sz="1050" dirty="0"/>
          </a:p>
        </p:txBody>
      </p:sp>
      <p:sp>
        <p:nvSpPr>
          <p:cNvPr id="18" name="Shape 16"/>
          <p:cNvSpPr/>
          <p:nvPr/>
        </p:nvSpPr>
        <p:spPr>
          <a:xfrm>
            <a:off x="4709160" y="2395728"/>
            <a:ext cx="4206240" cy="1170432"/>
          </a:xfrm>
          <a:prstGeom prst="rect">
            <a:avLst/>
          </a:prstGeom>
          <a:solidFill>
            <a:srgbClr val="1A2235"/>
          </a:solidFill>
          <a:ln w="12700">
            <a:solidFill>
              <a:srgbClr val="F59E0B"/>
            </a:solidFill>
            <a:prstDash val="solid"/>
          </a:ln>
        </p:spPr>
      </p:sp>
      <p:sp>
        <p:nvSpPr>
          <p:cNvPr id="19" name="Shape 17"/>
          <p:cNvSpPr/>
          <p:nvPr/>
        </p:nvSpPr>
        <p:spPr>
          <a:xfrm>
            <a:off x="4709160" y="2395728"/>
            <a:ext cx="64008" cy="1170432"/>
          </a:xfrm>
          <a:prstGeom prst="rect">
            <a:avLst/>
          </a:prstGeom>
          <a:solidFill>
            <a:srgbClr val="F59E0B"/>
          </a:solidFill>
          <a:ln w="12700">
            <a:solidFill>
              <a:srgbClr val="F59E0B"/>
            </a:solidFill>
            <a:prstDash val="solid"/>
          </a:ln>
        </p:spPr>
      </p:sp>
      <p:sp>
        <p:nvSpPr>
          <p:cNvPr id="20" name="Text 18"/>
          <p:cNvSpPr/>
          <p:nvPr/>
        </p:nvSpPr>
        <p:spPr>
          <a:xfrm>
            <a:off x="4873752" y="2487168"/>
            <a:ext cx="3931920" cy="274320"/>
          </a:xfrm>
          <a:prstGeom prst="rect">
            <a:avLst/>
          </a:prstGeom>
          <a:noFill/>
          <a:ln/>
        </p:spPr>
        <p:txBody>
          <a:bodyPr wrap="square" lIns="0" tIns="0" rIns="0" bIns="0" rtlCol="0" anchor="ctr"/>
          <a:lstStyle/>
          <a:p>
            <a:pPr marL="0" indent="0">
              <a:buNone/>
            </a:pPr>
            <a:r>
              <a:rPr lang="en-US" sz="1300" b="1" dirty="0">
                <a:solidFill>
                  <a:srgbClr val="F59E0B"/>
                </a:solidFill>
              </a:rPr>
              <a:t>Computer Vision</a:t>
            </a:r>
            <a:endParaRPr lang="en-US" sz="1300" dirty="0"/>
          </a:p>
        </p:txBody>
      </p:sp>
      <p:sp>
        <p:nvSpPr>
          <p:cNvPr id="21" name="Text 19"/>
          <p:cNvSpPr/>
          <p:nvPr/>
        </p:nvSpPr>
        <p:spPr>
          <a:xfrm>
            <a:off x="4873752" y="2779776"/>
            <a:ext cx="3931920" cy="731520"/>
          </a:xfrm>
          <a:prstGeom prst="rect">
            <a:avLst/>
          </a:prstGeom>
          <a:noFill/>
          <a:ln/>
        </p:spPr>
        <p:txBody>
          <a:bodyPr wrap="square" lIns="0" tIns="0" rIns="0" bIns="0" rtlCol="0" anchor="ctr"/>
          <a:lstStyle/>
          <a:p>
            <a:pPr marL="0" indent="0">
              <a:buNone/>
            </a:pPr>
            <a:r>
              <a:rPr lang="en-US" sz="1050" dirty="0">
                <a:solidFill>
                  <a:srgbClr val="CBD5E1"/>
                </a:solidFill>
              </a:rPr>
              <a:t>Facial recognition, self-driving vehicles, quality control, satellite imagery analysis, augmented reality</a:t>
            </a:r>
            <a:endParaRPr lang="en-US" sz="1050" dirty="0"/>
          </a:p>
        </p:txBody>
      </p:sp>
      <p:sp>
        <p:nvSpPr>
          <p:cNvPr id="22" name="Shape 20"/>
          <p:cNvSpPr/>
          <p:nvPr/>
        </p:nvSpPr>
        <p:spPr>
          <a:xfrm>
            <a:off x="274320" y="3675888"/>
            <a:ext cx="4206240" cy="1170432"/>
          </a:xfrm>
          <a:prstGeom prst="rect">
            <a:avLst/>
          </a:prstGeom>
          <a:solidFill>
            <a:srgbClr val="1A2235"/>
          </a:solidFill>
          <a:ln w="12700">
            <a:solidFill>
              <a:srgbClr val="14B8A6"/>
            </a:solidFill>
            <a:prstDash val="solid"/>
          </a:ln>
        </p:spPr>
      </p:sp>
      <p:sp>
        <p:nvSpPr>
          <p:cNvPr id="23" name="Shape 21"/>
          <p:cNvSpPr/>
          <p:nvPr/>
        </p:nvSpPr>
        <p:spPr>
          <a:xfrm>
            <a:off x="274320" y="3675888"/>
            <a:ext cx="64008" cy="1170432"/>
          </a:xfrm>
          <a:prstGeom prst="rect">
            <a:avLst/>
          </a:prstGeom>
          <a:solidFill>
            <a:srgbClr val="14B8A6"/>
          </a:solidFill>
          <a:ln w="12700">
            <a:solidFill>
              <a:srgbClr val="14B8A6"/>
            </a:solidFill>
            <a:prstDash val="solid"/>
          </a:ln>
        </p:spPr>
      </p:sp>
      <p:sp>
        <p:nvSpPr>
          <p:cNvPr id="24" name="Text 22"/>
          <p:cNvSpPr/>
          <p:nvPr/>
        </p:nvSpPr>
        <p:spPr>
          <a:xfrm>
            <a:off x="438912" y="3767328"/>
            <a:ext cx="3931920" cy="274320"/>
          </a:xfrm>
          <a:prstGeom prst="rect">
            <a:avLst/>
          </a:prstGeom>
          <a:noFill/>
          <a:ln/>
        </p:spPr>
        <p:txBody>
          <a:bodyPr wrap="square" lIns="0" tIns="0" rIns="0" bIns="0" rtlCol="0" anchor="ctr"/>
          <a:lstStyle/>
          <a:p>
            <a:pPr marL="0" indent="0">
              <a:buNone/>
            </a:pPr>
            <a:r>
              <a:rPr lang="en-US" sz="1300" b="1" dirty="0">
                <a:solidFill>
                  <a:srgbClr val="14B8A6"/>
                </a:solidFill>
              </a:rPr>
              <a:t>Recommender Systems</a:t>
            </a:r>
            <a:endParaRPr lang="en-US" sz="1300" dirty="0"/>
          </a:p>
        </p:txBody>
      </p:sp>
      <p:sp>
        <p:nvSpPr>
          <p:cNvPr id="25" name="Text 23"/>
          <p:cNvSpPr/>
          <p:nvPr/>
        </p:nvSpPr>
        <p:spPr>
          <a:xfrm>
            <a:off x="438912" y="4059936"/>
            <a:ext cx="3931920" cy="731520"/>
          </a:xfrm>
          <a:prstGeom prst="rect">
            <a:avLst/>
          </a:prstGeom>
          <a:noFill/>
          <a:ln/>
        </p:spPr>
        <p:txBody>
          <a:bodyPr wrap="square" lIns="0" tIns="0" rIns="0" bIns="0" rtlCol="0" anchor="ctr"/>
          <a:lstStyle/>
          <a:p>
            <a:pPr marL="0" indent="0">
              <a:buNone/>
            </a:pPr>
            <a:r>
              <a:rPr lang="en-US" sz="1050" dirty="0">
                <a:solidFill>
                  <a:srgbClr val="CBD5E1"/>
                </a:solidFill>
              </a:rPr>
              <a:t>Netflix, Spotify, Amazon — personalized content based on user behavior patterns and preferences</a:t>
            </a:r>
            <a:endParaRPr lang="en-US" sz="1050" dirty="0"/>
          </a:p>
        </p:txBody>
      </p:sp>
      <p:sp>
        <p:nvSpPr>
          <p:cNvPr id="26" name="Shape 24"/>
          <p:cNvSpPr/>
          <p:nvPr/>
        </p:nvSpPr>
        <p:spPr>
          <a:xfrm>
            <a:off x="4709160" y="3675888"/>
            <a:ext cx="4206240" cy="1170432"/>
          </a:xfrm>
          <a:prstGeom prst="rect">
            <a:avLst/>
          </a:prstGeom>
          <a:solidFill>
            <a:srgbClr val="1A2235"/>
          </a:solidFill>
          <a:ln w="12700">
            <a:solidFill>
              <a:srgbClr val="6366F1"/>
            </a:solidFill>
            <a:prstDash val="solid"/>
          </a:ln>
        </p:spPr>
      </p:sp>
      <p:sp>
        <p:nvSpPr>
          <p:cNvPr id="27" name="Shape 25"/>
          <p:cNvSpPr/>
          <p:nvPr/>
        </p:nvSpPr>
        <p:spPr>
          <a:xfrm>
            <a:off x="4709160" y="3675888"/>
            <a:ext cx="64008" cy="1170432"/>
          </a:xfrm>
          <a:prstGeom prst="rect">
            <a:avLst/>
          </a:prstGeom>
          <a:solidFill>
            <a:srgbClr val="6366F1"/>
          </a:solidFill>
          <a:ln w="12700">
            <a:solidFill>
              <a:srgbClr val="6366F1"/>
            </a:solidFill>
            <a:prstDash val="solid"/>
          </a:ln>
        </p:spPr>
      </p:sp>
      <p:sp>
        <p:nvSpPr>
          <p:cNvPr id="28" name="Text 26"/>
          <p:cNvSpPr/>
          <p:nvPr/>
        </p:nvSpPr>
        <p:spPr>
          <a:xfrm>
            <a:off x="4873752" y="3767328"/>
            <a:ext cx="3931920" cy="274320"/>
          </a:xfrm>
          <a:prstGeom prst="rect">
            <a:avLst/>
          </a:prstGeom>
          <a:noFill/>
          <a:ln/>
        </p:spPr>
        <p:txBody>
          <a:bodyPr wrap="square" lIns="0" tIns="0" rIns="0" bIns="0" rtlCol="0" anchor="ctr"/>
          <a:lstStyle/>
          <a:p>
            <a:pPr marL="0" indent="0">
              <a:buNone/>
            </a:pPr>
            <a:r>
              <a:rPr lang="en-US" sz="1300" b="1" dirty="0">
                <a:solidFill>
                  <a:srgbClr val="6366F1"/>
                </a:solidFill>
              </a:rPr>
              <a:t>Cybersecurity</a:t>
            </a:r>
            <a:endParaRPr lang="en-US" sz="1300" dirty="0"/>
          </a:p>
        </p:txBody>
      </p:sp>
      <p:sp>
        <p:nvSpPr>
          <p:cNvPr id="29" name="Text 27"/>
          <p:cNvSpPr/>
          <p:nvPr/>
        </p:nvSpPr>
        <p:spPr>
          <a:xfrm>
            <a:off x="4873752" y="4059936"/>
            <a:ext cx="3931920" cy="731520"/>
          </a:xfrm>
          <a:prstGeom prst="rect">
            <a:avLst/>
          </a:prstGeom>
          <a:noFill/>
          <a:ln/>
        </p:spPr>
        <p:txBody>
          <a:bodyPr wrap="square" lIns="0" tIns="0" rIns="0" bIns="0" rtlCol="0" anchor="ctr"/>
          <a:lstStyle/>
          <a:p>
            <a:pPr marL="0" indent="0">
              <a:buNone/>
            </a:pPr>
            <a:r>
              <a:rPr lang="en-US" sz="1050" dirty="0">
                <a:solidFill>
                  <a:srgbClr val="CBD5E1"/>
                </a:solidFill>
              </a:rPr>
              <a:t>Intrusion detection, malware classification, anomaly detection, threat intelligence, spam filtering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A40"/>
          </a:solidFill>
          <a:ln w="12700">
            <a:solidFill>
              <a:srgbClr val="1E2A40"/>
            </a:solidFill>
            <a:prstDash val="solid"/>
          </a:ln>
        </p:spPr>
      </p:sp>
      <p:sp>
        <p:nvSpPr>
          <p:cNvPr id="3" name="Shape 1"/>
          <p:cNvSpPr/>
          <p:nvPr/>
        </p:nvSpPr>
        <p:spPr>
          <a:xfrm>
            <a:off x="0" y="0"/>
            <a:ext cx="54864" cy="1005840"/>
          </a:xfrm>
          <a:prstGeom prst="rect">
            <a:avLst/>
          </a:prstGeom>
          <a:solidFill>
            <a:srgbClr val="8B5CF6"/>
          </a:solidFill>
          <a:ln w="12700">
            <a:solidFill>
              <a:srgbClr val="8B5CF6"/>
            </a:solidFill>
            <a:prstDash val="solid"/>
          </a:ln>
        </p:spPr>
      </p:sp>
      <p:sp>
        <p:nvSpPr>
          <p:cNvPr id="4" name="Text 2"/>
          <p:cNvSpPr/>
          <p:nvPr/>
        </p:nvSpPr>
        <p:spPr>
          <a:xfrm>
            <a:off x="137160" y="0"/>
            <a:ext cx="731520" cy="1005840"/>
          </a:xfrm>
          <a:prstGeom prst="rect">
            <a:avLst/>
          </a:prstGeom>
          <a:noFill/>
          <a:ln/>
        </p:spPr>
        <p:txBody>
          <a:bodyPr wrap="square" lIns="0" tIns="0" rIns="0" bIns="0" rtlCol="0" anchor="ctr"/>
          <a:lstStyle/>
          <a:p>
            <a:pPr marL="0" indent="0">
              <a:buNone/>
            </a:pPr>
            <a:r>
              <a:rPr lang="en-US" sz="3800" b="1" dirty="0">
                <a:solidFill>
                  <a:srgbClr val="8B5CF6"/>
                </a:solidFill>
              </a:rPr>
              <a:t>04</a:t>
            </a:r>
            <a:endParaRPr lang="en-US" sz="3800" dirty="0"/>
          </a:p>
        </p:txBody>
      </p:sp>
      <p:sp>
        <p:nvSpPr>
          <p:cNvPr id="5" name="Text 3"/>
          <p:cNvSpPr/>
          <p:nvPr/>
        </p:nvSpPr>
        <p:spPr>
          <a:xfrm>
            <a:off x="1005840" y="0"/>
            <a:ext cx="7772400" cy="10058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How Do Machines Learn?</a:t>
            </a:r>
            <a:endParaRPr lang="en-US" sz="3000" dirty="0"/>
          </a:p>
        </p:txBody>
      </p:sp>
      <p:sp>
        <p:nvSpPr>
          <p:cNvPr id="6" name="Shape 4"/>
          <p:cNvSpPr/>
          <p:nvPr/>
        </p:nvSpPr>
        <p:spPr>
          <a:xfrm>
            <a:off x="201168" y="1115568"/>
            <a:ext cx="2834640" cy="3794760"/>
          </a:xfrm>
          <a:prstGeom prst="rect">
            <a:avLst/>
          </a:prstGeom>
          <a:solidFill>
            <a:srgbClr val="1A2235"/>
          </a:solidFill>
          <a:ln w="19050">
            <a:solidFill>
              <a:srgbClr val="6366F1"/>
            </a:solidFill>
            <a:prstDash val="solid"/>
          </a:ln>
        </p:spPr>
      </p:sp>
      <p:sp>
        <p:nvSpPr>
          <p:cNvPr id="7" name="Shape 5"/>
          <p:cNvSpPr/>
          <p:nvPr/>
        </p:nvSpPr>
        <p:spPr>
          <a:xfrm>
            <a:off x="201168" y="1115568"/>
            <a:ext cx="2834640" cy="365760"/>
          </a:xfrm>
          <a:prstGeom prst="rect">
            <a:avLst/>
          </a:prstGeom>
          <a:solidFill>
            <a:srgbClr val="6366F1"/>
          </a:solidFill>
          <a:ln w="12700">
            <a:solidFill>
              <a:srgbClr val="6366F1"/>
            </a:solidFill>
            <a:prstDash val="solid"/>
          </a:ln>
        </p:spPr>
      </p:sp>
      <p:sp>
        <p:nvSpPr>
          <p:cNvPr id="8" name="Text 6"/>
          <p:cNvSpPr/>
          <p:nvPr/>
        </p:nvSpPr>
        <p:spPr>
          <a:xfrm>
            <a:off x="292608" y="1115568"/>
            <a:ext cx="2651760" cy="365760"/>
          </a:xfrm>
          <a:prstGeom prst="rect">
            <a:avLst/>
          </a:prstGeom>
          <a:noFill/>
          <a:ln/>
        </p:spPr>
        <p:txBody>
          <a:bodyPr wrap="square" lIns="0" tIns="0" rIns="0" bIns="0" rtlCol="0" anchor="ctr"/>
          <a:lstStyle/>
          <a:p>
            <a:pPr marL="0" indent="0">
              <a:buNone/>
            </a:pPr>
            <a:r>
              <a:rPr lang="en-US" sz="1250" b="1" dirty="0">
                <a:solidFill>
                  <a:srgbClr val="FFFFFF"/>
                </a:solidFill>
              </a:rPr>
              <a:t>Supervised Learning</a:t>
            </a:r>
            <a:endParaRPr lang="en-US" sz="1250" dirty="0"/>
          </a:p>
        </p:txBody>
      </p:sp>
      <p:sp>
        <p:nvSpPr>
          <p:cNvPr id="9" name="Text 7"/>
          <p:cNvSpPr/>
          <p:nvPr/>
        </p:nvSpPr>
        <p:spPr>
          <a:xfrm>
            <a:off x="310896" y="1554480"/>
            <a:ext cx="2606040" cy="822960"/>
          </a:xfrm>
          <a:prstGeom prst="rect">
            <a:avLst/>
          </a:prstGeom>
          <a:noFill/>
          <a:ln/>
        </p:spPr>
        <p:txBody>
          <a:bodyPr wrap="square" lIns="0" tIns="0" rIns="0" bIns="0" rtlCol="0" anchor="ctr"/>
          <a:lstStyle/>
          <a:p>
            <a:pPr marL="0" indent="0">
              <a:buNone/>
            </a:pPr>
            <a:r>
              <a:rPr lang="en-US" sz="1050" dirty="0">
                <a:solidFill>
                  <a:srgbClr val="CBD5E1"/>
                </a:solidFill>
              </a:rPr>
              <a:t>The model is trained on labeled input-output pairs. The algorithm learns a mapping function from inputs to outputs.</a:t>
            </a:r>
            <a:endParaRPr lang="en-US" sz="1050" dirty="0"/>
          </a:p>
        </p:txBody>
      </p:sp>
      <p:sp>
        <p:nvSpPr>
          <p:cNvPr id="10" name="Text 8"/>
          <p:cNvSpPr/>
          <p:nvPr/>
        </p:nvSpPr>
        <p:spPr>
          <a:xfrm>
            <a:off x="310896" y="2414016"/>
            <a:ext cx="2606040" cy="201168"/>
          </a:xfrm>
          <a:prstGeom prst="rect">
            <a:avLst/>
          </a:prstGeom>
          <a:noFill/>
          <a:ln/>
        </p:spPr>
        <p:txBody>
          <a:bodyPr wrap="square" lIns="0" tIns="0" rIns="0" bIns="0" rtlCol="0" anchor="ctr"/>
          <a:lstStyle/>
          <a:p>
            <a:pPr marL="0" indent="0">
              <a:buNone/>
            </a:pPr>
            <a:r>
              <a:rPr lang="en-US" sz="1000" b="1" dirty="0">
                <a:solidFill>
                  <a:srgbClr val="6366F1"/>
                </a:solidFill>
              </a:rPr>
              <a:t>Examples:</a:t>
            </a:r>
            <a:endParaRPr lang="en-US" sz="1000" dirty="0"/>
          </a:p>
        </p:txBody>
      </p:sp>
      <p:sp>
        <p:nvSpPr>
          <p:cNvPr id="11" name="Text 9"/>
          <p:cNvSpPr/>
          <p:nvPr/>
        </p:nvSpPr>
        <p:spPr>
          <a:xfrm>
            <a:off x="310896" y="2651760"/>
            <a:ext cx="2606040" cy="868680"/>
          </a:xfrm>
          <a:prstGeom prst="rect">
            <a:avLst/>
          </a:prstGeom>
          <a:noFill/>
          <a:ln/>
        </p:spPr>
        <p:txBody>
          <a:bodyPr wrap="square" rtlCol="0" anchor="ctr"/>
          <a:lstStyle/>
          <a:p>
            <a:pPr marL="342900" indent="-342900">
              <a:buSzPct val="100000"/>
              <a:buChar char="•"/>
            </a:pPr>
            <a:r>
              <a:rPr lang="en-US" sz="1000" dirty="0">
                <a:solidFill>
                  <a:srgbClr val="CBD5E1"/>
                </a:solidFill>
              </a:rPr>
              <a:t>Classification (spam detection)</a:t>
            </a:r>
            <a:endParaRPr lang="en-US" sz="1000" dirty="0"/>
          </a:p>
          <a:p>
            <a:pPr marL="342900" indent="-342900">
              <a:buSzPct val="100000"/>
              <a:buChar char="•"/>
            </a:pPr>
            <a:r>
              <a:rPr lang="en-US" sz="1000" dirty="0">
                <a:solidFill>
                  <a:srgbClr val="CBD5E1"/>
                </a:solidFill>
              </a:rPr>
              <a:t>Regression (house price prediction)</a:t>
            </a:r>
            <a:endParaRPr lang="en-US" sz="1000" dirty="0"/>
          </a:p>
          <a:p>
            <a:pPr marL="342900" indent="-342900">
              <a:buSzPct val="100000"/>
              <a:buChar char="•"/>
            </a:pPr>
            <a:r>
              <a:rPr lang="en-US" sz="1000" dirty="0">
                <a:solidFill>
                  <a:srgbClr val="CBD5E1"/>
                </a:solidFill>
              </a:rPr>
              <a:t>Decision Trees, SVMs, Neural Nets</a:t>
            </a:r>
            <a:endParaRPr lang="en-US" sz="1000" dirty="0"/>
          </a:p>
        </p:txBody>
      </p:sp>
      <p:sp>
        <p:nvSpPr>
          <p:cNvPr id="12" name="Shape 10"/>
          <p:cNvSpPr/>
          <p:nvPr/>
        </p:nvSpPr>
        <p:spPr>
          <a:xfrm>
            <a:off x="292608" y="4361688"/>
            <a:ext cx="2651760" cy="411480"/>
          </a:xfrm>
          <a:prstGeom prst="rect">
            <a:avLst/>
          </a:prstGeom>
          <a:solidFill>
            <a:srgbClr val="6366F1">
              <a:alpha val="15000"/>
            </a:srgbClr>
          </a:solidFill>
          <a:ln w="12700">
            <a:solidFill>
              <a:srgbClr val="6366F1"/>
            </a:solidFill>
            <a:prstDash val="solid"/>
          </a:ln>
        </p:spPr>
      </p:sp>
      <p:sp>
        <p:nvSpPr>
          <p:cNvPr id="13" name="Text 11"/>
          <p:cNvSpPr/>
          <p:nvPr/>
        </p:nvSpPr>
        <p:spPr>
          <a:xfrm>
            <a:off x="310896" y="4361688"/>
            <a:ext cx="2606040" cy="411480"/>
          </a:xfrm>
          <a:prstGeom prst="rect">
            <a:avLst/>
          </a:prstGeom>
          <a:noFill/>
          <a:ln/>
        </p:spPr>
        <p:txBody>
          <a:bodyPr wrap="square" lIns="0" tIns="0" rIns="0" bIns="0" rtlCol="0" anchor="ctr"/>
          <a:lstStyle/>
          <a:p>
            <a:pPr marL="0" indent="0">
              <a:buNone/>
            </a:pPr>
            <a:r>
              <a:rPr lang="en-US" sz="950" i="1" dirty="0">
                <a:solidFill>
                  <a:srgbClr val="6366F1"/>
                </a:solidFill>
              </a:rPr>
              <a:t>Like a student learning with an answer key</a:t>
            </a:r>
            <a:endParaRPr lang="en-US" sz="950" dirty="0"/>
          </a:p>
        </p:txBody>
      </p:sp>
      <p:sp>
        <p:nvSpPr>
          <p:cNvPr id="14" name="Shape 12"/>
          <p:cNvSpPr/>
          <p:nvPr/>
        </p:nvSpPr>
        <p:spPr>
          <a:xfrm>
            <a:off x="3172968" y="1115568"/>
            <a:ext cx="2834640" cy="3794760"/>
          </a:xfrm>
          <a:prstGeom prst="rect">
            <a:avLst/>
          </a:prstGeom>
          <a:solidFill>
            <a:srgbClr val="1A2235"/>
          </a:solidFill>
          <a:ln w="19050">
            <a:solidFill>
              <a:srgbClr val="14B8A6"/>
            </a:solidFill>
            <a:prstDash val="solid"/>
          </a:ln>
        </p:spPr>
      </p:sp>
      <p:sp>
        <p:nvSpPr>
          <p:cNvPr id="15" name="Shape 13"/>
          <p:cNvSpPr/>
          <p:nvPr/>
        </p:nvSpPr>
        <p:spPr>
          <a:xfrm>
            <a:off x="3172968" y="1115568"/>
            <a:ext cx="2834640" cy="365760"/>
          </a:xfrm>
          <a:prstGeom prst="rect">
            <a:avLst/>
          </a:prstGeom>
          <a:solidFill>
            <a:srgbClr val="14B8A6"/>
          </a:solidFill>
          <a:ln w="12700">
            <a:solidFill>
              <a:srgbClr val="14B8A6"/>
            </a:solidFill>
            <a:prstDash val="solid"/>
          </a:ln>
        </p:spPr>
      </p:sp>
      <p:sp>
        <p:nvSpPr>
          <p:cNvPr id="16" name="Text 14"/>
          <p:cNvSpPr/>
          <p:nvPr/>
        </p:nvSpPr>
        <p:spPr>
          <a:xfrm>
            <a:off x="3264408" y="1115568"/>
            <a:ext cx="2651760" cy="365760"/>
          </a:xfrm>
          <a:prstGeom prst="rect">
            <a:avLst/>
          </a:prstGeom>
          <a:noFill/>
          <a:ln/>
        </p:spPr>
        <p:txBody>
          <a:bodyPr wrap="square" lIns="0" tIns="0" rIns="0" bIns="0" rtlCol="0" anchor="ctr"/>
          <a:lstStyle/>
          <a:p>
            <a:pPr marL="0" indent="0">
              <a:buNone/>
            </a:pPr>
            <a:r>
              <a:rPr lang="en-US" sz="1250" b="1" dirty="0">
                <a:solidFill>
                  <a:srgbClr val="FFFFFF"/>
                </a:solidFill>
              </a:rPr>
              <a:t>Unsupervised Learning</a:t>
            </a:r>
            <a:endParaRPr lang="en-US" sz="1250" dirty="0"/>
          </a:p>
        </p:txBody>
      </p:sp>
      <p:sp>
        <p:nvSpPr>
          <p:cNvPr id="17" name="Text 15"/>
          <p:cNvSpPr/>
          <p:nvPr/>
        </p:nvSpPr>
        <p:spPr>
          <a:xfrm>
            <a:off x="3282696" y="1554480"/>
            <a:ext cx="2606040" cy="822960"/>
          </a:xfrm>
          <a:prstGeom prst="rect">
            <a:avLst/>
          </a:prstGeom>
          <a:noFill/>
          <a:ln/>
        </p:spPr>
        <p:txBody>
          <a:bodyPr wrap="square" lIns="0" tIns="0" rIns="0" bIns="0" rtlCol="0" anchor="ctr"/>
          <a:lstStyle/>
          <a:p>
            <a:pPr marL="0" indent="0">
              <a:buNone/>
            </a:pPr>
            <a:r>
              <a:rPr lang="en-US" sz="1050" dirty="0">
                <a:solidFill>
                  <a:srgbClr val="CBD5E1"/>
                </a:solidFill>
              </a:rPr>
              <a:t>The model discovers hidden patterns and structures in data without any pre-existing labels or guidance.</a:t>
            </a:r>
            <a:endParaRPr lang="en-US" sz="1050" dirty="0"/>
          </a:p>
        </p:txBody>
      </p:sp>
      <p:sp>
        <p:nvSpPr>
          <p:cNvPr id="18" name="Text 16"/>
          <p:cNvSpPr/>
          <p:nvPr/>
        </p:nvSpPr>
        <p:spPr>
          <a:xfrm>
            <a:off x="3282696" y="2414016"/>
            <a:ext cx="2606040" cy="201168"/>
          </a:xfrm>
          <a:prstGeom prst="rect">
            <a:avLst/>
          </a:prstGeom>
          <a:noFill/>
          <a:ln/>
        </p:spPr>
        <p:txBody>
          <a:bodyPr wrap="square" lIns="0" tIns="0" rIns="0" bIns="0" rtlCol="0" anchor="ctr"/>
          <a:lstStyle/>
          <a:p>
            <a:pPr marL="0" indent="0">
              <a:buNone/>
            </a:pPr>
            <a:r>
              <a:rPr lang="en-US" sz="1000" b="1" dirty="0">
                <a:solidFill>
                  <a:srgbClr val="14B8A6"/>
                </a:solidFill>
              </a:rPr>
              <a:t>Examples:</a:t>
            </a:r>
            <a:endParaRPr lang="en-US" sz="1000" dirty="0"/>
          </a:p>
        </p:txBody>
      </p:sp>
      <p:sp>
        <p:nvSpPr>
          <p:cNvPr id="19" name="Text 17"/>
          <p:cNvSpPr/>
          <p:nvPr/>
        </p:nvSpPr>
        <p:spPr>
          <a:xfrm>
            <a:off x="3282696" y="2651760"/>
            <a:ext cx="2606040" cy="868680"/>
          </a:xfrm>
          <a:prstGeom prst="rect">
            <a:avLst/>
          </a:prstGeom>
          <a:noFill/>
          <a:ln/>
        </p:spPr>
        <p:txBody>
          <a:bodyPr wrap="square" rtlCol="0" anchor="ctr"/>
          <a:lstStyle/>
          <a:p>
            <a:pPr marL="342900" indent="-342900">
              <a:buSzPct val="100000"/>
              <a:buChar char="•"/>
            </a:pPr>
            <a:r>
              <a:rPr lang="en-US" sz="1000" dirty="0">
                <a:solidFill>
                  <a:srgbClr val="CBD5E1"/>
                </a:solidFill>
              </a:rPr>
              <a:t>Clustering (customer segmentation)</a:t>
            </a:r>
            <a:endParaRPr lang="en-US" sz="1000" dirty="0"/>
          </a:p>
          <a:p>
            <a:pPr marL="342900" indent="-342900">
              <a:buSzPct val="100000"/>
              <a:buChar char="•"/>
            </a:pPr>
            <a:r>
              <a:rPr lang="en-US" sz="1000" dirty="0">
                <a:solidFill>
                  <a:srgbClr val="CBD5E1"/>
                </a:solidFill>
              </a:rPr>
              <a:t>Dimensionality reduction (PCA)</a:t>
            </a:r>
            <a:endParaRPr lang="en-US" sz="1000" dirty="0"/>
          </a:p>
          <a:p>
            <a:pPr marL="342900" indent="-342900">
              <a:buSzPct val="100000"/>
              <a:buChar char="•"/>
            </a:pPr>
            <a:r>
              <a:rPr lang="en-US" sz="1000" dirty="0">
                <a:solidFill>
                  <a:srgbClr val="CBD5E1"/>
                </a:solidFill>
              </a:rPr>
              <a:t>Generative models (GANs)</a:t>
            </a:r>
            <a:endParaRPr lang="en-US" sz="1000" dirty="0"/>
          </a:p>
        </p:txBody>
      </p:sp>
      <p:sp>
        <p:nvSpPr>
          <p:cNvPr id="20" name="Shape 18"/>
          <p:cNvSpPr/>
          <p:nvPr/>
        </p:nvSpPr>
        <p:spPr>
          <a:xfrm>
            <a:off x="3264408" y="4361688"/>
            <a:ext cx="2651760" cy="411480"/>
          </a:xfrm>
          <a:prstGeom prst="rect">
            <a:avLst/>
          </a:prstGeom>
          <a:solidFill>
            <a:srgbClr val="14B8A6">
              <a:alpha val="15000"/>
            </a:srgbClr>
          </a:solidFill>
          <a:ln w="12700">
            <a:solidFill>
              <a:srgbClr val="14B8A6"/>
            </a:solidFill>
            <a:prstDash val="solid"/>
          </a:ln>
        </p:spPr>
      </p:sp>
      <p:sp>
        <p:nvSpPr>
          <p:cNvPr id="21" name="Text 19"/>
          <p:cNvSpPr/>
          <p:nvPr/>
        </p:nvSpPr>
        <p:spPr>
          <a:xfrm>
            <a:off x="3282696" y="4361688"/>
            <a:ext cx="2606040" cy="411480"/>
          </a:xfrm>
          <a:prstGeom prst="rect">
            <a:avLst/>
          </a:prstGeom>
          <a:noFill/>
          <a:ln/>
        </p:spPr>
        <p:txBody>
          <a:bodyPr wrap="square" lIns="0" tIns="0" rIns="0" bIns="0" rtlCol="0" anchor="ctr"/>
          <a:lstStyle/>
          <a:p>
            <a:pPr marL="0" indent="0">
              <a:buNone/>
            </a:pPr>
            <a:r>
              <a:rPr lang="en-US" sz="950" i="1" dirty="0">
                <a:solidFill>
                  <a:srgbClr val="14B8A6"/>
                </a:solidFill>
              </a:rPr>
              <a:t>Like exploring a new city without a map</a:t>
            </a:r>
            <a:endParaRPr lang="en-US" sz="950" dirty="0"/>
          </a:p>
        </p:txBody>
      </p:sp>
      <p:sp>
        <p:nvSpPr>
          <p:cNvPr id="22" name="Shape 20"/>
          <p:cNvSpPr/>
          <p:nvPr/>
        </p:nvSpPr>
        <p:spPr>
          <a:xfrm>
            <a:off x="6144768" y="1115568"/>
            <a:ext cx="2834640" cy="3794760"/>
          </a:xfrm>
          <a:prstGeom prst="rect">
            <a:avLst/>
          </a:prstGeom>
          <a:solidFill>
            <a:srgbClr val="1A2235"/>
          </a:solidFill>
          <a:ln w="19050">
            <a:solidFill>
              <a:srgbClr val="F59E0B"/>
            </a:solidFill>
            <a:prstDash val="solid"/>
          </a:ln>
        </p:spPr>
      </p:sp>
      <p:sp>
        <p:nvSpPr>
          <p:cNvPr id="23" name="Shape 21"/>
          <p:cNvSpPr/>
          <p:nvPr/>
        </p:nvSpPr>
        <p:spPr>
          <a:xfrm>
            <a:off x="6144768" y="1115568"/>
            <a:ext cx="2834640" cy="365760"/>
          </a:xfrm>
          <a:prstGeom prst="rect">
            <a:avLst/>
          </a:prstGeom>
          <a:solidFill>
            <a:srgbClr val="F59E0B"/>
          </a:solidFill>
          <a:ln w="12700">
            <a:solidFill>
              <a:srgbClr val="F59E0B"/>
            </a:solidFill>
            <a:prstDash val="solid"/>
          </a:ln>
        </p:spPr>
      </p:sp>
      <p:sp>
        <p:nvSpPr>
          <p:cNvPr id="24" name="Text 22"/>
          <p:cNvSpPr/>
          <p:nvPr/>
        </p:nvSpPr>
        <p:spPr>
          <a:xfrm>
            <a:off x="6236208" y="1115568"/>
            <a:ext cx="2651760" cy="365760"/>
          </a:xfrm>
          <a:prstGeom prst="rect">
            <a:avLst/>
          </a:prstGeom>
          <a:noFill/>
          <a:ln/>
        </p:spPr>
        <p:txBody>
          <a:bodyPr wrap="square" lIns="0" tIns="0" rIns="0" bIns="0" rtlCol="0" anchor="ctr"/>
          <a:lstStyle/>
          <a:p>
            <a:pPr marL="0" indent="0">
              <a:buNone/>
            </a:pPr>
            <a:r>
              <a:rPr lang="en-US" sz="1250" b="1" dirty="0">
                <a:solidFill>
                  <a:srgbClr val="FFFFFF"/>
                </a:solidFill>
              </a:rPr>
              <a:t>Reinforcement Learning</a:t>
            </a:r>
            <a:endParaRPr lang="en-US" sz="1250" dirty="0"/>
          </a:p>
        </p:txBody>
      </p:sp>
      <p:sp>
        <p:nvSpPr>
          <p:cNvPr id="25" name="Text 23"/>
          <p:cNvSpPr/>
          <p:nvPr/>
        </p:nvSpPr>
        <p:spPr>
          <a:xfrm>
            <a:off x="6254496" y="1554480"/>
            <a:ext cx="2606040" cy="822960"/>
          </a:xfrm>
          <a:prstGeom prst="rect">
            <a:avLst/>
          </a:prstGeom>
          <a:noFill/>
          <a:ln/>
        </p:spPr>
        <p:txBody>
          <a:bodyPr wrap="square" lIns="0" tIns="0" rIns="0" bIns="0" rtlCol="0" anchor="ctr"/>
          <a:lstStyle/>
          <a:p>
            <a:pPr marL="0" indent="0">
              <a:buNone/>
            </a:pPr>
            <a:r>
              <a:rPr lang="en-US" sz="1050" dirty="0">
                <a:solidFill>
                  <a:srgbClr val="CBD5E1"/>
                </a:solidFill>
              </a:rPr>
              <a:t>An agent learns to make decisions by interacting with an environment, receiving rewards or penalties for actions.</a:t>
            </a:r>
            <a:endParaRPr lang="en-US" sz="1050" dirty="0"/>
          </a:p>
        </p:txBody>
      </p:sp>
      <p:sp>
        <p:nvSpPr>
          <p:cNvPr id="26" name="Text 24"/>
          <p:cNvSpPr/>
          <p:nvPr/>
        </p:nvSpPr>
        <p:spPr>
          <a:xfrm>
            <a:off x="6254496" y="2414016"/>
            <a:ext cx="2606040" cy="201168"/>
          </a:xfrm>
          <a:prstGeom prst="rect">
            <a:avLst/>
          </a:prstGeom>
          <a:noFill/>
          <a:ln/>
        </p:spPr>
        <p:txBody>
          <a:bodyPr wrap="square" lIns="0" tIns="0" rIns="0" bIns="0" rtlCol="0" anchor="ctr"/>
          <a:lstStyle/>
          <a:p>
            <a:pPr marL="0" indent="0">
              <a:buNone/>
            </a:pPr>
            <a:r>
              <a:rPr lang="en-US" sz="1000" b="1" dirty="0">
                <a:solidFill>
                  <a:srgbClr val="F59E0B"/>
                </a:solidFill>
              </a:rPr>
              <a:t>Examples:</a:t>
            </a:r>
            <a:endParaRPr lang="en-US" sz="1000" dirty="0"/>
          </a:p>
        </p:txBody>
      </p:sp>
      <p:sp>
        <p:nvSpPr>
          <p:cNvPr id="27" name="Text 25"/>
          <p:cNvSpPr/>
          <p:nvPr/>
        </p:nvSpPr>
        <p:spPr>
          <a:xfrm>
            <a:off x="6254496" y="2651760"/>
            <a:ext cx="2606040" cy="868680"/>
          </a:xfrm>
          <a:prstGeom prst="rect">
            <a:avLst/>
          </a:prstGeom>
          <a:noFill/>
          <a:ln/>
        </p:spPr>
        <p:txBody>
          <a:bodyPr wrap="square" rtlCol="0" anchor="ctr"/>
          <a:lstStyle/>
          <a:p>
            <a:pPr marL="342900" indent="-342900">
              <a:buSzPct val="100000"/>
              <a:buChar char="•"/>
            </a:pPr>
            <a:r>
              <a:rPr lang="en-US" sz="1000" dirty="0">
                <a:solidFill>
                  <a:srgbClr val="CBD5E1"/>
                </a:solidFill>
              </a:rPr>
              <a:t>Game playing (AlphaGo, Atari)</a:t>
            </a:r>
            <a:endParaRPr lang="en-US" sz="1000" dirty="0"/>
          </a:p>
          <a:p>
            <a:pPr marL="342900" indent="-342900">
              <a:buSzPct val="100000"/>
              <a:buChar char="•"/>
            </a:pPr>
            <a:r>
              <a:rPr lang="en-US" sz="1000" dirty="0">
                <a:solidFill>
                  <a:srgbClr val="CBD5E1"/>
                </a:solidFill>
              </a:rPr>
              <a:t>Robotics and motion control</a:t>
            </a:r>
            <a:endParaRPr lang="en-US" sz="1000" dirty="0"/>
          </a:p>
          <a:p>
            <a:pPr marL="342900" indent="-342900">
              <a:buSzPct val="100000"/>
              <a:buChar char="•"/>
            </a:pPr>
            <a:r>
              <a:rPr lang="en-US" sz="1000" dirty="0">
                <a:solidFill>
                  <a:srgbClr val="CBD5E1"/>
                </a:solidFill>
              </a:rPr>
              <a:t>Autonomous driving strategies</a:t>
            </a:r>
            <a:endParaRPr lang="en-US" sz="1000" dirty="0"/>
          </a:p>
        </p:txBody>
      </p:sp>
      <p:sp>
        <p:nvSpPr>
          <p:cNvPr id="28" name="Shape 26"/>
          <p:cNvSpPr/>
          <p:nvPr/>
        </p:nvSpPr>
        <p:spPr>
          <a:xfrm>
            <a:off x="6236208" y="4361688"/>
            <a:ext cx="2651760" cy="411480"/>
          </a:xfrm>
          <a:prstGeom prst="rect">
            <a:avLst/>
          </a:prstGeom>
          <a:solidFill>
            <a:srgbClr val="F59E0B">
              <a:alpha val="15000"/>
            </a:srgbClr>
          </a:solidFill>
          <a:ln w="12700">
            <a:solidFill>
              <a:srgbClr val="F59E0B"/>
            </a:solidFill>
            <a:prstDash val="solid"/>
          </a:ln>
        </p:spPr>
      </p:sp>
      <p:sp>
        <p:nvSpPr>
          <p:cNvPr id="29" name="Text 27"/>
          <p:cNvSpPr/>
          <p:nvPr/>
        </p:nvSpPr>
        <p:spPr>
          <a:xfrm>
            <a:off x="6254496" y="4361688"/>
            <a:ext cx="2606040" cy="411480"/>
          </a:xfrm>
          <a:prstGeom prst="rect">
            <a:avLst/>
          </a:prstGeom>
          <a:noFill/>
          <a:ln/>
        </p:spPr>
        <p:txBody>
          <a:bodyPr wrap="square" lIns="0" tIns="0" rIns="0" bIns="0" rtlCol="0" anchor="ctr"/>
          <a:lstStyle/>
          <a:p>
            <a:pPr marL="0" indent="0">
              <a:buNone/>
            </a:pPr>
            <a:r>
              <a:rPr lang="en-US" sz="950" i="1" dirty="0">
                <a:solidFill>
                  <a:srgbClr val="F59E0B"/>
                </a:solidFill>
              </a:rPr>
              <a:t>Like training a dog with treats</a:t>
            </a:r>
            <a:endParaRPr lang="en-US" sz="950" dirty="0"/>
          </a:p>
        </p:txBody>
      </p:sp>
      <p:sp>
        <p:nvSpPr>
          <p:cNvPr id="30" name="Shape 28"/>
          <p:cNvSpPr/>
          <p:nvPr/>
        </p:nvSpPr>
        <p:spPr>
          <a:xfrm>
            <a:off x="201168" y="4754880"/>
            <a:ext cx="8741664" cy="274320"/>
          </a:xfrm>
          <a:prstGeom prst="rect">
            <a:avLst/>
          </a:prstGeom>
          <a:solidFill>
            <a:srgbClr val="1E2A40"/>
          </a:solidFill>
          <a:ln w="12700">
            <a:solidFill>
              <a:srgbClr val="1E2A40"/>
            </a:solidFill>
            <a:prstDash val="solid"/>
          </a:ln>
        </p:spPr>
      </p:sp>
      <p:sp>
        <p:nvSpPr>
          <p:cNvPr id="31" name="Text 29"/>
          <p:cNvSpPr/>
          <p:nvPr/>
        </p:nvSpPr>
        <p:spPr>
          <a:xfrm>
            <a:off x="274320" y="4754880"/>
            <a:ext cx="8595360" cy="274320"/>
          </a:xfrm>
          <a:prstGeom prst="rect">
            <a:avLst/>
          </a:prstGeom>
          <a:noFill/>
          <a:ln/>
        </p:spPr>
        <p:txBody>
          <a:bodyPr wrap="square" lIns="0" tIns="0" rIns="0" bIns="0" rtlCol="0" anchor="ctr"/>
          <a:lstStyle/>
          <a:p>
            <a:pPr marL="0" indent="0">
              <a:buNone/>
            </a:pPr>
            <a:r>
              <a:rPr lang="en-US" sz="950" i="1" dirty="0">
                <a:solidFill>
                  <a:srgbClr val="64748B"/>
                </a:solidFill>
              </a:rPr>
              <a:t>+ Semi-Supervised Learning combines small amounts of labeled data with large amounts of unlabeled data for training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A40"/>
          </a:solidFill>
          <a:ln w="12700">
            <a:solidFill>
              <a:srgbClr val="1E2A40"/>
            </a:solidFill>
            <a:prstDash val="solid"/>
          </a:ln>
        </p:spPr>
      </p:sp>
      <p:sp>
        <p:nvSpPr>
          <p:cNvPr id="3" name="Shape 1"/>
          <p:cNvSpPr/>
          <p:nvPr/>
        </p:nvSpPr>
        <p:spPr>
          <a:xfrm>
            <a:off x="0" y="0"/>
            <a:ext cx="54864" cy="1005840"/>
          </a:xfrm>
          <a:prstGeom prst="rect">
            <a:avLst/>
          </a:prstGeom>
          <a:solidFill>
            <a:srgbClr val="14B8A6"/>
          </a:solidFill>
          <a:ln w="12700">
            <a:solidFill>
              <a:srgbClr val="14B8A6"/>
            </a:solidFill>
            <a:prstDash val="solid"/>
          </a:ln>
        </p:spPr>
      </p:sp>
      <p:sp>
        <p:nvSpPr>
          <p:cNvPr id="4" name="Text 2"/>
          <p:cNvSpPr/>
          <p:nvPr/>
        </p:nvSpPr>
        <p:spPr>
          <a:xfrm>
            <a:off x="137160" y="0"/>
            <a:ext cx="731520" cy="1005840"/>
          </a:xfrm>
          <a:prstGeom prst="rect">
            <a:avLst/>
          </a:prstGeom>
          <a:noFill/>
          <a:ln/>
        </p:spPr>
        <p:txBody>
          <a:bodyPr wrap="square" lIns="0" tIns="0" rIns="0" bIns="0" rtlCol="0" anchor="ctr"/>
          <a:lstStyle/>
          <a:p>
            <a:pPr marL="0" indent="0">
              <a:buNone/>
            </a:pPr>
            <a:r>
              <a:rPr lang="en-US" sz="3800" b="1" dirty="0">
                <a:solidFill>
                  <a:srgbClr val="14B8A6"/>
                </a:solidFill>
              </a:rPr>
              <a:t>05</a:t>
            </a:r>
            <a:endParaRPr lang="en-US" sz="3800" dirty="0"/>
          </a:p>
        </p:txBody>
      </p:sp>
      <p:sp>
        <p:nvSpPr>
          <p:cNvPr id="5" name="Text 3"/>
          <p:cNvSpPr/>
          <p:nvPr/>
        </p:nvSpPr>
        <p:spPr>
          <a:xfrm>
            <a:off x="1005840" y="0"/>
            <a:ext cx="77724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Abstraction &amp; Knowledge Representation</a:t>
            </a:r>
            <a:endParaRPr lang="en-US" sz="2600" dirty="0"/>
          </a:p>
        </p:txBody>
      </p:sp>
      <p:sp>
        <p:nvSpPr>
          <p:cNvPr id="6" name="Shape 4"/>
          <p:cNvSpPr/>
          <p:nvPr/>
        </p:nvSpPr>
        <p:spPr>
          <a:xfrm>
            <a:off x="274320" y="1097280"/>
            <a:ext cx="3977640" cy="365760"/>
          </a:xfrm>
          <a:prstGeom prst="rect">
            <a:avLst/>
          </a:prstGeom>
          <a:solidFill>
            <a:srgbClr val="14B8A6"/>
          </a:solidFill>
          <a:ln w="12700">
            <a:solidFill>
              <a:srgbClr val="14B8A6"/>
            </a:solidFill>
            <a:prstDash val="solid"/>
          </a:ln>
        </p:spPr>
      </p:sp>
      <p:sp>
        <p:nvSpPr>
          <p:cNvPr id="7" name="Text 5"/>
          <p:cNvSpPr/>
          <p:nvPr/>
        </p:nvSpPr>
        <p:spPr>
          <a:xfrm>
            <a:off x="274320" y="1097280"/>
            <a:ext cx="3977640" cy="365760"/>
          </a:xfrm>
          <a:prstGeom prst="rect">
            <a:avLst/>
          </a:prstGeom>
          <a:noFill/>
          <a:ln/>
        </p:spPr>
        <p:txBody>
          <a:bodyPr wrap="square" lIns="0" tIns="0" rIns="0" bIns="0" rtlCol="0" anchor="ctr"/>
          <a:lstStyle/>
          <a:p>
            <a:pPr marL="0" indent="0" algn="ctr">
              <a:buNone/>
            </a:pPr>
            <a:r>
              <a:rPr lang="en-US" sz="1300" b="1" dirty="0">
                <a:solidFill>
                  <a:srgbClr val="FFFFFF"/>
                </a:solidFill>
              </a:rPr>
              <a:t>ABSTRACTION</a:t>
            </a:r>
            <a:endParaRPr lang="en-US" sz="1300" dirty="0"/>
          </a:p>
        </p:txBody>
      </p:sp>
      <p:sp>
        <p:nvSpPr>
          <p:cNvPr id="8" name="Shape 6"/>
          <p:cNvSpPr/>
          <p:nvPr/>
        </p:nvSpPr>
        <p:spPr>
          <a:xfrm>
            <a:off x="274320" y="1463040"/>
            <a:ext cx="3977640" cy="3383280"/>
          </a:xfrm>
          <a:prstGeom prst="rect">
            <a:avLst/>
          </a:prstGeom>
          <a:solidFill>
            <a:srgbClr val="1A2235"/>
          </a:solidFill>
          <a:ln w="12700">
            <a:solidFill>
              <a:srgbClr val="14B8A6"/>
            </a:solidFill>
            <a:prstDash val="solid"/>
          </a:ln>
        </p:spPr>
      </p:sp>
      <p:sp>
        <p:nvSpPr>
          <p:cNvPr id="9" name="Text 7"/>
          <p:cNvSpPr/>
          <p:nvPr/>
        </p:nvSpPr>
        <p:spPr>
          <a:xfrm>
            <a:off x="411480" y="1554480"/>
            <a:ext cx="3749040" cy="3200400"/>
          </a:xfrm>
          <a:prstGeom prst="rect">
            <a:avLst/>
          </a:prstGeom>
          <a:noFill/>
          <a:ln/>
        </p:spPr>
        <p:txBody>
          <a:bodyPr wrap="square" rtlCol="0" anchor="ctr"/>
          <a:lstStyle/>
          <a:p>
            <a:pPr marL="0" indent="0">
              <a:buNone/>
            </a:pPr>
            <a:r>
              <a:rPr lang="en-US" sz="1200" b="1" dirty="0">
                <a:solidFill>
                  <a:srgbClr val="14B8A6"/>
                </a:solidFill>
              </a:rPr>
              <a:t>What is Abstraction?
</a:t>
            </a:r>
            <a:endParaRPr lang="en-US" sz="1200" dirty="0"/>
          </a:p>
          <a:p>
            <a:pPr marL="0" indent="0">
              <a:buNone/>
            </a:pPr>
            <a:r>
              <a:rPr lang="en-US" sz="1100" dirty="0">
                <a:solidFill>
                  <a:srgbClr val="CBD5E1"/>
                </a:solidFill>
              </a:rPr>
              <a:t>Abstraction is the process of transforming raw data into a higher-level, simplified representation. ML models must abstract away noise to capture essential structure.
</a:t>
            </a:r>
            <a:endParaRPr lang="en-US" sz="1200" dirty="0"/>
          </a:p>
          <a:p>
            <a:pPr marL="0" indent="0">
              <a:buNone/>
            </a:pPr>
            <a:r>
              <a:rPr lang="en-US" sz="1100" b="1" dirty="0">
                <a:solidFill>
                  <a:srgbClr val="FFFFFF"/>
                </a:solidFill>
              </a:rPr>
              <a:t>Levels of Abstraction:
</a:t>
            </a:r>
            <a:endParaRPr lang="en-US" sz="1200" dirty="0"/>
          </a:p>
          <a:p>
            <a:pPr marL="0" indent="0">
              <a:buNone/>
            </a:pPr>
            <a:r>
              <a:rPr lang="en-US" sz="1050" dirty="0">
                <a:solidFill>
                  <a:srgbClr val="CBD5E1"/>
                </a:solidFill>
              </a:rPr>
              <a:t>• Raw Data: pixels, words, numbers
</a:t>
            </a:r>
            <a:endParaRPr lang="en-US" sz="1200" dirty="0"/>
          </a:p>
          <a:p>
            <a:pPr marL="0" indent="0">
              <a:buNone/>
            </a:pPr>
            <a:r>
              <a:rPr lang="en-US" sz="1050" dirty="0">
                <a:solidFill>
                  <a:srgbClr val="CBD5E1"/>
                </a:solidFill>
              </a:rPr>
              <a:t>• Features: edges, frequencies, patterns
</a:t>
            </a:r>
            <a:endParaRPr lang="en-US" sz="1200" dirty="0"/>
          </a:p>
          <a:p>
            <a:pPr marL="0" indent="0">
              <a:buNone/>
            </a:pPr>
            <a:r>
              <a:rPr lang="en-US" sz="1050" dirty="0">
                <a:solidFill>
                  <a:srgbClr val="CBD5E1"/>
                </a:solidFill>
              </a:rPr>
              <a:t>• Concepts: objects, sentiment, categories
</a:t>
            </a:r>
            <a:endParaRPr lang="en-US" sz="1200" dirty="0"/>
          </a:p>
          <a:p>
            <a:pPr marL="0" indent="0">
              <a:buNone/>
            </a:pPr>
            <a:r>
              <a:rPr lang="en-US" sz="1050" dirty="0">
                <a:solidFill>
                  <a:srgbClr val="CBD5E1"/>
                </a:solidFill>
              </a:rPr>
              <a:t>• Decisions: actions, predictions, labels
</a:t>
            </a:r>
            <a:endParaRPr lang="en-US" sz="1200" dirty="0"/>
          </a:p>
          <a:p>
            <a:pPr marL="0" indent="0">
              <a:buNone/>
            </a:pPr>
            <a:r>
              <a:rPr lang="en-US" sz="1000" i="1" dirty="0">
                <a:solidFill>
                  <a:srgbClr val="94A3B8"/>
                </a:solidFill>
              </a:rPr>
              <a:t>Deep neural networks achieve abstraction through hierarchical layers — each layer learns increasingly abstract representations.</a:t>
            </a:r>
            <a:endParaRPr lang="en-US" sz="1200" dirty="0"/>
          </a:p>
        </p:txBody>
      </p:sp>
      <p:sp>
        <p:nvSpPr>
          <p:cNvPr id="10" name="Shape 8"/>
          <p:cNvSpPr/>
          <p:nvPr/>
        </p:nvSpPr>
        <p:spPr>
          <a:xfrm>
            <a:off x="4572000" y="1097280"/>
            <a:ext cx="4297680" cy="365760"/>
          </a:xfrm>
          <a:prstGeom prst="rect">
            <a:avLst/>
          </a:prstGeom>
          <a:solidFill>
            <a:srgbClr val="6366F1"/>
          </a:solidFill>
          <a:ln w="12700">
            <a:solidFill>
              <a:srgbClr val="6366F1"/>
            </a:solidFill>
            <a:prstDash val="solid"/>
          </a:ln>
        </p:spPr>
      </p:sp>
      <p:sp>
        <p:nvSpPr>
          <p:cNvPr id="11" name="Text 9"/>
          <p:cNvSpPr/>
          <p:nvPr/>
        </p:nvSpPr>
        <p:spPr>
          <a:xfrm>
            <a:off x="4572000" y="1097280"/>
            <a:ext cx="4297680" cy="365760"/>
          </a:xfrm>
          <a:prstGeom prst="rect">
            <a:avLst/>
          </a:prstGeom>
          <a:noFill/>
          <a:ln/>
        </p:spPr>
        <p:txBody>
          <a:bodyPr wrap="square" lIns="0" tIns="0" rIns="0" bIns="0" rtlCol="0" anchor="ctr"/>
          <a:lstStyle/>
          <a:p>
            <a:pPr marL="0" indent="0" algn="ctr">
              <a:buNone/>
            </a:pPr>
            <a:r>
              <a:rPr lang="en-US" sz="1300" b="1" dirty="0">
                <a:solidFill>
                  <a:srgbClr val="FFFFFF"/>
                </a:solidFill>
              </a:rPr>
              <a:t>KNOWLEDGE REPRESENTATION</a:t>
            </a:r>
            <a:endParaRPr lang="en-US" sz="1300" dirty="0"/>
          </a:p>
        </p:txBody>
      </p:sp>
      <p:sp>
        <p:nvSpPr>
          <p:cNvPr id="12" name="Shape 10"/>
          <p:cNvSpPr/>
          <p:nvPr/>
        </p:nvSpPr>
        <p:spPr>
          <a:xfrm>
            <a:off x="4572000" y="1463040"/>
            <a:ext cx="4297680" cy="3383280"/>
          </a:xfrm>
          <a:prstGeom prst="rect">
            <a:avLst/>
          </a:prstGeom>
          <a:solidFill>
            <a:srgbClr val="1A2235"/>
          </a:solidFill>
          <a:ln w="12700">
            <a:solidFill>
              <a:srgbClr val="6366F1"/>
            </a:solidFill>
            <a:prstDash val="solid"/>
          </a:ln>
        </p:spPr>
      </p:sp>
      <p:sp>
        <p:nvSpPr>
          <p:cNvPr id="13" name="Text 11"/>
          <p:cNvSpPr/>
          <p:nvPr/>
        </p:nvSpPr>
        <p:spPr>
          <a:xfrm>
            <a:off x="4681728" y="1536192"/>
            <a:ext cx="4069080" cy="256032"/>
          </a:xfrm>
          <a:prstGeom prst="rect">
            <a:avLst/>
          </a:prstGeom>
          <a:noFill/>
          <a:ln/>
        </p:spPr>
        <p:txBody>
          <a:bodyPr wrap="square" lIns="0" tIns="0" rIns="0" bIns="0" rtlCol="0" anchor="ctr"/>
          <a:lstStyle/>
          <a:p>
            <a:pPr marL="0" indent="0">
              <a:buNone/>
            </a:pPr>
            <a:r>
              <a:rPr lang="en-US" sz="1100" b="1" dirty="0">
                <a:solidFill>
                  <a:srgbClr val="FFFFFF"/>
                </a:solidFill>
              </a:rPr>
              <a:t>Types of Knowledge Representation:</a:t>
            </a:r>
            <a:endParaRPr lang="en-US" sz="1100" dirty="0"/>
          </a:p>
        </p:txBody>
      </p:sp>
      <p:sp>
        <p:nvSpPr>
          <p:cNvPr id="14" name="Shape 12"/>
          <p:cNvSpPr/>
          <p:nvPr/>
        </p:nvSpPr>
        <p:spPr>
          <a:xfrm>
            <a:off x="4681728" y="1828800"/>
            <a:ext cx="4069080" cy="658368"/>
          </a:xfrm>
          <a:prstGeom prst="rect">
            <a:avLst/>
          </a:prstGeom>
          <a:solidFill>
            <a:srgbClr val="111827"/>
          </a:solidFill>
          <a:ln w="6350">
            <a:solidFill>
              <a:srgbClr val="6366F1"/>
            </a:solidFill>
            <a:prstDash val="solid"/>
          </a:ln>
        </p:spPr>
      </p:sp>
      <p:sp>
        <p:nvSpPr>
          <p:cNvPr id="15" name="Shape 13"/>
          <p:cNvSpPr/>
          <p:nvPr/>
        </p:nvSpPr>
        <p:spPr>
          <a:xfrm>
            <a:off x="4681728" y="1828800"/>
            <a:ext cx="45720" cy="658368"/>
          </a:xfrm>
          <a:prstGeom prst="rect">
            <a:avLst/>
          </a:prstGeom>
          <a:solidFill>
            <a:srgbClr val="6366F1"/>
          </a:solidFill>
          <a:ln w="12700">
            <a:solidFill>
              <a:srgbClr val="6366F1"/>
            </a:solidFill>
            <a:prstDash val="solid"/>
          </a:ln>
        </p:spPr>
      </p:sp>
      <p:sp>
        <p:nvSpPr>
          <p:cNvPr id="16" name="Text 14"/>
          <p:cNvSpPr/>
          <p:nvPr/>
        </p:nvSpPr>
        <p:spPr>
          <a:xfrm>
            <a:off x="4773168" y="1883664"/>
            <a:ext cx="3886200" cy="201168"/>
          </a:xfrm>
          <a:prstGeom prst="rect">
            <a:avLst/>
          </a:prstGeom>
          <a:noFill/>
          <a:ln/>
        </p:spPr>
        <p:txBody>
          <a:bodyPr wrap="square" lIns="0" tIns="0" rIns="0" bIns="0" rtlCol="0" anchor="ctr"/>
          <a:lstStyle/>
          <a:p>
            <a:pPr marL="0" indent="0">
              <a:buNone/>
            </a:pPr>
            <a:r>
              <a:rPr lang="en-US" sz="1100" b="1" dirty="0">
                <a:solidFill>
                  <a:srgbClr val="6366F1"/>
                </a:solidFill>
              </a:rPr>
              <a:t>Decision Trees</a:t>
            </a:r>
            <a:endParaRPr lang="en-US" sz="1100" dirty="0"/>
          </a:p>
        </p:txBody>
      </p:sp>
      <p:sp>
        <p:nvSpPr>
          <p:cNvPr id="17" name="Text 15"/>
          <p:cNvSpPr/>
          <p:nvPr/>
        </p:nvSpPr>
        <p:spPr>
          <a:xfrm>
            <a:off x="4773168" y="2103120"/>
            <a:ext cx="3886200" cy="329184"/>
          </a:xfrm>
          <a:prstGeom prst="rect">
            <a:avLst/>
          </a:prstGeom>
          <a:noFill/>
          <a:ln/>
        </p:spPr>
        <p:txBody>
          <a:bodyPr wrap="square" lIns="0" tIns="0" rIns="0" bIns="0" rtlCol="0" anchor="ctr"/>
          <a:lstStyle/>
          <a:p>
            <a:pPr marL="0" indent="0">
              <a:buNone/>
            </a:pPr>
            <a:r>
              <a:rPr lang="en-US" sz="950" dirty="0">
                <a:solidFill>
                  <a:srgbClr val="CBD5E1"/>
                </a:solidFill>
              </a:rPr>
              <a:t>Flowchart-like structure encoding if-then-else rules in a human-interpretable hierarchy</a:t>
            </a:r>
            <a:endParaRPr lang="en-US" sz="950" dirty="0"/>
          </a:p>
        </p:txBody>
      </p:sp>
      <p:sp>
        <p:nvSpPr>
          <p:cNvPr id="18" name="Shape 16"/>
          <p:cNvSpPr/>
          <p:nvPr/>
        </p:nvSpPr>
        <p:spPr>
          <a:xfrm>
            <a:off x="4681728" y="2578608"/>
            <a:ext cx="4069080" cy="658368"/>
          </a:xfrm>
          <a:prstGeom prst="rect">
            <a:avLst/>
          </a:prstGeom>
          <a:solidFill>
            <a:srgbClr val="111827"/>
          </a:solidFill>
          <a:ln w="6350">
            <a:solidFill>
              <a:srgbClr val="6366F1"/>
            </a:solidFill>
            <a:prstDash val="solid"/>
          </a:ln>
        </p:spPr>
      </p:sp>
      <p:sp>
        <p:nvSpPr>
          <p:cNvPr id="19" name="Shape 17"/>
          <p:cNvSpPr/>
          <p:nvPr/>
        </p:nvSpPr>
        <p:spPr>
          <a:xfrm>
            <a:off x="4681728" y="2578608"/>
            <a:ext cx="45720" cy="658368"/>
          </a:xfrm>
          <a:prstGeom prst="rect">
            <a:avLst/>
          </a:prstGeom>
          <a:solidFill>
            <a:srgbClr val="6366F1"/>
          </a:solidFill>
          <a:ln w="12700">
            <a:solidFill>
              <a:srgbClr val="6366F1"/>
            </a:solidFill>
            <a:prstDash val="solid"/>
          </a:ln>
        </p:spPr>
      </p:sp>
      <p:sp>
        <p:nvSpPr>
          <p:cNvPr id="20" name="Text 18"/>
          <p:cNvSpPr/>
          <p:nvPr/>
        </p:nvSpPr>
        <p:spPr>
          <a:xfrm>
            <a:off x="4773168" y="2633472"/>
            <a:ext cx="3886200" cy="201168"/>
          </a:xfrm>
          <a:prstGeom prst="rect">
            <a:avLst/>
          </a:prstGeom>
          <a:noFill/>
          <a:ln/>
        </p:spPr>
        <p:txBody>
          <a:bodyPr wrap="square" lIns="0" tIns="0" rIns="0" bIns="0" rtlCol="0" anchor="ctr"/>
          <a:lstStyle/>
          <a:p>
            <a:pPr marL="0" indent="0">
              <a:buNone/>
            </a:pPr>
            <a:r>
              <a:rPr lang="en-US" sz="1100" b="1" dirty="0">
                <a:solidFill>
                  <a:srgbClr val="6366F1"/>
                </a:solidFill>
              </a:rPr>
              <a:t>Neural Networks</a:t>
            </a:r>
            <a:endParaRPr lang="en-US" sz="1100" dirty="0"/>
          </a:p>
        </p:txBody>
      </p:sp>
      <p:sp>
        <p:nvSpPr>
          <p:cNvPr id="21" name="Text 19"/>
          <p:cNvSpPr/>
          <p:nvPr/>
        </p:nvSpPr>
        <p:spPr>
          <a:xfrm>
            <a:off x="4773168" y="2852928"/>
            <a:ext cx="3886200" cy="329184"/>
          </a:xfrm>
          <a:prstGeom prst="rect">
            <a:avLst/>
          </a:prstGeom>
          <a:noFill/>
          <a:ln/>
        </p:spPr>
        <p:txBody>
          <a:bodyPr wrap="square" lIns="0" tIns="0" rIns="0" bIns="0" rtlCol="0" anchor="ctr"/>
          <a:lstStyle/>
          <a:p>
            <a:pPr marL="0" indent="0">
              <a:buNone/>
            </a:pPr>
            <a:r>
              <a:rPr lang="en-US" sz="950" dirty="0">
                <a:solidFill>
                  <a:srgbClr val="CBD5E1"/>
                </a:solidFill>
              </a:rPr>
              <a:t>Weighted connections between nodes mirroring biological neurons; learns via backprop</a:t>
            </a:r>
            <a:endParaRPr lang="en-US" sz="950" dirty="0"/>
          </a:p>
        </p:txBody>
      </p:sp>
      <p:sp>
        <p:nvSpPr>
          <p:cNvPr id="22" name="Shape 20"/>
          <p:cNvSpPr/>
          <p:nvPr/>
        </p:nvSpPr>
        <p:spPr>
          <a:xfrm>
            <a:off x="4681728" y="3328416"/>
            <a:ext cx="4069080" cy="658368"/>
          </a:xfrm>
          <a:prstGeom prst="rect">
            <a:avLst/>
          </a:prstGeom>
          <a:solidFill>
            <a:srgbClr val="111827"/>
          </a:solidFill>
          <a:ln w="6350">
            <a:solidFill>
              <a:srgbClr val="6366F1"/>
            </a:solidFill>
            <a:prstDash val="solid"/>
          </a:ln>
        </p:spPr>
      </p:sp>
      <p:sp>
        <p:nvSpPr>
          <p:cNvPr id="23" name="Shape 21"/>
          <p:cNvSpPr/>
          <p:nvPr/>
        </p:nvSpPr>
        <p:spPr>
          <a:xfrm>
            <a:off x="4681728" y="3328416"/>
            <a:ext cx="45720" cy="658368"/>
          </a:xfrm>
          <a:prstGeom prst="rect">
            <a:avLst/>
          </a:prstGeom>
          <a:solidFill>
            <a:srgbClr val="6366F1"/>
          </a:solidFill>
          <a:ln w="12700">
            <a:solidFill>
              <a:srgbClr val="6366F1"/>
            </a:solidFill>
            <a:prstDash val="solid"/>
          </a:ln>
        </p:spPr>
      </p:sp>
      <p:sp>
        <p:nvSpPr>
          <p:cNvPr id="24" name="Text 22"/>
          <p:cNvSpPr/>
          <p:nvPr/>
        </p:nvSpPr>
        <p:spPr>
          <a:xfrm>
            <a:off x="4773168" y="3383280"/>
            <a:ext cx="3886200" cy="201168"/>
          </a:xfrm>
          <a:prstGeom prst="rect">
            <a:avLst/>
          </a:prstGeom>
          <a:noFill/>
          <a:ln/>
        </p:spPr>
        <p:txBody>
          <a:bodyPr wrap="square" lIns="0" tIns="0" rIns="0" bIns="0" rtlCol="0" anchor="ctr"/>
          <a:lstStyle/>
          <a:p>
            <a:pPr marL="0" indent="0">
              <a:buNone/>
            </a:pPr>
            <a:r>
              <a:rPr lang="en-US" sz="1100" b="1" dirty="0">
                <a:solidFill>
                  <a:srgbClr val="6366F1"/>
                </a:solidFill>
              </a:rPr>
              <a:t>Support Vectors</a:t>
            </a:r>
            <a:endParaRPr lang="en-US" sz="1100" dirty="0"/>
          </a:p>
        </p:txBody>
      </p:sp>
      <p:sp>
        <p:nvSpPr>
          <p:cNvPr id="25" name="Text 23"/>
          <p:cNvSpPr/>
          <p:nvPr/>
        </p:nvSpPr>
        <p:spPr>
          <a:xfrm>
            <a:off x="4773168" y="3602736"/>
            <a:ext cx="3886200" cy="329184"/>
          </a:xfrm>
          <a:prstGeom prst="rect">
            <a:avLst/>
          </a:prstGeom>
          <a:noFill/>
          <a:ln/>
        </p:spPr>
        <p:txBody>
          <a:bodyPr wrap="square" lIns="0" tIns="0" rIns="0" bIns="0" rtlCol="0" anchor="ctr"/>
          <a:lstStyle/>
          <a:p>
            <a:pPr marL="0" indent="0">
              <a:buNone/>
            </a:pPr>
            <a:r>
              <a:rPr lang="en-US" sz="950" dirty="0">
                <a:solidFill>
                  <a:srgbClr val="CBD5E1"/>
                </a:solidFill>
              </a:rPr>
              <a:t>Mathematical hyperplanes that separate classes in high-dimensional feature spaces</a:t>
            </a:r>
            <a:endParaRPr lang="en-US" sz="950" dirty="0"/>
          </a:p>
        </p:txBody>
      </p:sp>
      <p:sp>
        <p:nvSpPr>
          <p:cNvPr id="26" name="Shape 24"/>
          <p:cNvSpPr/>
          <p:nvPr/>
        </p:nvSpPr>
        <p:spPr>
          <a:xfrm>
            <a:off x="4681728" y="4078224"/>
            <a:ext cx="4069080" cy="658368"/>
          </a:xfrm>
          <a:prstGeom prst="rect">
            <a:avLst/>
          </a:prstGeom>
          <a:solidFill>
            <a:srgbClr val="111827"/>
          </a:solidFill>
          <a:ln w="6350">
            <a:solidFill>
              <a:srgbClr val="6366F1"/>
            </a:solidFill>
            <a:prstDash val="solid"/>
          </a:ln>
        </p:spPr>
      </p:sp>
      <p:sp>
        <p:nvSpPr>
          <p:cNvPr id="27" name="Shape 25"/>
          <p:cNvSpPr/>
          <p:nvPr/>
        </p:nvSpPr>
        <p:spPr>
          <a:xfrm>
            <a:off x="4681728" y="4078224"/>
            <a:ext cx="45720" cy="658368"/>
          </a:xfrm>
          <a:prstGeom prst="rect">
            <a:avLst/>
          </a:prstGeom>
          <a:solidFill>
            <a:srgbClr val="6366F1"/>
          </a:solidFill>
          <a:ln w="12700">
            <a:solidFill>
              <a:srgbClr val="6366F1"/>
            </a:solidFill>
            <a:prstDash val="solid"/>
          </a:ln>
        </p:spPr>
      </p:sp>
      <p:sp>
        <p:nvSpPr>
          <p:cNvPr id="28" name="Text 26"/>
          <p:cNvSpPr/>
          <p:nvPr/>
        </p:nvSpPr>
        <p:spPr>
          <a:xfrm>
            <a:off x="4773168" y="4133088"/>
            <a:ext cx="3886200" cy="201168"/>
          </a:xfrm>
          <a:prstGeom prst="rect">
            <a:avLst/>
          </a:prstGeom>
          <a:noFill/>
          <a:ln/>
        </p:spPr>
        <p:txBody>
          <a:bodyPr wrap="square" lIns="0" tIns="0" rIns="0" bIns="0" rtlCol="0" anchor="ctr"/>
          <a:lstStyle/>
          <a:p>
            <a:pPr marL="0" indent="0">
              <a:buNone/>
            </a:pPr>
            <a:r>
              <a:rPr lang="en-US" sz="1100" b="1" dirty="0">
                <a:solidFill>
                  <a:srgbClr val="6366F1"/>
                </a:solidFill>
              </a:rPr>
              <a:t>Probabilistic Models</a:t>
            </a:r>
            <a:endParaRPr lang="en-US" sz="1100" dirty="0"/>
          </a:p>
        </p:txBody>
      </p:sp>
      <p:sp>
        <p:nvSpPr>
          <p:cNvPr id="29" name="Text 27"/>
          <p:cNvSpPr/>
          <p:nvPr/>
        </p:nvSpPr>
        <p:spPr>
          <a:xfrm>
            <a:off x="4773168" y="4352544"/>
            <a:ext cx="3886200" cy="329184"/>
          </a:xfrm>
          <a:prstGeom prst="rect">
            <a:avLst/>
          </a:prstGeom>
          <a:noFill/>
          <a:ln/>
        </p:spPr>
        <p:txBody>
          <a:bodyPr wrap="square" lIns="0" tIns="0" rIns="0" bIns="0" rtlCol="0" anchor="ctr"/>
          <a:lstStyle/>
          <a:p>
            <a:pPr marL="0" indent="0">
              <a:buNone/>
            </a:pPr>
            <a:r>
              <a:rPr lang="en-US" sz="950" dirty="0">
                <a:solidFill>
                  <a:srgbClr val="CBD5E1"/>
                </a:solidFill>
              </a:rPr>
              <a:t>Bayesian networks encode uncertainty and conditional dependencies between variables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A40"/>
          </a:solidFill>
          <a:ln w="12700">
            <a:solidFill>
              <a:srgbClr val="1E2A40"/>
            </a:solidFill>
            <a:prstDash val="solid"/>
          </a:ln>
        </p:spPr>
      </p:sp>
      <p:sp>
        <p:nvSpPr>
          <p:cNvPr id="3" name="Shape 1"/>
          <p:cNvSpPr/>
          <p:nvPr/>
        </p:nvSpPr>
        <p:spPr>
          <a:xfrm>
            <a:off x="0" y="0"/>
            <a:ext cx="54864" cy="1005840"/>
          </a:xfrm>
          <a:prstGeom prst="rect">
            <a:avLst/>
          </a:prstGeom>
          <a:solidFill>
            <a:srgbClr val="8B5CF6"/>
          </a:solidFill>
          <a:ln w="12700">
            <a:solidFill>
              <a:srgbClr val="8B5CF6"/>
            </a:solidFill>
            <a:prstDash val="solid"/>
          </a:ln>
        </p:spPr>
      </p:sp>
      <p:sp>
        <p:nvSpPr>
          <p:cNvPr id="4" name="Text 2"/>
          <p:cNvSpPr/>
          <p:nvPr/>
        </p:nvSpPr>
        <p:spPr>
          <a:xfrm>
            <a:off x="137160" y="0"/>
            <a:ext cx="731520" cy="1005840"/>
          </a:xfrm>
          <a:prstGeom prst="rect">
            <a:avLst/>
          </a:prstGeom>
          <a:noFill/>
          <a:ln/>
        </p:spPr>
        <p:txBody>
          <a:bodyPr wrap="square" lIns="0" tIns="0" rIns="0" bIns="0" rtlCol="0" anchor="ctr"/>
          <a:lstStyle/>
          <a:p>
            <a:pPr marL="0" indent="0">
              <a:buNone/>
            </a:pPr>
            <a:r>
              <a:rPr lang="en-US" sz="3800" b="1" dirty="0">
                <a:solidFill>
                  <a:srgbClr val="8B5CF6"/>
                </a:solidFill>
              </a:rPr>
              <a:t>06</a:t>
            </a:r>
            <a:endParaRPr lang="en-US" sz="3800" dirty="0"/>
          </a:p>
        </p:txBody>
      </p:sp>
      <p:sp>
        <p:nvSpPr>
          <p:cNvPr id="5" name="Text 3"/>
          <p:cNvSpPr/>
          <p:nvPr/>
        </p:nvSpPr>
        <p:spPr>
          <a:xfrm>
            <a:off x="1005840" y="0"/>
            <a:ext cx="7772400" cy="10058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Generalization</a:t>
            </a:r>
            <a:endParaRPr lang="en-US" sz="3000" dirty="0"/>
          </a:p>
        </p:txBody>
      </p:sp>
      <p:sp>
        <p:nvSpPr>
          <p:cNvPr id="6" name="Shape 4"/>
          <p:cNvSpPr/>
          <p:nvPr/>
        </p:nvSpPr>
        <p:spPr>
          <a:xfrm>
            <a:off x="274320" y="1078992"/>
            <a:ext cx="8595360" cy="640080"/>
          </a:xfrm>
          <a:prstGeom prst="rect">
            <a:avLst/>
          </a:prstGeom>
          <a:solidFill>
            <a:srgbClr val="1A2235"/>
          </a:solidFill>
          <a:ln w="12700">
            <a:solidFill>
              <a:srgbClr val="8B5CF6"/>
            </a:solidFill>
            <a:prstDash val="solid"/>
          </a:ln>
        </p:spPr>
      </p:sp>
      <p:sp>
        <p:nvSpPr>
          <p:cNvPr id="7" name="Text 5"/>
          <p:cNvSpPr/>
          <p:nvPr/>
        </p:nvSpPr>
        <p:spPr>
          <a:xfrm>
            <a:off x="411480" y="1115568"/>
            <a:ext cx="8321040" cy="548640"/>
          </a:xfrm>
          <a:prstGeom prst="rect">
            <a:avLst/>
          </a:prstGeom>
          <a:noFill/>
          <a:ln/>
        </p:spPr>
        <p:txBody>
          <a:bodyPr wrap="square" rtlCol="0" anchor="ctr"/>
          <a:lstStyle/>
          <a:p>
            <a:pPr marL="0" indent="0">
              <a:buNone/>
            </a:pPr>
            <a:r>
              <a:rPr lang="en-US" sz="1200" dirty="0">
                <a:solidFill>
                  <a:srgbClr val="CBD5E1"/>
                </a:solidFill>
              </a:rPr>
              <a:t>Generalization is the model's ability to apply learned patterns to new, unseen data. The ultimate goal of ML is not memorization — it's learning transferable knowledge.</a:t>
            </a:r>
            <a:endParaRPr lang="en-US" sz="1200" dirty="0"/>
          </a:p>
        </p:txBody>
      </p:sp>
      <p:sp>
        <p:nvSpPr>
          <p:cNvPr id="8" name="Shape 6"/>
          <p:cNvSpPr/>
          <p:nvPr/>
        </p:nvSpPr>
        <p:spPr>
          <a:xfrm>
            <a:off x="256032" y="1828800"/>
            <a:ext cx="2834640" cy="3154680"/>
          </a:xfrm>
          <a:prstGeom prst="rect">
            <a:avLst/>
          </a:prstGeom>
          <a:solidFill>
            <a:srgbClr val="1A2235"/>
          </a:solidFill>
          <a:ln w="19050">
            <a:solidFill>
              <a:srgbClr val="F59E0B"/>
            </a:solidFill>
            <a:prstDash val="solid"/>
          </a:ln>
        </p:spPr>
      </p:sp>
      <p:sp>
        <p:nvSpPr>
          <p:cNvPr id="9" name="Shape 7"/>
          <p:cNvSpPr/>
          <p:nvPr/>
        </p:nvSpPr>
        <p:spPr>
          <a:xfrm>
            <a:off x="256032" y="1828800"/>
            <a:ext cx="2834640" cy="347472"/>
          </a:xfrm>
          <a:prstGeom prst="rect">
            <a:avLst/>
          </a:prstGeom>
          <a:solidFill>
            <a:srgbClr val="F59E0B"/>
          </a:solidFill>
          <a:ln w="12700">
            <a:solidFill>
              <a:srgbClr val="F59E0B"/>
            </a:solidFill>
            <a:prstDash val="solid"/>
          </a:ln>
        </p:spPr>
      </p:sp>
      <p:sp>
        <p:nvSpPr>
          <p:cNvPr id="10" name="Text 8"/>
          <p:cNvSpPr/>
          <p:nvPr/>
        </p:nvSpPr>
        <p:spPr>
          <a:xfrm>
            <a:off x="256032" y="1828800"/>
            <a:ext cx="2834640" cy="347472"/>
          </a:xfrm>
          <a:prstGeom prst="rect">
            <a:avLst/>
          </a:prstGeom>
          <a:noFill/>
          <a:ln/>
        </p:spPr>
        <p:txBody>
          <a:bodyPr wrap="square" lIns="0" tIns="0" rIns="0" bIns="0" rtlCol="0" anchor="ctr"/>
          <a:lstStyle/>
          <a:p>
            <a:pPr marL="0" indent="0" algn="ctr">
              <a:buNone/>
            </a:pPr>
            <a:r>
              <a:rPr lang="en-US" sz="1400" b="1" dirty="0">
                <a:solidFill>
                  <a:srgbClr val="0A0E1A"/>
                </a:solidFill>
              </a:rPr>
              <a:t>Underfitting</a:t>
            </a:r>
            <a:endParaRPr lang="en-US" sz="1400" dirty="0"/>
          </a:p>
        </p:txBody>
      </p:sp>
      <p:sp>
        <p:nvSpPr>
          <p:cNvPr id="11" name="Text 9"/>
          <p:cNvSpPr/>
          <p:nvPr/>
        </p:nvSpPr>
        <p:spPr>
          <a:xfrm>
            <a:off x="365760" y="2231136"/>
            <a:ext cx="2615184" cy="594360"/>
          </a:xfrm>
          <a:prstGeom prst="rect">
            <a:avLst/>
          </a:prstGeom>
          <a:noFill/>
          <a:ln/>
        </p:spPr>
        <p:txBody>
          <a:bodyPr wrap="square" lIns="0" tIns="0" rIns="0" bIns="0" rtlCol="0" anchor="ctr"/>
          <a:lstStyle/>
          <a:p>
            <a:pPr marL="0" indent="0">
              <a:buNone/>
            </a:pPr>
            <a:r>
              <a:rPr lang="en-US" sz="1050" dirty="0">
                <a:solidFill>
                  <a:srgbClr val="CBD5E1"/>
                </a:solidFill>
              </a:rPr>
              <a:t>Model is too simple to capture the underlying pattern in the data.</a:t>
            </a:r>
            <a:endParaRPr lang="en-US" sz="1050" dirty="0"/>
          </a:p>
        </p:txBody>
      </p:sp>
      <p:sp>
        <p:nvSpPr>
          <p:cNvPr id="12" name="Text 10"/>
          <p:cNvSpPr/>
          <p:nvPr/>
        </p:nvSpPr>
        <p:spPr>
          <a:xfrm>
            <a:off x="365760" y="2852928"/>
            <a:ext cx="2615184" cy="201168"/>
          </a:xfrm>
          <a:prstGeom prst="rect">
            <a:avLst/>
          </a:prstGeom>
          <a:noFill/>
          <a:ln/>
        </p:spPr>
        <p:txBody>
          <a:bodyPr wrap="square" lIns="0" tIns="0" rIns="0" bIns="0" rtlCol="0" anchor="ctr"/>
          <a:lstStyle/>
          <a:p>
            <a:pPr marL="0" indent="0">
              <a:buNone/>
            </a:pPr>
            <a:r>
              <a:rPr lang="en-US" sz="1000" b="1" dirty="0">
                <a:solidFill>
                  <a:srgbClr val="F59E0B"/>
                </a:solidFill>
              </a:rPr>
              <a:t>Warning Signs:</a:t>
            </a:r>
            <a:endParaRPr lang="en-US" sz="1000" dirty="0"/>
          </a:p>
        </p:txBody>
      </p:sp>
      <p:sp>
        <p:nvSpPr>
          <p:cNvPr id="13" name="Text 11"/>
          <p:cNvSpPr/>
          <p:nvPr/>
        </p:nvSpPr>
        <p:spPr>
          <a:xfrm>
            <a:off x="365760" y="3072384"/>
            <a:ext cx="2615184" cy="777240"/>
          </a:xfrm>
          <a:prstGeom prst="rect">
            <a:avLst/>
          </a:prstGeom>
          <a:noFill/>
          <a:ln/>
        </p:spPr>
        <p:txBody>
          <a:bodyPr wrap="square" rtlCol="0" anchor="ctr"/>
          <a:lstStyle/>
          <a:p>
            <a:pPr marL="342900" indent="-342900">
              <a:buSzPct val="100000"/>
              <a:buChar char="•"/>
            </a:pPr>
            <a:r>
              <a:rPr lang="en-US" sz="950" dirty="0">
                <a:solidFill>
                  <a:srgbClr val="CBD5E1"/>
                </a:solidFill>
              </a:rPr>
              <a:t>High training error</a:t>
            </a:r>
            <a:endParaRPr lang="en-US" sz="950" dirty="0"/>
          </a:p>
          <a:p>
            <a:pPr marL="342900" indent="-342900">
              <a:buSzPct val="100000"/>
              <a:buChar char="•"/>
            </a:pPr>
            <a:r>
              <a:rPr lang="en-US" sz="950" dirty="0">
                <a:solidFill>
                  <a:srgbClr val="CBD5E1"/>
                </a:solidFill>
              </a:rPr>
              <a:t>High test error</a:t>
            </a:r>
            <a:endParaRPr lang="en-US" sz="950" dirty="0"/>
          </a:p>
          <a:p>
            <a:pPr marL="342900" indent="-342900">
              <a:buSzPct val="100000"/>
              <a:buChar char="•"/>
            </a:pPr>
            <a:r>
              <a:rPr lang="en-US" sz="950" dirty="0">
                <a:solidFill>
                  <a:srgbClr val="CBD5E1"/>
                </a:solidFill>
              </a:rPr>
              <a:t>Model too simple</a:t>
            </a:r>
            <a:endParaRPr lang="en-US" sz="950" dirty="0"/>
          </a:p>
          <a:p>
            <a:pPr marL="342900" indent="-342900">
              <a:buSzPct val="100000"/>
              <a:buChar char="•"/>
            </a:pPr>
            <a:r>
              <a:rPr lang="en-US" sz="950" dirty="0">
                <a:solidFill>
                  <a:srgbClr val="CBD5E1"/>
                </a:solidFill>
              </a:rPr>
              <a:t>Needs more complexity</a:t>
            </a:r>
            <a:endParaRPr lang="en-US" sz="950" dirty="0"/>
          </a:p>
        </p:txBody>
      </p:sp>
      <p:sp>
        <p:nvSpPr>
          <p:cNvPr id="14" name="Shape 12"/>
          <p:cNvSpPr/>
          <p:nvPr/>
        </p:nvSpPr>
        <p:spPr>
          <a:xfrm>
            <a:off x="347472" y="4645152"/>
            <a:ext cx="2651760" cy="256032"/>
          </a:xfrm>
          <a:prstGeom prst="rect">
            <a:avLst/>
          </a:prstGeom>
          <a:solidFill>
            <a:srgbClr val="F59E0B">
              <a:alpha val="20000"/>
            </a:srgbClr>
          </a:solidFill>
          <a:ln w="12700">
            <a:solidFill>
              <a:srgbClr val="F59E0B"/>
            </a:solidFill>
            <a:prstDash val="solid"/>
          </a:ln>
        </p:spPr>
      </p:sp>
      <p:sp>
        <p:nvSpPr>
          <p:cNvPr id="15" name="Text 13"/>
          <p:cNvSpPr/>
          <p:nvPr/>
        </p:nvSpPr>
        <p:spPr>
          <a:xfrm>
            <a:off x="365760" y="4645152"/>
            <a:ext cx="2606040" cy="256032"/>
          </a:xfrm>
          <a:prstGeom prst="rect">
            <a:avLst/>
          </a:prstGeom>
          <a:noFill/>
          <a:ln/>
        </p:spPr>
        <p:txBody>
          <a:bodyPr wrap="square" lIns="0" tIns="0" rIns="0" bIns="0" rtlCol="0" anchor="ctr"/>
          <a:lstStyle/>
          <a:p>
            <a:pPr marL="0" indent="0">
              <a:buNone/>
            </a:pPr>
            <a:r>
              <a:rPr lang="en-US" sz="850" dirty="0">
                <a:solidFill>
                  <a:srgbClr val="FFFFFF"/>
                </a:solidFill>
              </a:rPr>
              <a:t>Fix: Add more features, increase model complexity, train longer</a:t>
            </a:r>
            <a:endParaRPr lang="en-US" sz="850" dirty="0"/>
          </a:p>
        </p:txBody>
      </p:sp>
      <p:sp>
        <p:nvSpPr>
          <p:cNvPr id="16" name="Shape 14"/>
          <p:cNvSpPr/>
          <p:nvPr/>
        </p:nvSpPr>
        <p:spPr>
          <a:xfrm>
            <a:off x="3200400" y="1828800"/>
            <a:ext cx="2834640" cy="3154680"/>
          </a:xfrm>
          <a:prstGeom prst="rect">
            <a:avLst/>
          </a:prstGeom>
          <a:solidFill>
            <a:srgbClr val="1A2235"/>
          </a:solidFill>
          <a:ln w="19050">
            <a:solidFill>
              <a:srgbClr val="14B8A6"/>
            </a:solidFill>
            <a:prstDash val="solid"/>
          </a:ln>
        </p:spPr>
      </p:sp>
      <p:sp>
        <p:nvSpPr>
          <p:cNvPr id="17" name="Shape 15"/>
          <p:cNvSpPr/>
          <p:nvPr/>
        </p:nvSpPr>
        <p:spPr>
          <a:xfrm>
            <a:off x="3200400" y="1828800"/>
            <a:ext cx="2834640" cy="347472"/>
          </a:xfrm>
          <a:prstGeom prst="rect">
            <a:avLst/>
          </a:prstGeom>
          <a:solidFill>
            <a:srgbClr val="14B8A6"/>
          </a:solidFill>
          <a:ln w="12700">
            <a:solidFill>
              <a:srgbClr val="14B8A6"/>
            </a:solidFill>
            <a:prstDash val="solid"/>
          </a:ln>
        </p:spPr>
      </p:sp>
      <p:sp>
        <p:nvSpPr>
          <p:cNvPr id="18" name="Text 16"/>
          <p:cNvSpPr/>
          <p:nvPr/>
        </p:nvSpPr>
        <p:spPr>
          <a:xfrm>
            <a:off x="3200400" y="1828800"/>
            <a:ext cx="2834640" cy="347472"/>
          </a:xfrm>
          <a:prstGeom prst="rect">
            <a:avLst/>
          </a:prstGeom>
          <a:noFill/>
          <a:ln/>
        </p:spPr>
        <p:txBody>
          <a:bodyPr wrap="square" lIns="0" tIns="0" rIns="0" bIns="0" rtlCol="0" anchor="ctr"/>
          <a:lstStyle/>
          <a:p>
            <a:pPr marL="0" indent="0" algn="ctr">
              <a:buNone/>
            </a:pPr>
            <a:r>
              <a:rPr lang="en-US" sz="1400" b="1" dirty="0">
                <a:solidFill>
                  <a:srgbClr val="0A0E1A"/>
                </a:solidFill>
              </a:rPr>
              <a:t>Good Fit</a:t>
            </a:r>
            <a:endParaRPr lang="en-US" sz="1400" dirty="0"/>
          </a:p>
        </p:txBody>
      </p:sp>
      <p:sp>
        <p:nvSpPr>
          <p:cNvPr id="19" name="Text 17"/>
          <p:cNvSpPr/>
          <p:nvPr/>
        </p:nvSpPr>
        <p:spPr>
          <a:xfrm>
            <a:off x="3310128" y="2231136"/>
            <a:ext cx="2615184" cy="594360"/>
          </a:xfrm>
          <a:prstGeom prst="rect">
            <a:avLst/>
          </a:prstGeom>
          <a:noFill/>
          <a:ln/>
        </p:spPr>
        <p:txBody>
          <a:bodyPr wrap="square" lIns="0" tIns="0" rIns="0" bIns="0" rtlCol="0" anchor="ctr"/>
          <a:lstStyle/>
          <a:p>
            <a:pPr marL="0" indent="0">
              <a:buNone/>
            </a:pPr>
            <a:r>
              <a:rPr lang="en-US" sz="1050" dirty="0">
                <a:solidFill>
                  <a:srgbClr val="CBD5E1"/>
                </a:solidFill>
              </a:rPr>
              <a:t>Model captures the true pattern and generalizes well to new data.</a:t>
            </a:r>
            <a:endParaRPr lang="en-US" sz="1050" dirty="0"/>
          </a:p>
        </p:txBody>
      </p:sp>
      <p:sp>
        <p:nvSpPr>
          <p:cNvPr id="20" name="Text 18"/>
          <p:cNvSpPr/>
          <p:nvPr/>
        </p:nvSpPr>
        <p:spPr>
          <a:xfrm>
            <a:off x="3310128" y="2852928"/>
            <a:ext cx="2615184" cy="201168"/>
          </a:xfrm>
          <a:prstGeom prst="rect">
            <a:avLst/>
          </a:prstGeom>
          <a:noFill/>
          <a:ln/>
        </p:spPr>
        <p:txBody>
          <a:bodyPr wrap="square" lIns="0" tIns="0" rIns="0" bIns="0" rtlCol="0" anchor="ctr"/>
          <a:lstStyle/>
          <a:p>
            <a:pPr marL="0" indent="0">
              <a:buNone/>
            </a:pPr>
            <a:r>
              <a:rPr lang="en-US" sz="1000" b="1" dirty="0">
                <a:solidFill>
                  <a:srgbClr val="14B8A6"/>
                </a:solidFill>
              </a:rPr>
              <a:t>Warning Signs:</a:t>
            </a:r>
            <a:endParaRPr lang="en-US" sz="1000" dirty="0"/>
          </a:p>
        </p:txBody>
      </p:sp>
      <p:sp>
        <p:nvSpPr>
          <p:cNvPr id="21" name="Text 19"/>
          <p:cNvSpPr/>
          <p:nvPr/>
        </p:nvSpPr>
        <p:spPr>
          <a:xfrm>
            <a:off x="3310128" y="3072384"/>
            <a:ext cx="2615184" cy="777240"/>
          </a:xfrm>
          <a:prstGeom prst="rect">
            <a:avLst/>
          </a:prstGeom>
          <a:noFill/>
          <a:ln/>
        </p:spPr>
        <p:txBody>
          <a:bodyPr wrap="square" rtlCol="0" anchor="ctr"/>
          <a:lstStyle/>
          <a:p>
            <a:pPr marL="342900" indent="-342900">
              <a:buSzPct val="100000"/>
              <a:buChar char="•"/>
            </a:pPr>
            <a:r>
              <a:rPr lang="en-US" sz="950" dirty="0">
                <a:solidFill>
                  <a:srgbClr val="CBD5E1"/>
                </a:solidFill>
              </a:rPr>
              <a:t>Low training error</a:t>
            </a:r>
            <a:endParaRPr lang="en-US" sz="950" dirty="0"/>
          </a:p>
          <a:p>
            <a:pPr marL="342900" indent="-342900">
              <a:buSzPct val="100000"/>
              <a:buChar char="•"/>
            </a:pPr>
            <a:r>
              <a:rPr lang="en-US" sz="950" dirty="0">
                <a:solidFill>
                  <a:srgbClr val="CBD5E1"/>
                </a:solidFill>
              </a:rPr>
              <a:t>Low test error</a:t>
            </a:r>
            <a:endParaRPr lang="en-US" sz="950" dirty="0"/>
          </a:p>
          <a:p>
            <a:pPr marL="342900" indent="-342900">
              <a:buSzPct val="100000"/>
              <a:buChar char="•"/>
            </a:pPr>
            <a:r>
              <a:rPr lang="en-US" sz="950" dirty="0">
                <a:solidFill>
                  <a:srgbClr val="CBD5E1"/>
                </a:solidFill>
              </a:rPr>
              <a:t>Balanced complexity</a:t>
            </a:r>
            <a:endParaRPr lang="en-US" sz="950" dirty="0"/>
          </a:p>
          <a:p>
            <a:pPr marL="342900" indent="-342900">
              <a:buSzPct val="100000"/>
              <a:buChar char="•"/>
            </a:pPr>
            <a:r>
              <a:rPr lang="en-US" sz="950" dirty="0">
                <a:solidFill>
                  <a:srgbClr val="CBD5E1"/>
                </a:solidFill>
              </a:rPr>
              <a:t>Robust predictions</a:t>
            </a:r>
            <a:endParaRPr lang="en-US" sz="950" dirty="0"/>
          </a:p>
        </p:txBody>
      </p:sp>
      <p:sp>
        <p:nvSpPr>
          <p:cNvPr id="22" name="Shape 20"/>
          <p:cNvSpPr/>
          <p:nvPr/>
        </p:nvSpPr>
        <p:spPr>
          <a:xfrm>
            <a:off x="3291840" y="4645152"/>
            <a:ext cx="2651760" cy="256032"/>
          </a:xfrm>
          <a:prstGeom prst="rect">
            <a:avLst/>
          </a:prstGeom>
          <a:solidFill>
            <a:srgbClr val="14B8A6">
              <a:alpha val="20000"/>
            </a:srgbClr>
          </a:solidFill>
          <a:ln w="12700">
            <a:solidFill>
              <a:srgbClr val="14B8A6"/>
            </a:solidFill>
            <a:prstDash val="solid"/>
          </a:ln>
        </p:spPr>
      </p:sp>
      <p:sp>
        <p:nvSpPr>
          <p:cNvPr id="23" name="Text 21"/>
          <p:cNvSpPr/>
          <p:nvPr/>
        </p:nvSpPr>
        <p:spPr>
          <a:xfrm>
            <a:off x="3310128" y="4645152"/>
            <a:ext cx="2606040" cy="256032"/>
          </a:xfrm>
          <a:prstGeom prst="rect">
            <a:avLst/>
          </a:prstGeom>
          <a:noFill/>
          <a:ln/>
        </p:spPr>
        <p:txBody>
          <a:bodyPr wrap="square" lIns="0" tIns="0" rIns="0" bIns="0" rtlCol="0" anchor="ctr"/>
          <a:lstStyle/>
          <a:p>
            <a:pPr marL="0" indent="0">
              <a:buNone/>
            </a:pPr>
            <a:r>
              <a:rPr lang="en-US" sz="850" dirty="0">
                <a:solidFill>
                  <a:srgbClr val="FFFFFF"/>
                </a:solidFill>
              </a:rPr>
              <a:t>Fix: This is the goal — maintain with proper regularization and validation</a:t>
            </a:r>
            <a:endParaRPr lang="en-US" sz="850" dirty="0"/>
          </a:p>
        </p:txBody>
      </p:sp>
      <p:sp>
        <p:nvSpPr>
          <p:cNvPr id="24" name="Shape 22"/>
          <p:cNvSpPr/>
          <p:nvPr/>
        </p:nvSpPr>
        <p:spPr>
          <a:xfrm>
            <a:off x="6144768" y="1828800"/>
            <a:ext cx="2834640" cy="3154680"/>
          </a:xfrm>
          <a:prstGeom prst="rect">
            <a:avLst/>
          </a:prstGeom>
          <a:solidFill>
            <a:srgbClr val="1A2235"/>
          </a:solidFill>
          <a:ln w="19050">
            <a:solidFill>
              <a:srgbClr val="EF4444"/>
            </a:solidFill>
            <a:prstDash val="solid"/>
          </a:ln>
        </p:spPr>
      </p:sp>
      <p:sp>
        <p:nvSpPr>
          <p:cNvPr id="25" name="Shape 23"/>
          <p:cNvSpPr/>
          <p:nvPr/>
        </p:nvSpPr>
        <p:spPr>
          <a:xfrm>
            <a:off x="6144768" y="1828800"/>
            <a:ext cx="2834640" cy="347472"/>
          </a:xfrm>
          <a:prstGeom prst="rect">
            <a:avLst/>
          </a:prstGeom>
          <a:solidFill>
            <a:srgbClr val="EF4444"/>
          </a:solidFill>
          <a:ln w="12700">
            <a:solidFill>
              <a:srgbClr val="EF4444"/>
            </a:solidFill>
            <a:prstDash val="solid"/>
          </a:ln>
        </p:spPr>
      </p:sp>
      <p:sp>
        <p:nvSpPr>
          <p:cNvPr id="26" name="Text 24"/>
          <p:cNvSpPr/>
          <p:nvPr/>
        </p:nvSpPr>
        <p:spPr>
          <a:xfrm>
            <a:off x="6144768" y="1828800"/>
            <a:ext cx="2834640" cy="347472"/>
          </a:xfrm>
          <a:prstGeom prst="rect">
            <a:avLst/>
          </a:prstGeom>
          <a:noFill/>
          <a:ln/>
        </p:spPr>
        <p:txBody>
          <a:bodyPr wrap="square" lIns="0" tIns="0" rIns="0" bIns="0" rtlCol="0" anchor="ctr"/>
          <a:lstStyle/>
          <a:p>
            <a:pPr marL="0" indent="0" algn="ctr">
              <a:buNone/>
            </a:pPr>
            <a:r>
              <a:rPr lang="en-US" sz="1400" b="1" dirty="0">
                <a:solidFill>
                  <a:srgbClr val="0A0E1A"/>
                </a:solidFill>
              </a:rPr>
              <a:t>Overfitting</a:t>
            </a:r>
            <a:endParaRPr lang="en-US" sz="1400" dirty="0"/>
          </a:p>
        </p:txBody>
      </p:sp>
      <p:sp>
        <p:nvSpPr>
          <p:cNvPr id="27" name="Text 25"/>
          <p:cNvSpPr/>
          <p:nvPr/>
        </p:nvSpPr>
        <p:spPr>
          <a:xfrm>
            <a:off x="6254496" y="2231136"/>
            <a:ext cx="2615184" cy="594360"/>
          </a:xfrm>
          <a:prstGeom prst="rect">
            <a:avLst/>
          </a:prstGeom>
          <a:noFill/>
          <a:ln/>
        </p:spPr>
        <p:txBody>
          <a:bodyPr wrap="square" lIns="0" tIns="0" rIns="0" bIns="0" rtlCol="0" anchor="ctr"/>
          <a:lstStyle/>
          <a:p>
            <a:pPr marL="0" indent="0">
              <a:buNone/>
            </a:pPr>
            <a:r>
              <a:rPr lang="en-US" sz="1050" dirty="0">
                <a:solidFill>
                  <a:srgbClr val="CBD5E1"/>
                </a:solidFill>
              </a:rPr>
              <a:t>Model memorizes training data including noise, failing on new examples.</a:t>
            </a:r>
            <a:endParaRPr lang="en-US" sz="1050" dirty="0"/>
          </a:p>
        </p:txBody>
      </p:sp>
      <p:sp>
        <p:nvSpPr>
          <p:cNvPr id="28" name="Text 26"/>
          <p:cNvSpPr/>
          <p:nvPr/>
        </p:nvSpPr>
        <p:spPr>
          <a:xfrm>
            <a:off x="6254496" y="2852928"/>
            <a:ext cx="2615184" cy="201168"/>
          </a:xfrm>
          <a:prstGeom prst="rect">
            <a:avLst/>
          </a:prstGeom>
          <a:noFill/>
          <a:ln/>
        </p:spPr>
        <p:txBody>
          <a:bodyPr wrap="square" lIns="0" tIns="0" rIns="0" bIns="0" rtlCol="0" anchor="ctr"/>
          <a:lstStyle/>
          <a:p>
            <a:pPr marL="0" indent="0">
              <a:buNone/>
            </a:pPr>
            <a:r>
              <a:rPr lang="en-US" sz="1000" b="1" dirty="0">
                <a:solidFill>
                  <a:srgbClr val="EF4444"/>
                </a:solidFill>
              </a:rPr>
              <a:t>Warning Signs:</a:t>
            </a:r>
            <a:endParaRPr lang="en-US" sz="1000" dirty="0"/>
          </a:p>
        </p:txBody>
      </p:sp>
      <p:sp>
        <p:nvSpPr>
          <p:cNvPr id="29" name="Text 27"/>
          <p:cNvSpPr/>
          <p:nvPr/>
        </p:nvSpPr>
        <p:spPr>
          <a:xfrm>
            <a:off x="6254496" y="3072384"/>
            <a:ext cx="2615184" cy="777240"/>
          </a:xfrm>
          <a:prstGeom prst="rect">
            <a:avLst/>
          </a:prstGeom>
          <a:noFill/>
          <a:ln/>
        </p:spPr>
        <p:txBody>
          <a:bodyPr wrap="square" rtlCol="0" anchor="ctr"/>
          <a:lstStyle/>
          <a:p>
            <a:pPr marL="342900" indent="-342900">
              <a:buSzPct val="100000"/>
              <a:buChar char="•"/>
            </a:pPr>
            <a:r>
              <a:rPr lang="en-US" sz="950" dirty="0">
                <a:solidFill>
                  <a:srgbClr val="CBD5E1"/>
                </a:solidFill>
              </a:rPr>
              <a:t>Very low training error</a:t>
            </a:r>
            <a:endParaRPr lang="en-US" sz="950" dirty="0"/>
          </a:p>
          <a:p>
            <a:pPr marL="342900" indent="-342900">
              <a:buSzPct val="100000"/>
              <a:buChar char="•"/>
            </a:pPr>
            <a:r>
              <a:rPr lang="en-US" sz="950" dirty="0">
                <a:solidFill>
                  <a:srgbClr val="CBD5E1"/>
                </a:solidFill>
              </a:rPr>
              <a:t>High test error</a:t>
            </a:r>
            <a:endParaRPr lang="en-US" sz="950" dirty="0"/>
          </a:p>
          <a:p>
            <a:pPr marL="342900" indent="-342900">
              <a:buSzPct val="100000"/>
              <a:buChar char="•"/>
            </a:pPr>
            <a:r>
              <a:rPr lang="en-US" sz="950" dirty="0">
                <a:solidFill>
                  <a:srgbClr val="CBD5E1"/>
                </a:solidFill>
              </a:rPr>
              <a:t>Model too complex</a:t>
            </a:r>
            <a:endParaRPr lang="en-US" sz="950" dirty="0"/>
          </a:p>
          <a:p>
            <a:pPr marL="342900" indent="-342900">
              <a:buSzPct val="100000"/>
              <a:buChar char="•"/>
            </a:pPr>
            <a:r>
              <a:rPr lang="en-US" sz="950" dirty="0">
                <a:solidFill>
                  <a:srgbClr val="CBD5E1"/>
                </a:solidFill>
              </a:rPr>
              <a:t>Memorizes noise</a:t>
            </a:r>
            <a:endParaRPr lang="en-US" sz="950" dirty="0"/>
          </a:p>
        </p:txBody>
      </p:sp>
      <p:sp>
        <p:nvSpPr>
          <p:cNvPr id="30" name="Shape 28"/>
          <p:cNvSpPr/>
          <p:nvPr/>
        </p:nvSpPr>
        <p:spPr>
          <a:xfrm>
            <a:off x="6236208" y="4645152"/>
            <a:ext cx="2651760" cy="256032"/>
          </a:xfrm>
          <a:prstGeom prst="rect">
            <a:avLst/>
          </a:prstGeom>
          <a:solidFill>
            <a:srgbClr val="EF4444">
              <a:alpha val="20000"/>
            </a:srgbClr>
          </a:solidFill>
          <a:ln w="12700">
            <a:solidFill>
              <a:srgbClr val="EF4444"/>
            </a:solidFill>
            <a:prstDash val="solid"/>
          </a:ln>
        </p:spPr>
      </p:sp>
      <p:sp>
        <p:nvSpPr>
          <p:cNvPr id="31" name="Text 29"/>
          <p:cNvSpPr/>
          <p:nvPr/>
        </p:nvSpPr>
        <p:spPr>
          <a:xfrm>
            <a:off x="6254496" y="4645152"/>
            <a:ext cx="2606040" cy="256032"/>
          </a:xfrm>
          <a:prstGeom prst="rect">
            <a:avLst/>
          </a:prstGeom>
          <a:noFill/>
          <a:ln/>
        </p:spPr>
        <p:txBody>
          <a:bodyPr wrap="square" lIns="0" tIns="0" rIns="0" bIns="0" rtlCol="0" anchor="ctr"/>
          <a:lstStyle/>
          <a:p>
            <a:pPr marL="0" indent="0">
              <a:buNone/>
            </a:pPr>
            <a:r>
              <a:rPr lang="en-US" sz="850" dirty="0">
                <a:solidFill>
                  <a:srgbClr val="FFFFFF"/>
                </a:solidFill>
              </a:rPr>
              <a:t>Fix: Regularization (L1/L2), dropout, more training data, cross-validation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A40"/>
          </a:solidFill>
          <a:ln w="12700">
            <a:solidFill>
              <a:srgbClr val="1E2A40"/>
            </a:solidFill>
            <a:prstDash val="solid"/>
          </a:ln>
        </p:spPr>
      </p:sp>
      <p:sp>
        <p:nvSpPr>
          <p:cNvPr id="3" name="Shape 1"/>
          <p:cNvSpPr/>
          <p:nvPr/>
        </p:nvSpPr>
        <p:spPr>
          <a:xfrm>
            <a:off x="0" y="0"/>
            <a:ext cx="54864" cy="1005840"/>
          </a:xfrm>
          <a:prstGeom prst="rect">
            <a:avLst/>
          </a:prstGeom>
          <a:solidFill>
            <a:srgbClr val="F59E0B"/>
          </a:solidFill>
          <a:ln w="12700">
            <a:solidFill>
              <a:srgbClr val="F59E0B"/>
            </a:solidFill>
            <a:prstDash val="solid"/>
          </a:ln>
        </p:spPr>
      </p:sp>
      <p:sp>
        <p:nvSpPr>
          <p:cNvPr id="4" name="Text 2"/>
          <p:cNvSpPr/>
          <p:nvPr/>
        </p:nvSpPr>
        <p:spPr>
          <a:xfrm>
            <a:off x="137160" y="0"/>
            <a:ext cx="731520" cy="1005840"/>
          </a:xfrm>
          <a:prstGeom prst="rect">
            <a:avLst/>
          </a:prstGeom>
          <a:noFill/>
          <a:ln/>
        </p:spPr>
        <p:txBody>
          <a:bodyPr wrap="square" lIns="0" tIns="0" rIns="0" bIns="0" rtlCol="0" anchor="ctr"/>
          <a:lstStyle/>
          <a:p>
            <a:pPr marL="0" indent="0">
              <a:buNone/>
            </a:pPr>
            <a:r>
              <a:rPr lang="en-US" sz="3800" b="1" dirty="0">
                <a:solidFill>
                  <a:srgbClr val="F59E0B"/>
                </a:solidFill>
              </a:rPr>
              <a:t>07</a:t>
            </a:r>
            <a:endParaRPr lang="en-US" sz="3800" dirty="0"/>
          </a:p>
        </p:txBody>
      </p:sp>
      <p:sp>
        <p:nvSpPr>
          <p:cNvPr id="5" name="Text 3"/>
          <p:cNvSpPr/>
          <p:nvPr/>
        </p:nvSpPr>
        <p:spPr>
          <a:xfrm>
            <a:off x="1005840" y="0"/>
            <a:ext cx="7772400" cy="10058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Assessing the Success of Learning</a:t>
            </a:r>
            <a:endParaRPr lang="en-US" sz="2800" dirty="0"/>
          </a:p>
        </p:txBody>
      </p:sp>
      <p:sp>
        <p:nvSpPr>
          <p:cNvPr id="6" name="Shape 4"/>
          <p:cNvSpPr/>
          <p:nvPr/>
        </p:nvSpPr>
        <p:spPr>
          <a:xfrm>
            <a:off x="274320" y="1097280"/>
            <a:ext cx="4069080" cy="347472"/>
          </a:xfrm>
          <a:prstGeom prst="rect">
            <a:avLst/>
          </a:prstGeom>
          <a:solidFill>
            <a:srgbClr val="6366F1"/>
          </a:solidFill>
          <a:ln w="12700">
            <a:solidFill>
              <a:srgbClr val="6366F1"/>
            </a:solidFill>
            <a:prstDash val="solid"/>
          </a:ln>
        </p:spPr>
      </p:sp>
      <p:sp>
        <p:nvSpPr>
          <p:cNvPr id="7" name="Text 5"/>
          <p:cNvSpPr/>
          <p:nvPr/>
        </p:nvSpPr>
        <p:spPr>
          <a:xfrm>
            <a:off x="274320" y="1097280"/>
            <a:ext cx="4069080" cy="347472"/>
          </a:xfrm>
          <a:prstGeom prst="rect">
            <a:avLst/>
          </a:prstGeom>
          <a:noFill/>
          <a:ln/>
        </p:spPr>
        <p:txBody>
          <a:bodyPr wrap="square" lIns="0" tIns="0" rIns="0" bIns="0" rtlCol="0" anchor="ctr"/>
          <a:lstStyle/>
          <a:p>
            <a:pPr marL="0" indent="0" algn="ctr">
              <a:buNone/>
            </a:pPr>
            <a:r>
              <a:rPr lang="en-US" sz="1300" b="1" dirty="0">
                <a:solidFill>
                  <a:srgbClr val="FFFFFF"/>
                </a:solidFill>
              </a:rPr>
              <a:t>Classification Metrics</a:t>
            </a:r>
            <a:endParaRPr lang="en-US" sz="1300" dirty="0"/>
          </a:p>
        </p:txBody>
      </p:sp>
      <p:sp>
        <p:nvSpPr>
          <p:cNvPr id="8" name="Shape 6"/>
          <p:cNvSpPr/>
          <p:nvPr/>
        </p:nvSpPr>
        <p:spPr>
          <a:xfrm>
            <a:off x="274320" y="1481328"/>
            <a:ext cx="4069080" cy="621792"/>
          </a:xfrm>
          <a:prstGeom prst="rect">
            <a:avLst/>
          </a:prstGeom>
          <a:solidFill>
            <a:srgbClr val="1A2235"/>
          </a:solidFill>
          <a:ln w="6350">
            <a:solidFill>
              <a:srgbClr val="6366F1"/>
            </a:solidFill>
            <a:prstDash val="solid"/>
          </a:ln>
        </p:spPr>
      </p:sp>
      <p:sp>
        <p:nvSpPr>
          <p:cNvPr id="9" name="Text 7"/>
          <p:cNvSpPr/>
          <p:nvPr/>
        </p:nvSpPr>
        <p:spPr>
          <a:xfrm>
            <a:off x="384048" y="1527048"/>
            <a:ext cx="3840480" cy="201168"/>
          </a:xfrm>
          <a:prstGeom prst="rect">
            <a:avLst/>
          </a:prstGeom>
          <a:noFill/>
          <a:ln/>
        </p:spPr>
        <p:txBody>
          <a:bodyPr wrap="square" lIns="0" tIns="0" rIns="0" bIns="0" rtlCol="0" anchor="ctr"/>
          <a:lstStyle/>
          <a:p>
            <a:pPr marL="0" indent="0">
              <a:buNone/>
            </a:pPr>
            <a:r>
              <a:rPr lang="en-US" sz="1100" b="1" dirty="0">
                <a:solidFill>
                  <a:srgbClr val="6366F1"/>
                </a:solidFill>
              </a:rPr>
              <a:t>Accuracy</a:t>
            </a:r>
            <a:endParaRPr lang="en-US" sz="1100" dirty="0"/>
          </a:p>
        </p:txBody>
      </p:sp>
      <p:sp>
        <p:nvSpPr>
          <p:cNvPr id="10" name="Text 8"/>
          <p:cNvSpPr/>
          <p:nvPr/>
        </p:nvSpPr>
        <p:spPr>
          <a:xfrm>
            <a:off x="384048" y="1737360"/>
            <a:ext cx="3840480" cy="329184"/>
          </a:xfrm>
          <a:prstGeom prst="rect">
            <a:avLst/>
          </a:prstGeom>
          <a:noFill/>
          <a:ln/>
        </p:spPr>
        <p:txBody>
          <a:bodyPr wrap="square" lIns="0" tIns="0" rIns="0" bIns="0" rtlCol="0" anchor="ctr"/>
          <a:lstStyle/>
          <a:p>
            <a:pPr marL="0" indent="0">
              <a:buNone/>
            </a:pPr>
            <a:r>
              <a:rPr lang="en-US" sz="950" dirty="0">
                <a:solidFill>
                  <a:srgbClr val="CBD5E1"/>
                </a:solidFill>
              </a:rPr>
              <a:t>% of correct predictions out of all predictions. Good baseline but misleading on imbalanced datasets.</a:t>
            </a:r>
            <a:endParaRPr lang="en-US" sz="950" dirty="0"/>
          </a:p>
        </p:txBody>
      </p:sp>
      <p:sp>
        <p:nvSpPr>
          <p:cNvPr id="11" name="Shape 9"/>
          <p:cNvSpPr/>
          <p:nvPr/>
        </p:nvSpPr>
        <p:spPr>
          <a:xfrm>
            <a:off x="274320" y="2157984"/>
            <a:ext cx="4069080" cy="621792"/>
          </a:xfrm>
          <a:prstGeom prst="rect">
            <a:avLst/>
          </a:prstGeom>
          <a:solidFill>
            <a:srgbClr val="1A2235"/>
          </a:solidFill>
          <a:ln w="6350">
            <a:solidFill>
              <a:srgbClr val="6366F1"/>
            </a:solidFill>
            <a:prstDash val="solid"/>
          </a:ln>
        </p:spPr>
      </p:sp>
      <p:sp>
        <p:nvSpPr>
          <p:cNvPr id="12" name="Text 10"/>
          <p:cNvSpPr/>
          <p:nvPr/>
        </p:nvSpPr>
        <p:spPr>
          <a:xfrm>
            <a:off x="384048" y="2203704"/>
            <a:ext cx="3840480" cy="201168"/>
          </a:xfrm>
          <a:prstGeom prst="rect">
            <a:avLst/>
          </a:prstGeom>
          <a:noFill/>
          <a:ln/>
        </p:spPr>
        <p:txBody>
          <a:bodyPr wrap="square" lIns="0" tIns="0" rIns="0" bIns="0" rtlCol="0" anchor="ctr"/>
          <a:lstStyle/>
          <a:p>
            <a:pPr marL="0" indent="0">
              <a:buNone/>
            </a:pPr>
            <a:r>
              <a:rPr lang="en-US" sz="1100" b="1" dirty="0">
                <a:solidFill>
                  <a:srgbClr val="6366F1"/>
                </a:solidFill>
              </a:rPr>
              <a:t>Precision</a:t>
            </a:r>
            <a:endParaRPr lang="en-US" sz="1100" dirty="0"/>
          </a:p>
        </p:txBody>
      </p:sp>
      <p:sp>
        <p:nvSpPr>
          <p:cNvPr id="13" name="Text 11"/>
          <p:cNvSpPr/>
          <p:nvPr/>
        </p:nvSpPr>
        <p:spPr>
          <a:xfrm>
            <a:off x="384048" y="2414016"/>
            <a:ext cx="3840480" cy="329184"/>
          </a:xfrm>
          <a:prstGeom prst="rect">
            <a:avLst/>
          </a:prstGeom>
          <a:noFill/>
          <a:ln/>
        </p:spPr>
        <p:txBody>
          <a:bodyPr wrap="square" lIns="0" tIns="0" rIns="0" bIns="0" rtlCol="0" anchor="ctr"/>
          <a:lstStyle/>
          <a:p>
            <a:pPr marL="0" indent="0">
              <a:buNone/>
            </a:pPr>
            <a:r>
              <a:rPr lang="en-US" sz="950" dirty="0">
                <a:solidFill>
                  <a:srgbClr val="CBD5E1"/>
                </a:solidFill>
              </a:rPr>
              <a:t>Of all positive predictions, how many were truly positive? (TP / TP+FP). Key when false positives are costly.</a:t>
            </a:r>
            <a:endParaRPr lang="en-US" sz="950" dirty="0"/>
          </a:p>
        </p:txBody>
      </p:sp>
      <p:sp>
        <p:nvSpPr>
          <p:cNvPr id="14" name="Shape 12"/>
          <p:cNvSpPr/>
          <p:nvPr/>
        </p:nvSpPr>
        <p:spPr>
          <a:xfrm>
            <a:off x="274320" y="2834640"/>
            <a:ext cx="4069080" cy="621792"/>
          </a:xfrm>
          <a:prstGeom prst="rect">
            <a:avLst/>
          </a:prstGeom>
          <a:solidFill>
            <a:srgbClr val="1A2235"/>
          </a:solidFill>
          <a:ln w="6350">
            <a:solidFill>
              <a:srgbClr val="6366F1"/>
            </a:solidFill>
            <a:prstDash val="solid"/>
          </a:ln>
        </p:spPr>
      </p:sp>
      <p:sp>
        <p:nvSpPr>
          <p:cNvPr id="15" name="Text 13"/>
          <p:cNvSpPr/>
          <p:nvPr/>
        </p:nvSpPr>
        <p:spPr>
          <a:xfrm>
            <a:off x="384048" y="2880360"/>
            <a:ext cx="3840480" cy="201168"/>
          </a:xfrm>
          <a:prstGeom prst="rect">
            <a:avLst/>
          </a:prstGeom>
          <a:noFill/>
          <a:ln/>
        </p:spPr>
        <p:txBody>
          <a:bodyPr wrap="square" lIns="0" tIns="0" rIns="0" bIns="0" rtlCol="0" anchor="ctr"/>
          <a:lstStyle/>
          <a:p>
            <a:pPr marL="0" indent="0">
              <a:buNone/>
            </a:pPr>
            <a:r>
              <a:rPr lang="en-US" sz="1100" b="1" dirty="0">
                <a:solidFill>
                  <a:srgbClr val="6366F1"/>
                </a:solidFill>
              </a:rPr>
              <a:t>Recall (Sensitivity)</a:t>
            </a:r>
            <a:endParaRPr lang="en-US" sz="1100" dirty="0"/>
          </a:p>
        </p:txBody>
      </p:sp>
      <p:sp>
        <p:nvSpPr>
          <p:cNvPr id="16" name="Text 14"/>
          <p:cNvSpPr/>
          <p:nvPr/>
        </p:nvSpPr>
        <p:spPr>
          <a:xfrm>
            <a:off x="384048" y="3090672"/>
            <a:ext cx="3840480" cy="329184"/>
          </a:xfrm>
          <a:prstGeom prst="rect">
            <a:avLst/>
          </a:prstGeom>
          <a:noFill/>
          <a:ln/>
        </p:spPr>
        <p:txBody>
          <a:bodyPr wrap="square" lIns="0" tIns="0" rIns="0" bIns="0" rtlCol="0" anchor="ctr"/>
          <a:lstStyle/>
          <a:p>
            <a:pPr marL="0" indent="0">
              <a:buNone/>
            </a:pPr>
            <a:r>
              <a:rPr lang="en-US" sz="950" dirty="0">
                <a:solidFill>
                  <a:srgbClr val="CBD5E1"/>
                </a:solidFill>
              </a:rPr>
              <a:t>Of all actual positives, how many did we catch? (TP / TP+FN). Critical in medical diagnosis.</a:t>
            </a:r>
            <a:endParaRPr lang="en-US" sz="950" dirty="0"/>
          </a:p>
        </p:txBody>
      </p:sp>
      <p:sp>
        <p:nvSpPr>
          <p:cNvPr id="17" name="Shape 15"/>
          <p:cNvSpPr/>
          <p:nvPr/>
        </p:nvSpPr>
        <p:spPr>
          <a:xfrm>
            <a:off x="274320" y="3511296"/>
            <a:ext cx="4069080" cy="621792"/>
          </a:xfrm>
          <a:prstGeom prst="rect">
            <a:avLst/>
          </a:prstGeom>
          <a:solidFill>
            <a:srgbClr val="1A2235"/>
          </a:solidFill>
          <a:ln w="6350">
            <a:solidFill>
              <a:srgbClr val="6366F1"/>
            </a:solidFill>
            <a:prstDash val="solid"/>
          </a:ln>
        </p:spPr>
      </p:sp>
      <p:sp>
        <p:nvSpPr>
          <p:cNvPr id="18" name="Text 16"/>
          <p:cNvSpPr/>
          <p:nvPr/>
        </p:nvSpPr>
        <p:spPr>
          <a:xfrm>
            <a:off x="384048" y="3557016"/>
            <a:ext cx="3840480" cy="201168"/>
          </a:xfrm>
          <a:prstGeom prst="rect">
            <a:avLst/>
          </a:prstGeom>
          <a:noFill/>
          <a:ln/>
        </p:spPr>
        <p:txBody>
          <a:bodyPr wrap="square" lIns="0" tIns="0" rIns="0" bIns="0" rtlCol="0" anchor="ctr"/>
          <a:lstStyle/>
          <a:p>
            <a:pPr marL="0" indent="0">
              <a:buNone/>
            </a:pPr>
            <a:r>
              <a:rPr lang="en-US" sz="1100" b="1" dirty="0">
                <a:solidFill>
                  <a:srgbClr val="6366F1"/>
                </a:solidFill>
              </a:rPr>
              <a:t>F1 Score</a:t>
            </a:r>
            <a:endParaRPr lang="en-US" sz="1100" dirty="0"/>
          </a:p>
        </p:txBody>
      </p:sp>
      <p:sp>
        <p:nvSpPr>
          <p:cNvPr id="19" name="Text 17"/>
          <p:cNvSpPr/>
          <p:nvPr/>
        </p:nvSpPr>
        <p:spPr>
          <a:xfrm>
            <a:off x="384048" y="3767328"/>
            <a:ext cx="3840480" cy="329184"/>
          </a:xfrm>
          <a:prstGeom prst="rect">
            <a:avLst/>
          </a:prstGeom>
          <a:noFill/>
          <a:ln/>
        </p:spPr>
        <p:txBody>
          <a:bodyPr wrap="square" lIns="0" tIns="0" rIns="0" bIns="0" rtlCol="0" anchor="ctr"/>
          <a:lstStyle/>
          <a:p>
            <a:pPr marL="0" indent="0">
              <a:buNone/>
            </a:pPr>
            <a:r>
              <a:rPr lang="en-US" sz="950" dirty="0">
                <a:solidFill>
                  <a:srgbClr val="CBD5E1"/>
                </a:solidFill>
              </a:rPr>
              <a:t>Harmonic mean of Precision and Recall. Balances both metrics — ideal for imbalanced class problems.</a:t>
            </a:r>
            <a:endParaRPr lang="en-US" sz="950" dirty="0"/>
          </a:p>
        </p:txBody>
      </p:sp>
      <p:sp>
        <p:nvSpPr>
          <p:cNvPr id="20" name="Shape 18"/>
          <p:cNvSpPr/>
          <p:nvPr/>
        </p:nvSpPr>
        <p:spPr>
          <a:xfrm>
            <a:off x="274320" y="4187952"/>
            <a:ext cx="4069080" cy="621792"/>
          </a:xfrm>
          <a:prstGeom prst="rect">
            <a:avLst/>
          </a:prstGeom>
          <a:solidFill>
            <a:srgbClr val="1A2235"/>
          </a:solidFill>
          <a:ln w="6350">
            <a:solidFill>
              <a:srgbClr val="6366F1"/>
            </a:solidFill>
            <a:prstDash val="solid"/>
          </a:ln>
        </p:spPr>
      </p:sp>
      <p:sp>
        <p:nvSpPr>
          <p:cNvPr id="21" name="Text 19"/>
          <p:cNvSpPr/>
          <p:nvPr/>
        </p:nvSpPr>
        <p:spPr>
          <a:xfrm>
            <a:off x="384048" y="4233672"/>
            <a:ext cx="3840480" cy="201168"/>
          </a:xfrm>
          <a:prstGeom prst="rect">
            <a:avLst/>
          </a:prstGeom>
          <a:noFill/>
          <a:ln/>
        </p:spPr>
        <p:txBody>
          <a:bodyPr wrap="square" lIns="0" tIns="0" rIns="0" bIns="0" rtlCol="0" anchor="ctr"/>
          <a:lstStyle/>
          <a:p>
            <a:pPr marL="0" indent="0">
              <a:buNone/>
            </a:pPr>
            <a:r>
              <a:rPr lang="en-US" sz="1100" b="1" dirty="0">
                <a:solidFill>
                  <a:srgbClr val="6366F1"/>
                </a:solidFill>
              </a:rPr>
              <a:t>AUC-ROC</a:t>
            </a:r>
            <a:endParaRPr lang="en-US" sz="1100" dirty="0"/>
          </a:p>
        </p:txBody>
      </p:sp>
      <p:sp>
        <p:nvSpPr>
          <p:cNvPr id="22" name="Text 20"/>
          <p:cNvSpPr/>
          <p:nvPr/>
        </p:nvSpPr>
        <p:spPr>
          <a:xfrm>
            <a:off x="384048" y="4443984"/>
            <a:ext cx="3840480" cy="329184"/>
          </a:xfrm>
          <a:prstGeom prst="rect">
            <a:avLst/>
          </a:prstGeom>
          <a:noFill/>
          <a:ln/>
        </p:spPr>
        <p:txBody>
          <a:bodyPr wrap="square" lIns="0" tIns="0" rIns="0" bIns="0" rtlCol="0" anchor="ctr"/>
          <a:lstStyle/>
          <a:p>
            <a:pPr marL="0" indent="0">
              <a:buNone/>
            </a:pPr>
            <a:r>
              <a:rPr lang="en-US" sz="950" dirty="0">
                <a:solidFill>
                  <a:srgbClr val="CBD5E1"/>
                </a:solidFill>
              </a:rPr>
              <a:t>Area under the Receiver Operating Characteristic curve. Measures discrimination power across thresholds.</a:t>
            </a:r>
            <a:endParaRPr lang="en-US" sz="950" dirty="0"/>
          </a:p>
        </p:txBody>
      </p:sp>
      <p:sp>
        <p:nvSpPr>
          <p:cNvPr id="23" name="Shape 21"/>
          <p:cNvSpPr/>
          <p:nvPr/>
        </p:nvSpPr>
        <p:spPr>
          <a:xfrm>
            <a:off x="4617720" y="1097280"/>
            <a:ext cx="4251960" cy="347472"/>
          </a:xfrm>
          <a:prstGeom prst="rect">
            <a:avLst/>
          </a:prstGeom>
          <a:solidFill>
            <a:srgbClr val="14B8A6"/>
          </a:solidFill>
          <a:ln w="12700">
            <a:solidFill>
              <a:srgbClr val="14B8A6"/>
            </a:solidFill>
            <a:prstDash val="solid"/>
          </a:ln>
        </p:spPr>
      </p:sp>
      <p:sp>
        <p:nvSpPr>
          <p:cNvPr id="24" name="Text 22"/>
          <p:cNvSpPr/>
          <p:nvPr/>
        </p:nvSpPr>
        <p:spPr>
          <a:xfrm>
            <a:off x="4617720" y="1097280"/>
            <a:ext cx="4251960" cy="347472"/>
          </a:xfrm>
          <a:prstGeom prst="rect">
            <a:avLst/>
          </a:prstGeom>
          <a:noFill/>
          <a:ln/>
        </p:spPr>
        <p:txBody>
          <a:bodyPr wrap="square" lIns="0" tIns="0" rIns="0" bIns="0" rtlCol="0" anchor="ctr"/>
          <a:lstStyle/>
          <a:p>
            <a:pPr marL="0" indent="0" algn="ctr">
              <a:buNone/>
            </a:pPr>
            <a:r>
              <a:rPr lang="en-US" sz="1300" b="1" dirty="0">
                <a:solidFill>
                  <a:srgbClr val="FFFFFF"/>
                </a:solidFill>
              </a:rPr>
              <a:t>Regression &amp; Validation Methods</a:t>
            </a:r>
            <a:endParaRPr lang="en-US" sz="1300" dirty="0"/>
          </a:p>
        </p:txBody>
      </p:sp>
      <p:sp>
        <p:nvSpPr>
          <p:cNvPr id="25" name="Shape 23"/>
          <p:cNvSpPr/>
          <p:nvPr/>
        </p:nvSpPr>
        <p:spPr>
          <a:xfrm>
            <a:off x="4617720" y="1481328"/>
            <a:ext cx="4251960" cy="621792"/>
          </a:xfrm>
          <a:prstGeom prst="rect">
            <a:avLst/>
          </a:prstGeom>
          <a:solidFill>
            <a:srgbClr val="1A2235"/>
          </a:solidFill>
          <a:ln w="6350">
            <a:solidFill>
              <a:srgbClr val="14B8A6"/>
            </a:solidFill>
            <a:prstDash val="solid"/>
          </a:ln>
        </p:spPr>
      </p:sp>
      <p:sp>
        <p:nvSpPr>
          <p:cNvPr id="26" name="Text 24"/>
          <p:cNvSpPr/>
          <p:nvPr/>
        </p:nvSpPr>
        <p:spPr>
          <a:xfrm>
            <a:off x="4727448" y="1527048"/>
            <a:ext cx="4023360" cy="201168"/>
          </a:xfrm>
          <a:prstGeom prst="rect">
            <a:avLst/>
          </a:prstGeom>
          <a:noFill/>
          <a:ln/>
        </p:spPr>
        <p:txBody>
          <a:bodyPr wrap="square" lIns="0" tIns="0" rIns="0" bIns="0" rtlCol="0" anchor="ctr"/>
          <a:lstStyle/>
          <a:p>
            <a:pPr marL="0" indent="0">
              <a:buNone/>
            </a:pPr>
            <a:r>
              <a:rPr lang="en-US" sz="1100" b="1" dirty="0">
                <a:solidFill>
                  <a:srgbClr val="14B8A6"/>
                </a:solidFill>
              </a:rPr>
              <a:t>MAE (Mean Absolute Error)</a:t>
            </a:r>
            <a:endParaRPr lang="en-US" sz="1100" dirty="0"/>
          </a:p>
        </p:txBody>
      </p:sp>
      <p:sp>
        <p:nvSpPr>
          <p:cNvPr id="27" name="Text 25"/>
          <p:cNvSpPr/>
          <p:nvPr/>
        </p:nvSpPr>
        <p:spPr>
          <a:xfrm>
            <a:off x="4727448" y="1737360"/>
            <a:ext cx="4023360" cy="329184"/>
          </a:xfrm>
          <a:prstGeom prst="rect">
            <a:avLst/>
          </a:prstGeom>
          <a:noFill/>
          <a:ln/>
        </p:spPr>
        <p:txBody>
          <a:bodyPr wrap="square" lIns="0" tIns="0" rIns="0" bIns="0" rtlCol="0" anchor="ctr"/>
          <a:lstStyle/>
          <a:p>
            <a:pPr marL="0" indent="0">
              <a:buNone/>
            </a:pPr>
            <a:r>
              <a:rPr lang="en-US" sz="950" dirty="0">
                <a:solidFill>
                  <a:srgbClr val="CBD5E1"/>
                </a:solidFill>
              </a:rPr>
              <a:t>Average absolute difference between predictions and actual values. Robust to outliers.</a:t>
            </a:r>
            <a:endParaRPr lang="en-US" sz="950" dirty="0"/>
          </a:p>
        </p:txBody>
      </p:sp>
      <p:sp>
        <p:nvSpPr>
          <p:cNvPr id="28" name="Shape 26"/>
          <p:cNvSpPr/>
          <p:nvPr/>
        </p:nvSpPr>
        <p:spPr>
          <a:xfrm>
            <a:off x="4617720" y="2157984"/>
            <a:ext cx="4251960" cy="621792"/>
          </a:xfrm>
          <a:prstGeom prst="rect">
            <a:avLst/>
          </a:prstGeom>
          <a:solidFill>
            <a:srgbClr val="1A2235"/>
          </a:solidFill>
          <a:ln w="6350">
            <a:solidFill>
              <a:srgbClr val="14B8A6"/>
            </a:solidFill>
            <a:prstDash val="solid"/>
          </a:ln>
        </p:spPr>
      </p:sp>
      <p:sp>
        <p:nvSpPr>
          <p:cNvPr id="29" name="Text 27"/>
          <p:cNvSpPr/>
          <p:nvPr/>
        </p:nvSpPr>
        <p:spPr>
          <a:xfrm>
            <a:off x="4727448" y="2203704"/>
            <a:ext cx="4023360" cy="201168"/>
          </a:xfrm>
          <a:prstGeom prst="rect">
            <a:avLst/>
          </a:prstGeom>
          <a:noFill/>
          <a:ln/>
        </p:spPr>
        <p:txBody>
          <a:bodyPr wrap="square" lIns="0" tIns="0" rIns="0" bIns="0" rtlCol="0" anchor="ctr"/>
          <a:lstStyle/>
          <a:p>
            <a:pPr marL="0" indent="0">
              <a:buNone/>
            </a:pPr>
            <a:r>
              <a:rPr lang="en-US" sz="1100" b="1" dirty="0">
                <a:solidFill>
                  <a:srgbClr val="14B8A6"/>
                </a:solidFill>
              </a:rPr>
              <a:t>MSE / RMSE</a:t>
            </a:r>
            <a:endParaRPr lang="en-US" sz="1100" dirty="0"/>
          </a:p>
        </p:txBody>
      </p:sp>
      <p:sp>
        <p:nvSpPr>
          <p:cNvPr id="30" name="Text 28"/>
          <p:cNvSpPr/>
          <p:nvPr/>
        </p:nvSpPr>
        <p:spPr>
          <a:xfrm>
            <a:off x="4727448" y="2414016"/>
            <a:ext cx="4023360" cy="329184"/>
          </a:xfrm>
          <a:prstGeom prst="rect">
            <a:avLst/>
          </a:prstGeom>
          <a:noFill/>
          <a:ln/>
        </p:spPr>
        <p:txBody>
          <a:bodyPr wrap="square" lIns="0" tIns="0" rIns="0" bIns="0" rtlCol="0" anchor="ctr"/>
          <a:lstStyle/>
          <a:p>
            <a:pPr marL="0" indent="0">
              <a:buNone/>
            </a:pPr>
            <a:r>
              <a:rPr lang="en-US" sz="950" dirty="0">
                <a:solidFill>
                  <a:srgbClr val="CBD5E1"/>
                </a:solidFill>
              </a:rPr>
              <a:t>Mean/Root Mean Squared Error. Penalizes large errors more heavily — sensitive to outliers.</a:t>
            </a:r>
            <a:endParaRPr lang="en-US" sz="950" dirty="0"/>
          </a:p>
        </p:txBody>
      </p:sp>
      <p:sp>
        <p:nvSpPr>
          <p:cNvPr id="31" name="Shape 29"/>
          <p:cNvSpPr/>
          <p:nvPr/>
        </p:nvSpPr>
        <p:spPr>
          <a:xfrm>
            <a:off x="4617720" y="2834640"/>
            <a:ext cx="4251960" cy="621792"/>
          </a:xfrm>
          <a:prstGeom prst="rect">
            <a:avLst/>
          </a:prstGeom>
          <a:solidFill>
            <a:srgbClr val="1A2235"/>
          </a:solidFill>
          <a:ln w="6350">
            <a:solidFill>
              <a:srgbClr val="14B8A6"/>
            </a:solidFill>
            <a:prstDash val="solid"/>
          </a:ln>
        </p:spPr>
      </p:sp>
      <p:sp>
        <p:nvSpPr>
          <p:cNvPr id="32" name="Text 30"/>
          <p:cNvSpPr/>
          <p:nvPr/>
        </p:nvSpPr>
        <p:spPr>
          <a:xfrm>
            <a:off x="4727448" y="2880360"/>
            <a:ext cx="4023360" cy="201168"/>
          </a:xfrm>
          <a:prstGeom prst="rect">
            <a:avLst/>
          </a:prstGeom>
          <a:noFill/>
          <a:ln/>
        </p:spPr>
        <p:txBody>
          <a:bodyPr wrap="square" lIns="0" tIns="0" rIns="0" bIns="0" rtlCol="0" anchor="ctr"/>
          <a:lstStyle/>
          <a:p>
            <a:pPr marL="0" indent="0">
              <a:buNone/>
            </a:pPr>
            <a:r>
              <a:rPr lang="en-US" sz="1100" b="1" dirty="0">
                <a:solidFill>
                  <a:srgbClr val="14B8A6"/>
                </a:solidFill>
              </a:rPr>
              <a:t>R² Score</a:t>
            </a:r>
            <a:endParaRPr lang="en-US" sz="1100" dirty="0"/>
          </a:p>
        </p:txBody>
      </p:sp>
      <p:sp>
        <p:nvSpPr>
          <p:cNvPr id="33" name="Text 31"/>
          <p:cNvSpPr/>
          <p:nvPr/>
        </p:nvSpPr>
        <p:spPr>
          <a:xfrm>
            <a:off x="4727448" y="3090672"/>
            <a:ext cx="4023360" cy="329184"/>
          </a:xfrm>
          <a:prstGeom prst="rect">
            <a:avLst/>
          </a:prstGeom>
          <a:noFill/>
          <a:ln/>
        </p:spPr>
        <p:txBody>
          <a:bodyPr wrap="square" lIns="0" tIns="0" rIns="0" bIns="0" rtlCol="0" anchor="ctr"/>
          <a:lstStyle/>
          <a:p>
            <a:pPr marL="0" indent="0">
              <a:buNone/>
            </a:pPr>
            <a:r>
              <a:rPr lang="en-US" sz="950" dirty="0">
                <a:solidFill>
                  <a:srgbClr val="CBD5E1"/>
                </a:solidFill>
              </a:rPr>
              <a:t>Coefficient of determination. Proportion of variance explained by the model (1.0 = perfect).</a:t>
            </a:r>
            <a:endParaRPr lang="en-US" sz="950" dirty="0"/>
          </a:p>
        </p:txBody>
      </p:sp>
      <p:sp>
        <p:nvSpPr>
          <p:cNvPr id="34" name="Shape 32"/>
          <p:cNvSpPr/>
          <p:nvPr/>
        </p:nvSpPr>
        <p:spPr>
          <a:xfrm>
            <a:off x="4617720" y="3529584"/>
            <a:ext cx="4251960" cy="1426464"/>
          </a:xfrm>
          <a:prstGeom prst="rect">
            <a:avLst/>
          </a:prstGeom>
          <a:solidFill>
            <a:srgbClr val="1A2235"/>
          </a:solidFill>
          <a:ln w="12700">
            <a:solidFill>
              <a:srgbClr val="F59E0B"/>
            </a:solidFill>
            <a:prstDash val="solid"/>
          </a:ln>
        </p:spPr>
      </p:sp>
      <p:sp>
        <p:nvSpPr>
          <p:cNvPr id="35" name="Text 33"/>
          <p:cNvSpPr/>
          <p:nvPr/>
        </p:nvSpPr>
        <p:spPr>
          <a:xfrm>
            <a:off x="4727448" y="3602736"/>
            <a:ext cx="4023360" cy="237744"/>
          </a:xfrm>
          <a:prstGeom prst="rect">
            <a:avLst/>
          </a:prstGeom>
          <a:noFill/>
          <a:ln/>
        </p:spPr>
        <p:txBody>
          <a:bodyPr wrap="square" lIns="0" tIns="0" rIns="0" bIns="0" rtlCol="0" anchor="ctr"/>
          <a:lstStyle/>
          <a:p>
            <a:pPr marL="0" indent="0">
              <a:buNone/>
            </a:pPr>
            <a:r>
              <a:rPr lang="en-US" sz="1200" b="1" dirty="0">
                <a:solidFill>
                  <a:srgbClr val="F59E0B"/>
                </a:solidFill>
              </a:rPr>
              <a:t>Validation Strategies</a:t>
            </a:r>
            <a:endParaRPr lang="en-US" sz="1200" dirty="0"/>
          </a:p>
        </p:txBody>
      </p:sp>
      <p:sp>
        <p:nvSpPr>
          <p:cNvPr id="36" name="Text 34"/>
          <p:cNvSpPr/>
          <p:nvPr/>
        </p:nvSpPr>
        <p:spPr>
          <a:xfrm>
            <a:off x="4727448" y="3858768"/>
            <a:ext cx="4023360" cy="1051560"/>
          </a:xfrm>
          <a:prstGeom prst="rect">
            <a:avLst/>
          </a:prstGeom>
          <a:noFill/>
          <a:ln/>
        </p:spPr>
        <p:txBody>
          <a:bodyPr wrap="square" rtlCol="0" anchor="ctr"/>
          <a:lstStyle/>
          <a:p>
            <a:pPr marL="0" indent="0">
              <a:buNone/>
            </a:pPr>
            <a:r>
              <a:rPr lang="en-US" sz="1000" b="1" dirty="0">
                <a:solidFill>
                  <a:srgbClr val="F59E0B"/>
                </a:solidFill>
              </a:rPr>
              <a:t>Train/Test Split: </a:t>
            </a:r>
            <a:r>
              <a:rPr lang="en-US" sz="1000" dirty="0">
                <a:solidFill>
                  <a:srgbClr val="CBD5E1"/>
                </a:solidFill>
              </a:rPr>
              <a:t>Simple 70-30 or 80-20 division of data</a:t>
            </a:r>
            <a:endParaRPr lang="en-US" sz="1000" dirty="0"/>
          </a:p>
          <a:p>
            <a:pPr marL="0" indent="0">
              <a:buNone/>
            </a:pPr>
            <a:r>
              <a:rPr lang="en-US" sz="1000" b="1" dirty="0">
                <a:solidFill>
                  <a:srgbClr val="F59E0B"/>
                </a:solidFill>
              </a:rPr>
              <a:t>K-Fold Cross-Validation: </a:t>
            </a:r>
            <a:r>
              <a:rPr lang="en-US" sz="1000" dirty="0">
                <a:solidFill>
                  <a:srgbClr val="CBD5E1"/>
                </a:solidFill>
              </a:rPr>
              <a:t>Data split into K folds; model trained K times, each fold used as test once</a:t>
            </a:r>
            <a:endParaRPr lang="en-US" sz="1000" dirty="0"/>
          </a:p>
          <a:p>
            <a:pPr marL="0" indent="0">
              <a:buNone/>
            </a:pPr>
            <a:r>
              <a:rPr lang="en-US" sz="1000" b="1" dirty="0">
                <a:solidFill>
                  <a:srgbClr val="F59E0B"/>
                </a:solidFill>
              </a:rPr>
              <a:t>Holdout Set: </a:t>
            </a:r>
            <a:r>
              <a:rPr lang="en-US" sz="1000" dirty="0">
                <a:solidFill>
                  <a:srgbClr val="CBD5E1"/>
                </a:solidFill>
              </a:rPr>
              <a:t>Keep a final test set completely unseen until final model evaluation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6858000" y="-731520"/>
            <a:ext cx="4114800" cy="4114800"/>
          </a:xfrm>
          <a:prstGeom prst="ellipse">
            <a:avLst/>
          </a:prstGeom>
          <a:solidFill>
            <a:srgbClr val="6366F1">
              <a:alpha val="12000"/>
            </a:srgbClr>
          </a:solidFill>
          <a:ln/>
        </p:spPr>
      </p:sp>
      <p:sp>
        <p:nvSpPr>
          <p:cNvPr id="3" name="Shape 1"/>
          <p:cNvSpPr/>
          <p:nvPr/>
        </p:nvSpPr>
        <p:spPr>
          <a:xfrm>
            <a:off x="-1097280" y="2926080"/>
            <a:ext cx="3200400" cy="3200400"/>
          </a:xfrm>
          <a:prstGeom prst="ellipse">
            <a:avLst/>
          </a:prstGeom>
          <a:solidFill>
            <a:srgbClr val="14B8A6">
              <a:alpha val="12000"/>
            </a:srgbClr>
          </a:solidFill>
          <a:ln/>
        </p:spPr>
      </p:sp>
      <p:sp>
        <p:nvSpPr>
          <p:cNvPr id="4" name="Text 2"/>
          <p:cNvSpPr/>
          <p:nvPr/>
        </p:nvSpPr>
        <p:spPr>
          <a:xfrm>
            <a:off x="457200" y="320040"/>
            <a:ext cx="7315200" cy="5029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5" name="Shape 3"/>
          <p:cNvSpPr/>
          <p:nvPr/>
        </p:nvSpPr>
        <p:spPr>
          <a:xfrm>
            <a:off x="457200" y="868680"/>
            <a:ext cx="1645920" cy="45720"/>
          </a:xfrm>
          <a:prstGeom prst="rect">
            <a:avLst/>
          </a:prstGeom>
          <a:solidFill>
            <a:srgbClr val="6366F1"/>
          </a:solidFill>
          <a:ln w="12700">
            <a:solidFill>
              <a:srgbClr val="6366F1"/>
            </a:solidFill>
            <a:prstDash val="solid"/>
          </a:ln>
        </p:spPr>
      </p:sp>
      <p:sp>
        <p:nvSpPr>
          <p:cNvPr id="6" name="Shape 4"/>
          <p:cNvSpPr/>
          <p:nvPr/>
        </p:nvSpPr>
        <p:spPr>
          <a:xfrm>
            <a:off x="320040" y="1097280"/>
            <a:ext cx="384048" cy="384048"/>
          </a:xfrm>
          <a:prstGeom prst="ellipse">
            <a:avLst/>
          </a:prstGeom>
          <a:solidFill>
            <a:srgbClr val="6366F1"/>
          </a:solidFill>
          <a:ln w="12700">
            <a:solidFill>
              <a:srgbClr val="6366F1"/>
            </a:solidFill>
            <a:prstDash val="solid"/>
          </a:ln>
        </p:spPr>
      </p:sp>
      <p:sp>
        <p:nvSpPr>
          <p:cNvPr id="7" name="Text 5"/>
          <p:cNvSpPr/>
          <p:nvPr/>
        </p:nvSpPr>
        <p:spPr>
          <a:xfrm>
            <a:off x="320040" y="1097280"/>
            <a:ext cx="384048" cy="384048"/>
          </a:xfrm>
          <a:prstGeom prst="rect">
            <a:avLst/>
          </a:prstGeom>
          <a:noFill/>
          <a:ln/>
        </p:spPr>
        <p:txBody>
          <a:bodyPr wrap="square" lIns="0" tIns="0" rIns="0" bIns="0" rtlCol="0" anchor="ctr"/>
          <a:lstStyle/>
          <a:p>
            <a:pPr marL="0" indent="0" algn="ctr">
              <a:buNone/>
            </a:pPr>
            <a:r>
              <a:rPr lang="en-US" sz="1100" b="1" dirty="0">
                <a:solidFill>
                  <a:srgbClr val="0A0E1A"/>
                </a:solidFill>
              </a:rPr>
              <a:t>01</a:t>
            </a:r>
            <a:endParaRPr lang="en-US" sz="1100" dirty="0"/>
          </a:p>
        </p:txBody>
      </p:sp>
      <p:sp>
        <p:nvSpPr>
          <p:cNvPr id="8" name="Text 6"/>
          <p:cNvSpPr/>
          <p:nvPr/>
        </p:nvSpPr>
        <p:spPr>
          <a:xfrm>
            <a:off x="795528" y="1005840"/>
            <a:ext cx="3749040" cy="685800"/>
          </a:xfrm>
          <a:prstGeom prst="rect">
            <a:avLst/>
          </a:prstGeom>
          <a:noFill/>
          <a:ln/>
        </p:spPr>
        <p:txBody>
          <a:bodyPr wrap="square" lIns="0" tIns="0" rIns="0" bIns="0" rtlCol="0" anchor="ctr"/>
          <a:lstStyle/>
          <a:p>
            <a:pPr marL="0" indent="0">
              <a:buNone/>
            </a:pPr>
            <a:r>
              <a:rPr lang="en-US" sz="1050" dirty="0">
                <a:solidFill>
                  <a:srgbClr val="CBD5E1"/>
                </a:solidFill>
              </a:rPr>
              <a:t>ML enables computers to learn from data without explicit programming, transforming how we build intelligent systems.</a:t>
            </a:r>
            <a:endParaRPr lang="en-US" sz="1050" dirty="0"/>
          </a:p>
        </p:txBody>
      </p:sp>
      <p:sp>
        <p:nvSpPr>
          <p:cNvPr id="9" name="Shape 7"/>
          <p:cNvSpPr/>
          <p:nvPr/>
        </p:nvSpPr>
        <p:spPr>
          <a:xfrm>
            <a:off x="320040" y="2011680"/>
            <a:ext cx="384048" cy="384048"/>
          </a:xfrm>
          <a:prstGeom prst="ellipse">
            <a:avLst/>
          </a:prstGeom>
          <a:solidFill>
            <a:srgbClr val="14B8A6"/>
          </a:solidFill>
          <a:ln w="12700">
            <a:solidFill>
              <a:srgbClr val="14B8A6"/>
            </a:solidFill>
            <a:prstDash val="solid"/>
          </a:ln>
        </p:spPr>
      </p:sp>
      <p:sp>
        <p:nvSpPr>
          <p:cNvPr id="10" name="Text 8"/>
          <p:cNvSpPr/>
          <p:nvPr/>
        </p:nvSpPr>
        <p:spPr>
          <a:xfrm>
            <a:off x="320040" y="2011680"/>
            <a:ext cx="384048" cy="384048"/>
          </a:xfrm>
          <a:prstGeom prst="rect">
            <a:avLst/>
          </a:prstGeom>
          <a:noFill/>
          <a:ln/>
        </p:spPr>
        <p:txBody>
          <a:bodyPr wrap="square" lIns="0" tIns="0" rIns="0" bIns="0" rtlCol="0" anchor="ctr"/>
          <a:lstStyle/>
          <a:p>
            <a:pPr marL="0" indent="0" algn="ctr">
              <a:buNone/>
            </a:pPr>
            <a:r>
              <a:rPr lang="en-US" sz="1100" b="1" dirty="0">
                <a:solidFill>
                  <a:srgbClr val="0A0E1A"/>
                </a:solidFill>
              </a:rPr>
              <a:t>02</a:t>
            </a:r>
            <a:endParaRPr lang="en-US" sz="1100" dirty="0"/>
          </a:p>
        </p:txBody>
      </p:sp>
      <p:sp>
        <p:nvSpPr>
          <p:cNvPr id="11" name="Text 9"/>
          <p:cNvSpPr/>
          <p:nvPr/>
        </p:nvSpPr>
        <p:spPr>
          <a:xfrm>
            <a:off x="795528" y="1920240"/>
            <a:ext cx="3749040" cy="685800"/>
          </a:xfrm>
          <a:prstGeom prst="rect">
            <a:avLst/>
          </a:prstGeom>
          <a:noFill/>
          <a:ln/>
        </p:spPr>
        <p:txBody>
          <a:bodyPr wrap="square" lIns="0" tIns="0" rIns="0" bIns="0" rtlCol="0" anchor="ctr"/>
          <a:lstStyle/>
          <a:p>
            <a:pPr marL="0" indent="0">
              <a:buNone/>
            </a:pPr>
            <a:r>
              <a:rPr lang="en-US" sz="1050" dirty="0">
                <a:solidFill>
                  <a:srgbClr val="CBD5E1"/>
                </a:solidFill>
              </a:rPr>
              <a:t>Its roots span from 1940s neuroscience to today's large language models — a rich 80-year journey of discovery.</a:t>
            </a:r>
            <a:endParaRPr lang="en-US" sz="1050" dirty="0"/>
          </a:p>
        </p:txBody>
      </p:sp>
      <p:sp>
        <p:nvSpPr>
          <p:cNvPr id="12" name="Shape 10"/>
          <p:cNvSpPr/>
          <p:nvPr/>
        </p:nvSpPr>
        <p:spPr>
          <a:xfrm>
            <a:off x="320040" y="2926080"/>
            <a:ext cx="384048" cy="384048"/>
          </a:xfrm>
          <a:prstGeom prst="ellipse">
            <a:avLst/>
          </a:prstGeom>
          <a:solidFill>
            <a:srgbClr val="F59E0B"/>
          </a:solidFill>
          <a:ln w="12700">
            <a:solidFill>
              <a:srgbClr val="F59E0B"/>
            </a:solidFill>
            <a:prstDash val="solid"/>
          </a:ln>
        </p:spPr>
      </p:sp>
      <p:sp>
        <p:nvSpPr>
          <p:cNvPr id="13" name="Text 11"/>
          <p:cNvSpPr/>
          <p:nvPr/>
        </p:nvSpPr>
        <p:spPr>
          <a:xfrm>
            <a:off x="320040" y="2926080"/>
            <a:ext cx="384048" cy="384048"/>
          </a:xfrm>
          <a:prstGeom prst="rect">
            <a:avLst/>
          </a:prstGeom>
          <a:noFill/>
          <a:ln/>
        </p:spPr>
        <p:txBody>
          <a:bodyPr wrap="square" lIns="0" tIns="0" rIns="0" bIns="0" rtlCol="0" anchor="ctr"/>
          <a:lstStyle/>
          <a:p>
            <a:pPr marL="0" indent="0" algn="ctr">
              <a:buNone/>
            </a:pPr>
            <a:r>
              <a:rPr lang="en-US" sz="1100" b="1" dirty="0">
                <a:solidFill>
                  <a:srgbClr val="0A0E1A"/>
                </a:solidFill>
              </a:rPr>
              <a:t>03</a:t>
            </a:r>
            <a:endParaRPr lang="en-US" sz="1100" dirty="0"/>
          </a:p>
        </p:txBody>
      </p:sp>
      <p:sp>
        <p:nvSpPr>
          <p:cNvPr id="14" name="Text 12"/>
          <p:cNvSpPr/>
          <p:nvPr/>
        </p:nvSpPr>
        <p:spPr>
          <a:xfrm>
            <a:off x="795528" y="2834640"/>
            <a:ext cx="3749040" cy="685800"/>
          </a:xfrm>
          <a:prstGeom prst="rect">
            <a:avLst/>
          </a:prstGeom>
          <a:noFill/>
          <a:ln/>
        </p:spPr>
        <p:txBody>
          <a:bodyPr wrap="square" lIns="0" tIns="0" rIns="0" bIns="0" rtlCol="0" anchor="ctr"/>
          <a:lstStyle/>
          <a:p>
            <a:pPr marL="0" indent="0">
              <a:buNone/>
            </a:pPr>
            <a:r>
              <a:rPr lang="en-US" sz="1050" dirty="0">
                <a:solidFill>
                  <a:srgbClr val="CBD5E1"/>
                </a:solidFill>
              </a:rPr>
              <a:t>Applications span every industry: healthcare, finance, NLP, vision, security, and beyond.</a:t>
            </a:r>
            <a:endParaRPr lang="en-US" sz="1050" dirty="0"/>
          </a:p>
        </p:txBody>
      </p:sp>
      <p:sp>
        <p:nvSpPr>
          <p:cNvPr id="15" name="Shape 13"/>
          <p:cNvSpPr/>
          <p:nvPr/>
        </p:nvSpPr>
        <p:spPr>
          <a:xfrm>
            <a:off x="320040" y="3840480"/>
            <a:ext cx="384048" cy="384048"/>
          </a:xfrm>
          <a:prstGeom prst="ellipse">
            <a:avLst/>
          </a:prstGeom>
          <a:solidFill>
            <a:srgbClr val="8B5CF6"/>
          </a:solidFill>
          <a:ln w="12700">
            <a:solidFill>
              <a:srgbClr val="8B5CF6"/>
            </a:solidFill>
            <a:prstDash val="solid"/>
          </a:ln>
        </p:spPr>
      </p:sp>
      <p:sp>
        <p:nvSpPr>
          <p:cNvPr id="16" name="Text 14"/>
          <p:cNvSpPr/>
          <p:nvPr/>
        </p:nvSpPr>
        <p:spPr>
          <a:xfrm>
            <a:off x="320040" y="3840480"/>
            <a:ext cx="384048" cy="384048"/>
          </a:xfrm>
          <a:prstGeom prst="rect">
            <a:avLst/>
          </a:prstGeom>
          <a:noFill/>
          <a:ln/>
        </p:spPr>
        <p:txBody>
          <a:bodyPr wrap="square" lIns="0" tIns="0" rIns="0" bIns="0" rtlCol="0" anchor="ctr"/>
          <a:lstStyle/>
          <a:p>
            <a:pPr marL="0" indent="0" algn="ctr">
              <a:buNone/>
            </a:pPr>
            <a:r>
              <a:rPr lang="en-US" sz="1100" b="1" dirty="0">
                <a:solidFill>
                  <a:srgbClr val="0A0E1A"/>
                </a:solidFill>
              </a:rPr>
              <a:t>04</a:t>
            </a:r>
            <a:endParaRPr lang="en-US" sz="1100" dirty="0"/>
          </a:p>
        </p:txBody>
      </p:sp>
      <p:sp>
        <p:nvSpPr>
          <p:cNvPr id="17" name="Text 15"/>
          <p:cNvSpPr/>
          <p:nvPr/>
        </p:nvSpPr>
        <p:spPr>
          <a:xfrm>
            <a:off x="795528" y="3749040"/>
            <a:ext cx="3749040" cy="685800"/>
          </a:xfrm>
          <a:prstGeom prst="rect">
            <a:avLst/>
          </a:prstGeom>
          <a:noFill/>
          <a:ln/>
        </p:spPr>
        <p:txBody>
          <a:bodyPr wrap="square" lIns="0" tIns="0" rIns="0" bIns="0" rtlCol="0" anchor="ctr"/>
          <a:lstStyle/>
          <a:p>
            <a:pPr marL="0" indent="0">
              <a:buNone/>
            </a:pPr>
            <a:r>
              <a:rPr lang="en-US" sz="1050" dirty="0">
                <a:solidFill>
                  <a:srgbClr val="CBD5E1"/>
                </a:solidFill>
              </a:rPr>
              <a:t>Three core paradigms — Supervised, Unsupervised, and Reinforcement Learning — power different use cases.</a:t>
            </a:r>
            <a:endParaRPr lang="en-US" sz="1050" dirty="0"/>
          </a:p>
        </p:txBody>
      </p:sp>
      <p:sp>
        <p:nvSpPr>
          <p:cNvPr id="18" name="Shape 16"/>
          <p:cNvSpPr/>
          <p:nvPr/>
        </p:nvSpPr>
        <p:spPr>
          <a:xfrm>
            <a:off x="4663440" y="1097280"/>
            <a:ext cx="384048" cy="384048"/>
          </a:xfrm>
          <a:prstGeom prst="ellipse">
            <a:avLst/>
          </a:prstGeom>
          <a:solidFill>
            <a:srgbClr val="14B8A6"/>
          </a:solidFill>
          <a:ln w="12700">
            <a:solidFill>
              <a:srgbClr val="14B8A6"/>
            </a:solidFill>
            <a:prstDash val="solid"/>
          </a:ln>
        </p:spPr>
      </p:sp>
      <p:sp>
        <p:nvSpPr>
          <p:cNvPr id="19" name="Text 17"/>
          <p:cNvSpPr/>
          <p:nvPr/>
        </p:nvSpPr>
        <p:spPr>
          <a:xfrm>
            <a:off x="4663440" y="1097280"/>
            <a:ext cx="384048" cy="384048"/>
          </a:xfrm>
          <a:prstGeom prst="rect">
            <a:avLst/>
          </a:prstGeom>
          <a:noFill/>
          <a:ln/>
        </p:spPr>
        <p:txBody>
          <a:bodyPr wrap="square" lIns="0" tIns="0" rIns="0" bIns="0" rtlCol="0" anchor="ctr"/>
          <a:lstStyle/>
          <a:p>
            <a:pPr marL="0" indent="0" algn="ctr">
              <a:buNone/>
            </a:pPr>
            <a:r>
              <a:rPr lang="en-US" sz="1100" b="1" dirty="0">
                <a:solidFill>
                  <a:srgbClr val="0A0E1A"/>
                </a:solidFill>
              </a:rPr>
              <a:t>05</a:t>
            </a:r>
            <a:endParaRPr lang="en-US" sz="1100" dirty="0"/>
          </a:p>
        </p:txBody>
      </p:sp>
      <p:sp>
        <p:nvSpPr>
          <p:cNvPr id="20" name="Text 18"/>
          <p:cNvSpPr/>
          <p:nvPr/>
        </p:nvSpPr>
        <p:spPr>
          <a:xfrm>
            <a:off x="5138928" y="1005840"/>
            <a:ext cx="3749040" cy="685800"/>
          </a:xfrm>
          <a:prstGeom prst="rect">
            <a:avLst/>
          </a:prstGeom>
          <a:noFill/>
          <a:ln/>
        </p:spPr>
        <p:txBody>
          <a:bodyPr wrap="square" lIns="0" tIns="0" rIns="0" bIns="0" rtlCol="0" anchor="ctr"/>
          <a:lstStyle/>
          <a:p>
            <a:pPr marL="0" indent="0">
              <a:buNone/>
            </a:pPr>
            <a:r>
              <a:rPr lang="en-US" sz="1050" dirty="0">
                <a:solidFill>
                  <a:srgbClr val="CBD5E1"/>
                </a:solidFill>
              </a:rPr>
              <a:t>Abstraction lets ML models internalize complex world knowledge through layered representations.</a:t>
            </a:r>
            <a:endParaRPr lang="en-US" sz="1050" dirty="0"/>
          </a:p>
        </p:txBody>
      </p:sp>
      <p:sp>
        <p:nvSpPr>
          <p:cNvPr id="21" name="Shape 19"/>
          <p:cNvSpPr/>
          <p:nvPr/>
        </p:nvSpPr>
        <p:spPr>
          <a:xfrm>
            <a:off x="4663440" y="2011680"/>
            <a:ext cx="384048" cy="384048"/>
          </a:xfrm>
          <a:prstGeom prst="ellipse">
            <a:avLst/>
          </a:prstGeom>
          <a:solidFill>
            <a:srgbClr val="6366F1"/>
          </a:solidFill>
          <a:ln w="12700">
            <a:solidFill>
              <a:srgbClr val="6366F1"/>
            </a:solidFill>
            <a:prstDash val="solid"/>
          </a:ln>
        </p:spPr>
      </p:sp>
      <p:sp>
        <p:nvSpPr>
          <p:cNvPr id="22" name="Text 20"/>
          <p:cNvSpPr/>
          <p:nvPr/>
        </p:nvSpPr>
        <p:spPr>
          <a:xfrm>
            <a:off x="4663440" y="2011680"/>
            <a:ext cx="384048" cy="384048"/>
          </a:xfrm>
          <a:prstGeom prst="rect">
            <a:avLst/>
          </a:prstGeom>
          <a:noFill/>
          <a:ln/>
        </p:spPr>
        <p:txBody>
          <a:bodyPr wrap="square" lIns="0" tIns="0" rIns="0" bIns="0" rtlCol="0" anchor="ctr"/>
          <a:lstStyle/>
          <a:p>
            <a:pPr marL="0" indent="0" algn="ctr">
              <a:buNone/>
            </a:pPr>
            <a:r>
              <a:rPr lang="en-US" sz="1100" b="1" dirty="0">
                <a:solidFill>
                  <a:srgbClr val="0A0E1A"/>
                </a:solidFill>
              </a:rPr>
              <a:t>06</a:t>
            </a:r>
            <a:endParaRPr lang="en-US" sz="1100" dirty="0"/>
          </a:p>
        </p:txBody>
      </p:sp>
      <p:sp>
        <p:nvSpPr>
          <p:cNvPr id="23" name="Text 21"/>
          <p:cNvSpPr/>
          <p:nvPr/>
        </p:nvSpPr>
        <p:spPr>
          <a:xfrm>
            <a:off x="5138928" y="1920240"/>
            <a:ext cx="3749040" cy="685800"/>
          </a:xfrm>
          <a:prstGeom prst="rect">
            <a:avLst/>
          </a:prstGeom>
          <a:noFill/>
          <a:ln/>
        </p:spPr>
        <p:txBody>
          <a:bodyPr wrap="square" lIns="0" tIns="0" rIns="0" bIns="0" rtlCol="0" anchor="ctr"/>
          <a:lstStyle/>
          <a:p>
            <a:pPr marL="0" indent="0">
              <a:buNone/>
            </a:pPr>
            <a:r>
              <a:rPr lang="en-US" sz="1050" dirty="0">
                <a:solidFill>
                  <a:srgbClr val="CBD5E1"/>
                </a:solidFill>
              </a:rPr>
              <a:t>Generalization — not memorization — is the true goal. Avoiding overfitting and underfitting is essential.</a:t>
            </a:r>
            <a:endParaRPr lang="en-US" sz="1050" dirty="0"/>
          </a:p>
        </p:txBody>
      </p:sp>
      <p:sp>
        <p:nvSpPr>
          <p:cNvPr id="24" name="Shape 22"/>
          <p:cNvSpPr/>
          <p:nvPr/>
        </p:nvSpPr>
        <p:spPr>
          <a:xfrm>
            <a:off x="4663440" y="2926080"/>
            <a:ext cx="384048" cy="384048"/>
          </a:xfrm>
          <a:prstGeom prst="ellipse">
            <a:avLst/>
          </a:prstGeom>
          <a:solidFill>
            <a:srgbClr val="F59E0B"/>
          </a:solidFill>
          <a:ln w="12700">
            <a:solidFill>
              <a:srgbClr val="F59E0B"/>
            </a:solidFill>
            <a:prstDash val="solid"/>
          </a:ln>
        </p:spPr>
      </p:sp>
      <p:sp>
        <p:nvSpPr>
          <p:cNvPr id="25" name="Text 23"/>
          <p:cNvSpPr/>
          <p:nvPr/>
        </p:nvSpPr>
        <p:spPr>
          <a:xfrm>
            <a:off x="4663440" y="2926080"/>
            <a:ext cx="384048" cy="384048"/>
          </a:xfrm>
          <a:prstGeom prst="rect">
            <a:avLst/>
          </a:prstGeom>
          <a:noFill/>
          <a:ln/>
        </p:spPr>
        <p:txBody>
          <a:bodyPr wrap="square" lIns="0" tIns="0" rIns="0" bIns="0" rtlCol="0" anchor="ctr"/>
          <a:lstStyle/>
          <a:p>
            <a:pPr marL="0" indent="0" algn="ctr">
              <a:buNone/>
            </a:pPr>
            <a:r>
              <a:rPr lang="en-US" sz="1100" b="1" dirty="0">
                <a:solidFill>
                  <a:srgbClr val="0A0E1A"/>
                </a:solidFill>
              </a:rPr>
              <a:t>07</a:t>
            </a:r>
            <a:endParaRPr lang="en-US" sz="1100" dirty="0"/>
          </a:p>
        </p:txBody>
      </p:sp>
      <p:sp>
        <p:nvSpPr>
          <p:cNvPr id="26" name="Text 24"/>
          <p:cNvSpPr/>
          <p:nvPr/>
        </p:nvSpPr>
        <p:spPr>
          <a:xfrm>
            <a:off x="5138928" y="2834640"/>
            <a:ext cx="3749040" cy="685800"/>
          </a:xfrm>
          <a:prstGeom prst="rect">
            <a:avLst/>
          </a:prstGeom>
          <a:noFill/>
          <a:ln/>
        </p:spPr>
        <p:txBody>
          <a:bodyPr wrap="square" lIns="0" tIns="0" rIns="0" bIns="0" rtlCol="0" anchor="ctr"/>
          <a:lstStyle/>
          <a:p>
            <a:pPr marL="0" indent="0">
              <a:buNone/>
            </a:pPr>
            <a:r>
              <a:rPr lang="en-US" sz="1050" dirty="0">
                <a:solidFill>
                  <a:srgbClr val="CBD5E1"/>
                </a:solidFill>
              </a:rPr>
              <a:t>Rigorous evaluation using metrics and cross-validation is critical to building trustworthy, deployable models.</a:t>
            </a:r>
            <a:endParaRPr lang="en-US" sz="1050" dirty="0"/>
          </a:p>
        </p:txBody>
      </p:sp>
      <p:sp>
        <p:nvSpPr>
          <p:cNvPr id="27" name="Shape 25"/>
          <p:cNvSpPr/>
          <p:nvPr/>
        </p:nvSpPr>
        <p:spPr>
          <a:xfrm>
            <a:off x="0" y="4800600"/>
            <a:ext cx="9144000" cy="342900"/>
          </a:xfrm>
          <a:prstGeom prst="rect">
            <a:avLst/>
          </a:prstGeom>
          <a:solidFill>
            <a:srgbClr val="1E2A40"/>
          </a:solidFill>
          <a:ln w="12700">
            <a:solidFill>
              <a:srgbClr val="1E2A40"/>
            </a:solidFill>
            <a:prstDash val="solid"/>
          </a:ln>
        </p:spPr>
      </p:sp>
      <p:sp>
        <p:nvSpPr>
          <p:cNvPr id="28" name="Shape 26"/>
          <p:cNvSpPr/>
          <p:nvPr/>
        </p:nvSpPr>
        <p:spPr>
          <a:xfrm>
            <a:off x="0" y="4800600"/>
            <a:ext cx="3200400" cy="342900"/>
          </a:xfrm>
          <a:prstGeom prst="rect">
            <a:avLst/>
          </a:prstGeom>
          <a:solidFill>
            <a:srgbClr val="6366F1"/>
          </a:solidFill>
          <a:ln w="12700">
            <a:solidFill>
              <a:srgbClr val="6366F1"/>
            </a:solidFill>
            <a:prstDash val="solid"/>
          </a:ln>
        </p:spPr>
      </p:sp>
      <p:sp>
        <p:nvSpPr>
          <p:cNvPr id="29" name="Text 27"/>
          <p:cNvSpPr/>
          <p:nvPr/>
        </p:nvSpPr>
        <p:spPr>
          <a:xfrm>
            <a:off x="0" y="4800600"/>
            <a:ext cx="3200400" cy="342900"/>
          </a:xfrm>
          <a:prstGeom prst="rect">
            <a:avLst/>
          </a:prstGeom>
          <a:noFill/>
          <a:ln/>
        </p:spPr>
        <p:txBody>
          <a:bodyPr wrap="square" lIns="0" tIns="0" rIns="0" bIns="0" rtlCol="0" anchor="ctr"/>
          <a:lstStyle/>
          <a:p>
            <a:pPr marL="0" indent="0" algn="ctr">
              <a:buNone/>
            </a:pPr>
            <a:r>
              <a:rPr lang="en-US" sz="1100" b="1" dirty="0">
                <a:solidFill>
                  <a:srgbClr val="FFFFFF"/>
                </a:solidFill>
              </a:rPr>
              <a:t>Machine Learning: An Introduction</a:t>
            </a:r>
            <a:endParaRPr lang="en-US" sz="1100" dirty="0"/>
          </a:p>
        </p:txBody>
      </p:sp>
      <p:sp>
        <p:nvSpPr>
          <p:cNvPr id="30" name="Text 28"/>
          <p:cNvSpPr/>
          <p:nvPr/>
        </p:nvSpPr>
        <p:spPr>
          <a:xfrm>
            <a:off x="3291840" y="4800600"/>
            <a:ext cx="5669280" cy="342900"/>
          </a:xfrm>
          <a:prstGeom prst="rect">
            <a:avLst/>
          </a:prstGeom>
          <a:noFill/>
          <a:ln/>
        </p:spPr>
        <p:txBody>
          <a:bodyPr wrap="square" lIns="0" tIns="0" rIns="0" bIns="0" rtlCol="0" anchor="ctr"/>
          <a:lstStyle/>
          <a:p>
            <a:pPr marL="0" indent="0">
              <a:buNone/>
            </a:pPr>
            <a:r>
              <a:rPr lang="en-US" sz="1100" dirty="0">
                <a:solidFill>
                  <a:srgbClr val="64748B"/>
                </a:solidFill>
              </a:rPr>
              <a:t>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2146</Words>
  <Application>Microsoft Macintosh PowerPoint</Application>
  <PresentationFormat>On-screen Show (16:9)</PresentationFormat>
  <Paragraphs>308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subject>PptxGenJS Presentation</dc:subject>
  <dc:creator>ML Education</dc:creator>
  <cp:lastModifiedBy>Shalini Mittal</cp:lastModifiedBy>
  <cp:revision>4</cp:revision>
  <dcterms:created xsi:type="dcterms:W3CDTF">2026-04-01T03:00:58Z</dcterms:created>
  <dcterms:modified xsi:type="dcterms:W3CDTF">2026-04-01T03:53:32Z</dcterms:modified>
</cp:coreProperties>
</file>