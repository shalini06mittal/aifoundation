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13716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82880"/>
            <a:ext cx="1645920" cy="1645920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3200400"/>
            <a:ext cx="2011680" cy="2011680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274320" y="2651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31920" y="100584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931920" y="16916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Overview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931920" y="2240280"/>
            <a:ext cx="45720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1920" y="242316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23774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Artificial Intelligence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31920" y="283464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0520" y="27889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and Evolution of AI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931920" y="324612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32004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Across Various Industries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931920" y="365760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60520" y="361188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31920" y="406908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40233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of AI Adoption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931920" y="448056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60520" y="44348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of AI Adoption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Introduction to Artificial Intelligence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Artificial Intelligence?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solidFill>
            <a:srgbClr val="DBEAFE"/>
          </a:solidFill>
          <a:ln w="635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627632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(AI) is the simulation of human intelligence in machines that are programmed to think, learn, reason, and problem-solve — enabling computers to perform tasks that typically require human cognition.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1965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651760"/>
            <a:ext cx="1965960" cy="228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0779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273552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Acquiring information and rules for using it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78608" y="2651760"/>
            <a:ext cx="1965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78608" y="2651760"/>
            <a:ext cx="1965960" cy="228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70048" y="290779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70048" y="3273552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rules to reach approximate or definite conclusions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0016" y="2651760"/>
            <a:ext cx="1965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0016" y="2651760"/>
            <a:ext cx="196596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290779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91456" y="3273552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for solutions through logical steps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21424" y="2651760"/>
            <a:ext cx="1965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21424" y="2651760"/>
            <a:ext cx="1965960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12864" y="290779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12864" y="3273552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and interpreting the environment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AI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901184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85546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AI (Weak AI) — Specific tasks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5148072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10235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AI (Strong AI) — Human-like reasoning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5394960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34924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AI — Surpasses human intelligence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0" y="4572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AI Branches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029200" y="4846320"/>
            <a:ext cx="3200400" cy="20116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484632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029200" y="5093208"/>
            <a:ext cx="3200400" cy="20116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509320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29200" y="5340096"/>
            <a:ext cx="3200400" cy="20116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0" y="534009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29200" y="5586984"/>
            <a:ext cx="3200400" cy="20116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0" y="558698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029200" y="5833872"/>
            <a:ext cx="3200400" cy="20116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20640" y="583387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History and Evolution of Artificial Intelligence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Concept to Reality: The AI Journey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697480"/>
            <a:ext cx="822960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596896"/>
            <a:ext cx="219456" cy="21945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4173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68096" y="1691640"/>
            <a:ext cx="36576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1887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Test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92608" y="306324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Turing proposes the Turing Test for machine intelligence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705356" y="2596896"/>
            <a:ext cx="219456" cy="21945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31036" y="28529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1956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15084" y="2788920"/>
            <a:ext cx="36576" cy="9144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39596" y="3703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Born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339596" y="1417320"/>
            <a:ext cx="1005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Dartmouth Conference — term 'Artificial Intelligence' coined by John McCarthy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752344" y="2596896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78024" y="14173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862072" y="1691640"/>
            <a:ext cx="36576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86584" y="11887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ELIZA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386584" y="306324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chatbot created at MIT, simulating conversation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799332" y="2596896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5012" y="28529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909060" y="2788920"/>
            <a:ext cx="36576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33572" y="3703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33572" y="1417320"/>
            <a:ext cx="1005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AI systems deployed in business and medicine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846320" y="2596896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14173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956048" y="1691640"/>
            <a:ext cx="36576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0" y="11887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Blue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480560" y="306324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IBM's Deep Blue defeats chess grandmaster Garry Kasparov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893308" y="2596896"/>
            <a:ext cx="219456" cy="21945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18988" y="28529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03036" y="2788920"/>
            <a:ext cx="36576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27548" y="3703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527548" y="1417320"/>
            <a:ext cx="1005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 wins Jeopardy!, demonstrating NLP at scale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940296" y="2596896"/>
            <a:ext cx="219456" cy="21945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65976" y="14173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050024" y="1691640"/>
            <a:ext cx="36576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74536" y="11887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AlphaGo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574536" y="306324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DeepMind's AlphaGo defeats world Go champion Lee Sedol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987284" y="2596896"/>
            <a:ext cx="219456" cy="219456"/>
          </a:xfrm>
          <a:prstGeom prst="ellipse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12964" y="28529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2022+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097012" y="2788920"/>
            <a:ext cx="36576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21524" y="3703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Boom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621524" y="1417320"/>
            <a:ext cx="1005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Gemini, and LLMs revolutionize public AI access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" y="4544568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Note: AI experienced two major 'AI Winters' (1974–1980 and 1987–1993) — periods of reduced funding and interest due to unmet expectations, before resurging with the era of Big Data and Deep Learning.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Impact of AI Across Various Industries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Every Sector of the Economy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1920240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727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$15.7T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02996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GDP boost by 2030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60320" y="1463040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0" y="1463040"/>
            <a:ext cx="192024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5727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51760" y="202996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devices use AI in some form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463040"/>
            <a:ext cx="192024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5727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85M+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54880" y="202996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transformed by AI by 2025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766560" y="1463040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0" y="1463040"/>
            <a:ext cx="1920240" cy="1097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5727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58000" y="202996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gain in AI-adopting firms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2697480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697480"/>
            <a:ext cx="164592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27889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" y="3044952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diagnostics, drug discovery, personalized medicine, robotic surgery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91840" y="2697480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2697480"/>
            <a:ext cx="164592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47872" y="27889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47872" y="3044952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detection, algorithmic trading, risk assessment, chatbots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26480" y="2697480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697480"/>
            <a:ext cx="164592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82512" y="27889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82512" y="3044952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learning, automated grading, adaptive curricula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3931920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3931920"/>
            <a:ext cx="164592" cy="10972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" y="40233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13232" y="4279392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maintenance, quality control, supply chain optimization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91840" y="3931920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91840" y="3931920"/>
            <a:ext cx="164592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47872" y="40233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&amp; E-commerce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547872" y="4279392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recommendations, inventory management, demand forecasting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126480" y="3931920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26480" y="3931920"/>
            <a:ext cx="164592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82512" y="40233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382512" y="4279392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vehicles, traffic optimization, route planning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Real-World Applications of AI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Dive: Finance, Healthcare &amp; E-Commerce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74320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417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Finance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2103120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103120"/>
            <a:ext cx="27432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1762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395728"/>
            <a:ext cx="256032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transaction monitoring using ML models (e.g., PayPal, Visa)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825496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825496"/>
            <a:ext cx="27432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8986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Trading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118104"/>
            <a:ext cx="256032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executes trades at microsecond speeds based on market signals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3547872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547872"/>
            <a:ext cx="27432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62102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3840480"/>
            <a:ext cx="256032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data &amp; ML improve loan eligibility beyond FICO scores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4270248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4270248"/>
            <a:ext cx="27432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3434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Robo-Advisors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4562856"/>
            <a:ext cx="256032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portfolio management (Betterment, Wealthfront)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46120" y="1417320"/>
            <a:ext cx="274320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46120" y="1417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Healthcare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46120" y="2103120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2103120"/>
            <a:ext cx="2743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21762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37560" y="2395728"/>
            <a:ext cx="256032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detects cancers, tumors in X-rays/MRIs (Google DeepMind, Zebra Medical)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46120" y="2825496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46120" y="2825496"/>
            <a:ext cx="2743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28986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Discovery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37560" y="3118104"/>
            <a:ext cx="256032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 predicts protein structures; accelerates pharma R&amp;D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46120" y="3547872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46120" y="3547872"/>
            <a:ext cx="2743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37560" y="362102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Assistants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37560" y="3840480"/>
            <a:ext cx="256032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checkers and triage bots reduce ER wait times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46120" y="4270248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46120" y="4270248"/>
            <a:ext cx="2743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43434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337560" y="4562856"/>
            <a:ext cx="256032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patient readmissions and deterioration risk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172200" y="1417320"/>
            <a:ext cx="274320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172200" y="1417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E-Commerce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172200" y="2103120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172200" y="2103120"/>
            <a:ext cx="2743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21762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263640" y="2395728"/>
            <a:ext cx="256032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Amazon, Netflix use collaborative filtering to personalize content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172200" y="2825496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172200" y="2825496"/>
            <a:ext cx="2743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63640" y="28986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263640" y="3118104"/>
            <a:ext cx="256032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price adjustments based on demand &amp; competition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172200" y="3547872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172200" y="3547872"/>
            <a:ext cx="2743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63640" y="362102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&amp; Support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263640" y="3840480"/>
            <a:ext cx="256032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handles 80%+ of customer service interactions 24/7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172200" y="4270248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172200" y="4270248"/>
            <a:ext cx="2743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63640" y="43434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Search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263640" y="4562856"/>
            <a:ext cx="256032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Pinterest, ASOS let users search products using images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Opportunities of AI Adoption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 Is the Time to Embrace AI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406908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45920"/>
            <a:ext cx="411480" cy="411480"/>
          </a:xfrm>
          <a:prstGeom prst="ellipse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276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5727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Efficiency &amp; Automation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184708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automates repetitive, time-consuming tasks — freeing human talent for higher-value strategic work. McKinsey estimates AI can automate 45% of current work activities.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00600" y="146304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463040"/>
            <a:ext cx="40690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37760" y="1645920"/>
            <a:ext cx="411480" cy="411480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6276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40680" y="15727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Decision-Making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40680" y="184708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processes vast datasets in real time, surfacing patterns invisible to humans. Data-driven decisions improve accuracy in forecasting, risk assessment, and strategy.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651760"/>
            <a:ext cx="406908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2834640"/>
            <a:ext cx="411480" cy="411480"/>
          </a:xfrm>
          <a:prstGeom prst="ellipse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8163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276148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 at Scale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303580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enables hyper-personalization across millions of customers simultaneously — driving satisfaction, loyalty, and conversion rates at unprecedented levels.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00600" y="265176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2651760"/>
            <a:ext cx="406908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37760" y="2834640"/>
            <a:ext cx="411480" cy="411480"/>
          </a:xfrm>
          <a:prstGeom prst="ellipse">
            <a:avLst/>
          </a:prstGeom>
          <a:solidFill>
            <a:srgbClr val="0EA5E9">
              <a:alpha val="85000"/>
            </a:srgbClr>
          </a:solidFill>
          <a:ln w="12700">
            <a:solidFill>
              <a:srgbClr val="0EA5E9">
                <a:alpha val="7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8163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40680" y="276148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40680" y="303580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reduces operational costs through process automation, predictive maintenance, and optimized resource allocation — with ROI often exceeding 200% within 3 years.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84048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840480"/>
            <a:ext cx="40690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4023360"/>
            <a:ext cx="411480" cy="411480"/>
          </a:xfrm>
          <a:prstGeom prst="ellipse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0050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97280" y="39502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Revenue Streams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" y="422452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opens doors to entirely new products, services, and business models — from AI-as-a-Service platforms to intelligent product features and data monetization.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00600" y="384048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3840480"/>
            <a:ext cx="406908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37760" y="4023360"/>
            <a:ext cx="411480" cy="411480"/>
          </a:xfrm>
          <a:prstGeom prst="ellipse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>
                <a:alpha val="7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40050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🏆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440680" y="39502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40680" y="422452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AI adopters gain significant market differentiation. 84% of executives say AI is essential to achieving their growth objectives in the next 5 years.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Challenges of AI Adoption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Navigating the Roadblocks to AI Success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444752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44752"/>
            <a:ext cx="2651760" cy="457200"/>
          </a:xfrm>
          <a:prstGeom prst="rect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1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90472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51790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Availability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975104"/>
            <a:ext cx="246888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depend on large, high-quality datasets. Poor data leads to biased or inaccurate models. Data silos, inconsistencies, and privacy constraints remain major hurdles.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444752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444752"/>
            <a:ext cx="2651760" cy="457200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1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490472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49040" y="151790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Skilled Talent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1840" y="1975104"/>
            <a:ext cx="246888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shortage of AI/ML engineers, data scientists, and AI ethicists creates a significant implementation bottleneck for most organizations.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1444752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444752"/>
            <a:ext cx="2651760" cy="45720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490472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83680" y="151790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Implementation Costs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26480" y="1975104"/>
            <a:ext cx="246888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infrastructure, cloud compute, and specialized talent demand significant upfront investment — making adoption difficult for SMEs and developing economies.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255264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255264"/>
            <a:ext cx="2651760" cy="457200"/>
          </a:xfrm>
          <a:prstGeom prst="rect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12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300984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332841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&amp; Bias Concerns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785616"/>
            <a:ext cx="246888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can perpetuate societal biases present in training data, leading to discriminatory outcomes in hiring, lending, and criminal justice if not carefully audited.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3255264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3255264"/>
            <a:ext cx="2651760" cy="457200"/>
          </a:xfrm>
          <a:prstGeom prst="rect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3300984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749040" y="332841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Compliance Issues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91840" y="3785616"/>
            <a:ext cx="246888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Rapidly evolving AI regulations (EU AI Act, GDPR) create uncertainty. Organizations must balance innovation speed with regulatory compliance across jurisdictions.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3255264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3255264"/>
            <a:ext cx="2651760" cy="457200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12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3300984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583680" y="332841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&amp; Trust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26480" y="3785616"/>
            <a:ext cx="246888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AI models operate as 'black boxes.' Lack of transparency in decision-making undermines trust among stakeholders, regulators, and end users.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is AI-Powered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19202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no longer if organizations should adopt AI,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how quickly and responsibly they can do so.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2834640"/>
            <a:ext cx="2423160" cy="347472"/>
          </a:xfrm>
          <a:prstGeom prst="rect">
            <a:avLst/>
          </a:prstGeom>
          <a:solidFill>
            <a:srgbClr val="2563EB">
              <a:alpha val="40000"/>
            </a:srgbClr>
          </a:solidFill>
          <a:ln w="6350">
            <a:solidFill>
              <a:srgbClr val="60A5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8346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AI Fundamentals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520440" y="2834640"/>
            <a:ext cx="2423160" cy="347472"/>
          </a:xfrm>
          <a:prstGeom prst="rect">
            <a:avLst/>
          </a:prstGeom>
          <a:solidFill>
            <a:srgbClr val="2563EB">
              <a:alpha val="40000"/>
            </a:srgbClr>
          </a:solidFill>
          <a:ln w="6350">
            <a:solidFill>
              <a:srgbClr val="60A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28346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AI History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26480" y="2834640"/>
            <a:ext cx="2423160" cy="347472"/>
          </a:xfrm>
          <a:prstGeom prst="rect">
            <a:avLst/>
          </a:prstGeom>
          <a:solidFill>
            <a:srgbClr val="2563EB">
              <a:alpha val="40000"/>
            </a:srgbClr>
          </a:solidFill>
          <a:ln w="6350">
            <a:solidFill>
              <a:srgbClr val="60A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28346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Industry Impact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14400" y="3291840"/>
            <a:ext cx="2423160" cy="347472"/>
          </a:xfrm>
          <a:prstGeom prst="rect">
            <a:avLst/>
          </a:prstGeom>
          <a:solidFill>
            <a:srgbClr val="2563EB">
              <a:alpha val="40000"/>
            </a:srgbClr>
          </a:solidFill>
          <a:ln w="6350">
            <a:solidFill>
              <a:srgbClr val="60A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2918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in Finance, Health &amp; Commerce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520440" y="3291840"/>
            <a:ext cx="2423160" cy="347472"/>
          </a:xfrm>
          <a:prstGeom prst="rect">
            <a:avLst/>
          </a:prstGeom>
          <a:solidFill>
            <a:srgbClr val="2563EB">
              <a:alpha val="40000"/>
            </a:srgbClr>
          </a:solidFill>
          <a:ln w="6350">
            <a:solidFill>
              <a:srgbClr val="60A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32918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Seize Opportunities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3291840"/>
            <a:ext cx="2423160" cy="347472"/>
          </a:xfrm>
          <a:prstGeom prst="rect">
            <a:avLst/>
          </a:prstGeom>
          <a:solidFill>
            <a:srgbClr val="2563EB">
              <a:alpha val="40000"/>
            </a:srgbClr>
          </a:solidFill>
          <a:ln w="6350">
            <a:solidFill>
              <a:srgbClr val="60A5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32918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Challenges Head-On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4400" y="3977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3200400" y="4526280"/>
            <a:ext cx="27432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Intelligence: A Comprehensive Overview</dc:title>
  <dc:subject>PptxGenJS Presentation</dc:subject>
  <dc:creator>PptxGenJS</dc:creator>
  <cp:lastModifiedBy>PptxGenJS</cp:lastModifiedBy>
  <cp:revision>1</cp:revision>
  <dcterms:created xsi:type="dcterms:W3CDTF">2026-04-01T18:04:56Z</dcterms:created>
  <dcterms:modified xsi:type="dcterms:W3CDTF">2026-04-01T18:04:56Z</dcterms:modified>
</cp:coreProperties>
</file>