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2" d="100"/>
          <a:sy n="142" d="100"/>
        </p:scale>
        <p:origin x="6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AI Adoption Rate</c:v>
                </c:pt>
              </c:strCache>
            </c:strRef>
          </c:tx>
          <c:spPr>
            <a:solidFill>
              <a:srgbClr val="065A82"/>
            </a:solidFill>
            <a:effectLst/>
          </c:spPr>
          <c:invertIfNegative val="0"/>
          <c:dLbls>
            <c:numFmt formatCode="#,##0" sourceLinked="0"/>
            <c:spPr>
              <a:noFill/>
              <a:ln>
                <a:noFill/>
              </a:ln>
              <a:effectLst/>
            </c:spPr>
            <c:txPr>
              <a:bodyPr/>
              <a:lstStyle/>
              <a:p>
                <a:pPr>
                  <a:defRPr sz="1200" b="0" i="0" u="none" strike="noStrike">
                    <a:solidFill>
                      <a:srgbClr val="2C3E5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2018</c:v>
                </c:pt>
                <c:pt idx="1">
                  <c:v>2019</c:v>
                </c:pt>
                <c:pt idx="2">
                  <c:v>2020</c:v>
                </c:pt>
                <c:pt idx="3">
                  <c:v>2021</c:v>
                </c:pt>
                <c:pt idx="4">
                  <c:v>2022</c:v>
                </c:pt>
                <c:pt idx="5">
                  <c:v>2023</c:v>
                </c:pt>
                <c:pt idx="6">
                  <c:v>2024</c:v>
                </c:pt>
              </c:strCache>
            </c:strRef>
          </c:cat>
          <c:val>
            <c:numRef>
              <c:f>Sheet1!$B$2:$B$8</c:f>
              <c:numCache>
                <c:formatCode>General</c:formatCode>
                <c:ptCount val="7"/>
                <c:pt idx="0">
                  <c:v>24</c:v>
                </c:pt>
                <c:pt idx="1">
                  <c:v>31</c:v>
                </c:pt>
                <c:pt idx="2">
                  <c:v>37</c:v>
                </c:pt>
                <c:pt idx="3">
                  <c:v>46</c:v>
                </c:pt>
                <c:pt idx="4">
                  <c:v>54</c:v>
                </c:pt>
                <c:pt idx="5">
                  <c:v>65</c:v>
                </c:pt>
                <c:pt idx="6">
                  <c:v>78</c:v>
                </c:pt>
              </c:numCache>
            </c:numRef>
          </c:val>
          <c:extLst>
            <c:ext xmlns:c16="http://schemas.microsoft.com/office/drawing/2014/chart" uri="{C3380CC4-5D6E-409C-BE32-E72D297353CC}">
              <c16:uniqueId val="{00000000-6B97-1C41-B65E-1B11CE72475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F8C8D"/>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F8C8D"/>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3210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3.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914400"/>
          </a:xfrm>
          <a:prstGeom prst="rect">
            <a:avLst/>
          </a:prstGeom>
          <a:noFill/>
          <a:ln/>
        </p:spPr>
        <p:txBody>
          <a:bodyPr wrap="square"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AI vs ML vs DL</a:t>
            </a:r>
            <a:endParaRPr lang="en-US" sz="5400" dirty="0"/>
          </a:p>
        </p:txBody>
      </p:sp>
      <p:sp>
        <p:nvSpPr>
          <p:cNvPr id="3" name="Text 1"/>
          <p:cNvSpPr/>
          <p:nvPr/>
        </p:nvSpPr>
        <p:spPr>
          <a:xfrm>
            <a:off x="457200" y="2651760"/>
            <a:ext cx="8229600" cy="457200"/>
          </a:xfrm>
          <a:prstGeom prst="rect">
            <a:avLst/>
          </a:prstGeom>
          <a:noFill/>
          <a:ln/>
        </p:spPr>
        <p:txBody>
          <a:bodyPr wrap="square" rtlCol="0" anchor="ctr"/>
          <a:lstStyle/>
          <a:p>
            <a:pPr marL="0" indent="0" algn="ctr">
              <a:buNone/>
            </a:pPr>
            <a:r>
              <a:rPr lang="en-US" sz="2000" dirty="0">
                <a:solidFill>
                  <a:srgbClr val="02C39A"/>
                </a:solidFill>
                <a:latin typeface="Calibri" pitchFamily="34" charset="0"/>
                <a:ea typeface="Calibri" pitchFamily="34" charset="-122"/>
                <a:cs typeface="Calibri" pitchFamily="34" charset="-120"/>
              </a:rPr>
              <a:t>Understanding Artificial Intelligence, Machine Learning &amp; Deep Learning</a:t>
            </a:r>
            <a:endParaRPr lang="en-US" sz="2000" dirty="0"/>
          </a:p>
        </p:txBody>
      </p:sp>
      <p:sp>
        <p:nvSpPr>
          <p:cNvPr id="4" name="Text 2"/>
          <p:cNvSpPr/>
          <p:nvPr/>
        </p:nvSpPr>
        <p:spPr>
          <a:xfrm>
            <a:off x="457200" y="4389120"/>
            <a:ext cx="8229600" cy="365760"/>
          </a:xfrm>
          <a:prstGeom prst="rect">
            <a:avLst/>
          </a:prstGeom>
          <a:noFill/>
          <a:ln/>
        </p:spPr>
        <p:txBody>
          <a:bodyPr wrap="square" rtlCol="0" anchor="ctr"/>
          <a:lstStyle/>
          <a:p>
            <a:pPr marL="0" indent="0" algn="ctr">
              <a:buNone/>
            </a:pPr>
            <a:r>
              <a:rPr lang="en-US" sz="1400" i="1" dirty="0">
                <a:solidFill>
                  <a:srgbClr val="CADCFC"/>
                </a:solidFill>
                <a:latin typeface="Calibri" pitchFamily="34" charset="0"/>
                <a:ea typeface="Calibri" pitchFamily="34" charset="-122"/>
                <a:cs typeface="Calibri" pitchFamily="34" charset="-120"/>
              </a:rPr>
              <a:t>A Comprehensive Guide to AI Technologies, Applications &amp; Challenges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lgn="l">
              <a:buNone/>
            </a:pPr>
            <a:r>
              <a:rPr lang="en-US" sz="4000" b="1" dirty="0">
                <a:solidFill>
                  <a:srgbClr val="1E2761"/>
                </a:solidFill>
                <a:latin typeface="Arial" pitchFamily="34" charset="0"/>
                <a:ea typeface="Arial" pitchFamily="34" charset="-122"/>
                <a:cs typeface="Arial" pitchFamily="34" charset="-120"/>
              </a:rPr>
              <a:t>What is Artificial Intelligence?</a:t>
            </a:r>
            <a:endParaRPr lang="en-US" sz="4000" dirty="0"/>
          </a:p>
        </p:txBody>
      </p:sp>
      <p:pic>
        <p:nvPicPr>
          <p:cNvPr id="3" name="Image 0" descr="preencoded.png"/>
          <p:cNvPicPr>
            <a:picLocks noChangeAspect="1"/>
          </p:cNvPicPr>
          <p:nvPr/>
        </p:nvPicPr>
        <p:blipFill>
          <a:blip r:embed="rId3"/>
          <a:stretch>
            <a:fillRect/>
          </a:stretch>
        </p:blipFill>
        <p:spPr>
          <a:xfrm>
            <a:off x="5029200" y="1371600"/>
            <a:ext cx="1097280" cy="1097280"/>
          </a:xfrm>
          <a:prstGeom prst="rect">
            <a:avLst/>
          </a:prstGeom>
        </p:spPr>
      </p:pic>
      <p:sp>
        <p:nvSpPr>
          <p:cNvPr id="4" name="Shape 1"/>
          <p:cNvSpPr/>
          <p:nvPr/>
        </p:nvSpPr>
        <p:spPr>
          <a:xfrm>
            <a:off x="457200" y="1371600"/>
            <a:ext cx="4114800" cy="3200400"/>
          </a:xfrm>
          <a:prstGeom prst="rect">
            <a:avLst/>
          </a:prstGeom>
          <a:solidFill>
            <a:srgbClr val="FFFFFF"/>
          </a:solidFill>
          <a:ln/>
          <a:effectLst>
            <a:outerShdw blurRad="101600" dist="38100" dir="8100000" algn="bl" rotWithShape="0">
              <a:srgbClr val="000000">
                <a:alpha val="15000"/>
              </a:srgbClr>
            </a:outerShdw>
          </a:effectLst>
        </p:spPr>
      </p:sp>
      <p:sp>
        <p:nvSpPr>
          <p:cNvPr id="5" name="Text 2"/>
          <p:cNvSpPr/>
          <p:nvPr/>
        </p:nvSpPr>
        <p:spPr>
          <a:xfrm>
            <a:off x="731520" y="1645920"/>
            <a:ext cx="3657600" cy="2743200"/>
          </a:xfrm>
          <a:prstGeom prst="rect">
            <a:avLst/>
          </a:prstGeom>
          <a:noFill/>
          <a:ln/>
        </p:spPr>
        <p:txBody>
          <a:bodyPr wrap="square" rtlCol="0" anchor="ctr"/>
          <a:lstStyle/>
          <a:p>
            <a:pPr marL="0" indent="0">
              <a:buNone/>
            </a:pPr>
            <a:r>
              <a:rPr lang="en-US" sz="2000" b="1" dirty="0">
                <a:solidFill>
                  <a:srgbClr val="065A82"/>
                </a:solidFill>
              </a:rPr>
              <a:t>Definition</a:t>
            </a:r>
            <a:endParaRPr lang="en-US" sz="2000" dirty="0"/>
          </a:p>
          <a:p>
            <a:pPr marL="0" indent="0">
              <a:buNone/>
            </a:pPr>
            <a:r>
              <a:rPr lang="en-US" sz="2000" dirty="0">
                <a:solidFill>
                  <a:srgbClr val="000000"/>
                </a:solidFill>
              </a:rPr>
              <a:t>
</a:t>
            </a:r>
            <a:endParaRPr lang="en-US" sz="2000" dirty="0"/>
          </a:p>
          <a:p>
            <a:pPr marL="0" indent="0">
              <a:buNone/>
            </a:pPr>
            <a:r>
              <a:rPr lang="en-US" sz="1400" dirty="0">
                <a:solidFill>
                  <a:srgbClr val="2C3E50"/>
                </a:solidFill>
              </a:rPr>
              <a:t>Artificial Intelligence is the simulation of human intelligence processes by machines, especially computer systems. These processes include learning, reasoning, problem-solving, perception, and language understanding.</a:t>
            </a:r>
            <a:endParaRPr lang="en-US" sz="2000" dirty="0"/>
          </a:p>
        </p:txBody>
      </p:sp>
      <p:sp>
        <p:nvSpPr>
          <p:cNvPr id="6" name="Shape 3"/>
          <p:cNvSpPr/>
          <p:nvPr/>
        </p:nvSpPr>
        <p:spPr>
          <a:xfrm>
            <a:off x="5029200" y="2743200"/>
            <a:ext cx="3657600" cy="1828800"/>
          </a:xfrm>
          <a:prstGeom prst="rect">
            <a:avLst/>
          </a:prstGeom>
          <a:solidFill>
            <a:srgbClr val="065A82"/>
          </a:solidFill>
          <a:ln/>
          <a:effectLst>
            <a:outerShdw blurRad="101600" dist="38100" dir="8100000" algn="bl" rotWithShape="0">
              <a:srgbClr val="000000">
                <a:alpha val="15000"/>
              </a:srgbClr>
            </a:outerShdw>
          </a:effectLst>
        </p:spPr>
      </p:sp>
      <p:sp>
        <p:nvSpPr>
          <p:cNvPr id="7" name="Text 4"/>
          <p:cNvSpPr/>
          <p:nvPr/>
        </p:nvSpPr>
        <p:spPr>
          <a:xfrm>
            <a:off x="5029200" y="2880360"/>
            <a:ext cx="3657600" cy="36576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Key Characteristics</a:t>
            </a:r>
            <a:endParaRPr lang="en-US" sz="1800" dirty="0"/>
          </a:p>
        </p:txBody>
      </p:sp>
      <p:sp>
        <p:nvSpPr>
          <p:cNvPr id="8" name="Text 5"/>
          <p:cNvSpPr/>
          <p:nvPr/>
        </p:nvSpPr>
        <p:spPr>
          <a:xfrm>
            <a:off x="5303520" y="3383280"/>
            <a:ext cx="3108960" cy="1097280"/>
          </a:xfrm>
          <a:prstGeom prst="rect">
            <a:avLst/>
          </a:prstGeom>
          <a:noFill/>
          <a:ln/>
        </p:spPr>
        <p:txBody>
          <a:bodyPr wrap="square" rtlCol="0" anchor="ctr"/>
          <a:lstStyle/>
          <a:p>
            <a:pPr marL="342900" indent="-342900">
              <a:buSzPct val="100000"/>
              <a:buChar char="•"/>
            </a:pPr>
            <a:r>
              <a:rPr lang="en-US" sz="1300" dirty="0">
                <a:solidFill>
                  <a:srgbClr val="FFFFFF"/>
                </a:solidFill>
              </a:rPr>
              <a:t>Autonomy</a:t>
            </a:r>
            <a:endParaRPr lang="en-US" sz="1300" dirty="0"/>
          </a:p>
          <a:p>
            <a:pPr marL="342900" indent="-342900">
              <a:buSzPct val="100000"/>
              <a:buChar char="•"/>
            </a:pPr>
            <a:r>
              <a:rPr lang="en-US" sz="1300" dirty="0">
                <a:solidFill>
                  <a:srgbClr val="FFFFFF"/>
                </a:solidFill>
              </a:rPr>
              <a:t>Adaptability</a:t>
            </a:r>
            <a:endParaRPr lang="en-US" sz="1300" dirty="0"/>
          </a:p>
          <a:p>
            <a:pPr marL="342900" indent="-342900">
              <a:buSzPct val="100000"/>
              <a:buChar char="•"/>
            </a:pPr>
            <a:r>
              <a:rPr lang="en-US" sz="1300" dirty="0">
                <a:solidFill>
                  <a:srgbClr val="FFFFFF"/>
                </a:solidFill>
              </a:rPr>
              <a:t>Problem Solving</a:t>
            </a:r>
            <a:endParaRPr lang="en-US" sz="1300" dirty="0"/>
          </a:p>
          <a:p>
            <a:pPr marL="342900" indent="-342900">
              <a:buSzPct val="100000"/>
              <a:buChar char="•"/>
            </a:pPr>
            <a:r>
              <a:rPr lang="en-US" sz="1300" dirty="0">
                <a:solidFill>
                  <a:srgbClr val="FFFFFF"/>
                </a:solidFill>
              </a:rPr>
              <a:t>Decision Making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lgn="l">
              <a:buNone/>
            </a:pPr>
            <a:r>
              <a:rPr lang="en-US" sz="4000" b="1" dirty="0">
                <a:solidFill>
                  <a:srgbClr val="1E2761"/>
                </a:solidFill>
                <a:latin typeface="Arial" pitchFamily="34" charset="0"/>
                <a:ea typeface="Arial" pitchFamily="34" charset="-122"/>
                <a:cs typeface="Arial" pitchFamily="34" charset="-120"/>
              </a:rPr>
              <a:t>What is Machine Learning?</a:t>
            </a:r>
            <a:endParaRPr lang="en-US" sz="4000" dirty="0"/>
          </a:p>
        </p:txBody>
      </p:sp>
      <p:pic>
        <p:nvPicPr>
          <p:cNvPr id="3" name="Image 0" descr="preencoded.png"/>
          <p:cNvPicPr>
            <a:picLocks noChangeAspect="1"/>
          </p:cNvPicPr>
          <p:nvPr/>
        </p:nvPicPr>
        <p:blipFill>
          <a:blip r:embed="rId3"/>
          <a:stretch>
            <a:fillRect/>
          </a:stretch>
        </p:blipFill>
        <p:spPr>
          <a:xfrm>
            <a:off x="5029200" y="1371600"/>
            <a:ext cx="1097280" cy="1097280"/>
          </a:xfrm>
          <a:prstGeom prst="rect">
            <a:avLst/>
          </a:prstGeom>
        </p:spPr>
      </p:pic>
      <p:sp>
        <p:nvSpPr>
          <p:cNvPr id="4" name="Shape 1"/>
          <p:cNvSpPr/>
          <p:nvPr/>
        </p:nvSpPr>
        <p:spPr>
          <a:xfrm>
            <a:off x="457200" y="1371600"/>
            <a:ext cx="4114800" cy="3200400"/>
          </a:xfrm>
          <a:prstGeom prst="rect">
            <a:avLst/>
          </a:prstGeom>
          <a:solidFill>
            <a:srgbClr val="FFFFFF"/>
          </a:solidFill>
          <a:ln/>
          <a:effectLst>
            <a:outerShdw blurRad="101600" dist="38100" dir="8100000" algn="bl" rotWithShape="0">
              <a:srgbClr val="000000">
                <a:alpha val="15000"/>
              </a:srgbClr>
            </a:outerShdw>
          </a:effectLst>
        </p:spPr>
      </p:sp>
      <p:sp>
        <p:nvSpPr>
          <p:cNvPr id="5" name="Text 2"/>
          <p:cNvSpPr/>
          <p:nvPr/>
        </p:nvSpPr>
        <p:spPr>
          <a:xfrm>
            <a:off x="731520" y="1645920"/>
            <a:ext cx="3657600" cy="2743200"/>
          </a:xfrm>
          <a:prstGeom prst="rect">
            <a:avLst/>
          </a:prstGeom>
          <a:noFill/>
          <a:ln/>
        </p:spPr>
        <p:txBody>
          <a:bodyPr wrap="square" rtlCol="0" anchor="ctr"/>
          <a:lstStyle/>
          <a:p>
            <a:pPr marL="0" indent="0">
              <a:buNone/>
            </a:pPr>
            <a:r>
              <a:rPr lang="en-US" sz="2000" b="1" dirty="0">
                <a:solidFill>
                  <a:srgbClr val="028090"/>
                </a:solidFill>
              </a:rPr>
              <a:t>Definition</a:t>
            </a:r>
            <a:endParaRPr lang="en-US" sz="2000" dirty="0"/>
          </a:p>
          <a:p>
            <a:pPr marL="0" indent="0">
              <a:buNone/>
            </a:pPr>
            <a:r>
              <a:rPr lang="en-US" sz="2000" dirty="0">
                <a:solidFill>
                  <a:srgbClr val="000000"/>
                </a:solidFill>
              </a:rPr>
              <a:t>
</a:t>
            </a:r>
            <a:endParaRPr lang="en-US" sz="2000" dirty="0"/>
          </a:p>
          <a:p>
            <a:pPr marL="0" indent="0">
              <a:buNone/>
            </a:pPr>
            <a:r>
              <a:rPr lang="en-US" sz="1400" dirty="0">
                <a:solidFill>
                  <a:srgbClr val="2C3E50"/>
                </a:solidFill>
              </a:rPr>
              <a:t>Machine Learning is a subset of AI that enables systems to learn and improve from experience without being explicitly programmed. ML algorithms build models based on sample data to make predictions or decisions.</a:t>
            </a:r>
            <a:endParaRPr lang="en-US" sz="2000" dirty="0"/>
          </a:p>
        </p:txBody>
      </p:sp>
      <p:sp>
        <p:nvSpPr>
          <p:cNvPr id="6" name="Shape 3"/>
          <p:cNvSpPr/>
          <p:nvPr/>
        </p:nvSpPr>
        <p:spPr>
          <a:xfrm>
            <a:off x="5029200" y="2743200"/>
            <a:ext cx="3657600" cy="1828800"/>
          </a:xfrm>
          <a:prstGeom prst="rect">
            <a:avLst/>
          </a:prstGeom>
          <a:solidFill>
            <a:srgbClr val="028090"/>
          </a:solidFill>
          <a:ln/>
          <a:effectLst>
            <a:outerShdw blurRad="101600" dist="38100" dir="8100000" algn="bl" rotWithShape="0">
              <a:srgbClr val="000000">
                <a:alpha val="15000"/>
              </a:srgbClr>
            </a:outerShdw>
          </a:effectLst>
        </p:spPr>
      </p:sp>
      <p:sp>
        <p:nvSpPr>
          <p:cNvPr id="7" name="Text 4"/>
          <p:cNvSpPr/>
          <p:nvPr/>
        </p:nvSpPr>
        <p:spPr>
          <a:xfrm>
            <a:off x="5029200" y="2880360"/>
            <a:ext cx="3657600" cy="36576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Types of Learning</a:t>
            </a:r>
            <a:endParaRPr lang="en-US" sz="1800" dirty="0"/>
          </a:p>
        </p:txBody>
      </p:sp>
      <p:sp>
        <p:nvSpPr>
          <p:cNvPr id="8" name="Text 5"/>
          <p:cNvSpPr/>
          <p:nvPr/>
        </p:nvSpPr>
        <p:spPr>
          <a:xfrm>
            <a:off x="5303520" y="3383280"/>
            <a:ext cx="3108960" cy="1097280"/>
          </a:xfrm>
          <a:prstGeom prst="rect">
            <a:avLst/>
          </a:prstGeom>
          <a:noFill/>
          <a:ln/>
        </p:spPr>
        <p:txBody>
          <a:bodyPr wrap="square" rtlCol="0" anchor="ctr"/>
          <a:lstStyle/>
          <a:p>
            <a:pPr marL="342900" indent="-342900">
              <a:buSzPct val="100000"/>
              <a:buChar char="•"/>
            </a:pPr>
            <a:r>
              <a:rPr lang="en-US" sz="1300" dirty="0">
                <a:solidFill>
                  <a:srgbClr val="FFFFFF"/>
                </a:solidFill>
              </a:rPr>
              <a:t>Supervised Learning</a:t>
            </a:r>
            <a:endParaRPr lang="en-US" sz="1300" dirty="0"/>
          </a:p>
          <a:p>
            <a:pPr marL="342900" indent="-342900">
              <a:buSzPct val="100000"/>
              <a:buChar char="•"/>
            </a:pPr>
            <a:r>
              <a:rPr lang="en-US" sz="1300" dirty="0">
                <a:solidFill>
                  <a:srgbClr val="FFFFFF"/>
                </a:solidFill>
              </a:rPr>
              <a:t>Unsupervised Learning</a:t>
            </a:r>
            <a:endParaRPr lang="en-US" sz="1300" dirty="0"/>
          </a:p>
          <a:p>
            <a:pPr marL="342900" indent="-342900">
              <a:buSzPct val="100000"/>
              <a:buChar char="•"/>
            </a:pPr>
            <a:r>
              <a:rPr lang="en-US" sz="1300" dirty="0">
                <a:solidFill>
                  <a:srgbClr val="FFFFFF"/>
                </a:solidFill>
              </a:rPr>
              <a:t>Reinforcement Learning</a:t>
            </a:r>
            <a:endParaRPr lang="en-US" sz="1300" dirty="0"/>
          </a:p>
          <a:p>
            <a:pPr marL="342900" indent="-342900">
              <a:buSzPct val="100000"/>
              <a:buChar char="•"/>
            </a:pPr>
            <a:r>
              <a:rPr lang="en-US" sz="1300" dirty="0">
                <a:solidFill>
                  <a:srgbClr val="FFFFFF"/>
                </a:solidFill>
              </a:rPr>
              <a:t>Semi-supervised Learning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lgn="l">
              <a:buNone/>
            </a:pPr>
            <a:r>
              <a:rPr lang="en-US" sz="4000" b="1" dirty="0">
                <a:solidFill>
                  <a:srgbClr val="1E2761"/>
                </a:solidFill>
                <a:latin typeface="Arial" pitchFamily="34" charset="0"/>
                <a:ea typeface="Arial" pitchFamily="34" charset="-122"/>
                <a:cs typeface="Arial" pitchFamily="34" charset="-120"/>
              </a:rPr>
              <a:t>What is Deep Learning?</a:t>
            </a:r>
            <a:endParaRPr lang="en-US" sz="4000" dirty="0"/>
          </a:p>
        </p:txBody>
      </p:sp>
      <p:pic>
        <p:nvPicPr>
          <p:cNvPr id="3" name="Image 0" descr="preencoded.png"/>
          <p:cNvPicPr>
            <a:picLocks noChangeAspect="1"/>
          </p:cNvPicPr>
          <p:nvPr/>
        </p:nvPicPr>
        <p:blipFill>
          <a:blip r:embed="rId3"/>
          <a:stretch>
            <a:fillRect/>
          </a:stretch>
        </p:blipFill>
        <p:spPr>
          <a:xfrm>
            <a:off x="5029200" y="1371600"/>
            <a:ext cx="1097280" cy="1097280"/>
          </a:xfrm>
          <a:prstGeom prst="rect">
            <a:avLst/>
          </a:prstGeom>
        </p:spPr>
      </p:pic>
      <p:sp>
        <p:nvSpPr>
          <p:cNvPr id="4" name="Shape 1"/>
          <p:cNvSpPr/>
          <p:nvPr/>
        </p:nvSpPr>
        <p:spPr>
          <a:xfrm>
            <a:off x="457200" y="1371600"/>
            <a:ext cx="4114800" cy="3200400"/>
          </a:xfrm>
          <a:prstGeom prst="rect">
            <a:avLst/>
          </a:prstGeom>
          <a:solidFill>
            <a:srgbClr val="FFFFFF"/>
          </a:solidFill>
          <a:ln/>
          <a:effectLst>
            <a:outerShdw blurRad="101600" dist="38100" dir="8100000" algn="bl" rotWithShape="0">
              <a:srgbClr val="000000">
                <a:alpha val="15000"/>
              </a:srgbClr>
            </a:outerShdw>
          </a:effectLst>
        </p:spPr>
      </p:sp>
      <p:sp>
        <p:nvSpPr>
          <p:cNvPr id="5" name="Text 2"/>
          <p:cNvSpPr/>
          <p:nvPr/>
        </p:nvSpPr>
        <p:spPr>
          <a:xfrm>
            <a:off x="731520" y="1645920"/>
            <a:ext cx="3657600" cy="2743200"/>
          </a:xfrm>
          <a:prstGeom prst="rect">
            <a:avLst/>
          </a:prstGeom>
          <a:noFill/>
          <a:ln/>
        </p:spPr>
        <p:txBody>
          <a:bodyPr wrap="square" rtlCol="0" anchor="ctr"/>
          <a:lstStyle/>
          <a:p>
            <a:pPr marL="0" indent="0">
              <a:buNone/>
            </a:pPr>
            <a:r>
              <a:rPr lang="en-US" sz="2000" b="1" dirty="0">
                <a:solidFill>
                  <a:srgbClr val="02C39A"/>
                </a:solidFill>
              </a:rPr>
              <a:t>Definition</a:t>
            </a:r>
            <a:endParaRPr lang="en-US" sz="2000" dirty="0"/>
          </a:p>
          <a:p>
            <a:pPr marL="0" indent="0">
              <a:buNone/>
            </a:pPr>
            <a:r>
              <a:rPr lang="en-US" sz="2000" dirty="0">
                <a:solidFill>
                  <a:srgbClr val="000000"/>
                </a:solidFill>
              </a:rPr>
              <a:t>
</a:t>
            </a:r>
            <a:endParaRPr lang="en-US" sz="2000" dirty="0"/>
          </a:p>
          <a:p>
            <a:pPr marL="0" indent="0">
              <a:buNone/>
            </a:pPr>
            <a:r>
              <a:rPr lang="en-US" sz="1400" dirty="0">
                <a:solidFill>
                  <a:srgbClr val="2C3E50"/>
                </a:solidFill>
              </a:rPr>
              <a:t>Deep Learning is a specialized subset of ML that uses neural networks with multiple layers. It mimics the human brain's structure and function to process data, recognize patterns, and make intelligent decisions with minimal human intervention.</a:t>
            </a:r>
            <a:endParaRPr lang="en-US" sz="2000" dirty="0"/>
          </a:p>
        </p:txBody>
      </p:sp>
      <p:sp>
        <p:nvSpPr>
          <p:cNvPr id="6" name="Shape 3"/>
          <p:cNvSpPr/>
          <p:nvPr/>
        </p:nvSpPr>
        <p:spPr>
          <a:xfrm>
            <a:off x="5029200" y="2743200"/>
            <a:ext cx="3657600" cy="1828800"/>
          </a:xfrm>
          <a:prstGeom prst="rect">
            <a:avLst/>
          </a:prstGeom>
          <a:solidFill>
            <a:srgbClr val="02C39A"/>
          </a:solidFill>
          <a:ln/>
          <a:effectLst>
            <a:outerShdw blurRad="101600" dist="38100" dir="8100000" algn="bl" rotWithShape="0">
              <a:srgbClr val="000000">
                <a:alpha val="15000"/>
              </a:srgbClr>
            </a:outerShdw>
          </a:effectLst>
        </p:spPr>
      </p:sp>
      <p:sp>
        <p:nvSpPr>
          <p:cNvPr id="7" name="Text 4"/>
          <p:cNvSpPr/>
          <p:nvPr/>
        </p:nvSpPr>
        <p:spPr>
          <a:xfrm>
            <a:off x="5029200" y="2880360"/>
            <a:ext cx="3657600" cy="36576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Key Components</a:t>
            </a:r>
            <a:endParaRPr lang="en-US" sz="1800" dirty="0"/>
          </a:p>
        </p:txBody>
      </p:sp>
      <p:sp>
        <p:nvSpPr>
          <p:cNvPr id="8" name="Text 5"/>
          <p:cNvSpPr/>
          <p:nvPr/>
        </p:nvSpPr>
        <p:spPr>
          <a:xfrm>
            <a:off x="5303520" y="3383280"/>
            <a:ext cx="3108960" cy="1097280"/>
          </a:xfrm>
          <a:prstGeom prst="rect">
            <a:avLst/>
          </a:prstGeom>
          <a:noFill/>
          <a:ln/>
        </p:spPr>
        <p:txBody>
          <a:bodyPr wrap="square" rtlCol="0" anchor="ctr"/>
          <a:lstStyle/>
          <a:p>
            <a:pPr marL="342900" indent="-342900">
              <a:buSzPct val="100000"/>
              <a:buChar char="•"/>
            </a:pPr>
            <a:r>
              <a:rPr lang="en-US" sz="1300" dirty="0">
                <a:solidFill>
                  <a:srgbClr val="FFFFFF"/>
                </a:solidFill>
              </a:rPr>
              <a:t>Neural Networks</a:t>
            </a:r>
            <a:endParaRPr lang="en-US" sz="1300" dirty="0"/>
          </a:p>
          <a:p>
            <a:pPr marL="342900" indent="-342900">
              <a:buSzPct val="100000"/>
              <a:buChar char="•"/>
            </a:pPr>
            <a:r>
              <a:rPr lang="en-US" sz="1300" dirty="0">
                <a:solidFill>
                  <a:srgbClr val="FFFFFF"/>
                </a:solidFill>
              </a:rPr>
              <a:t>Multiple Hidden Layers</a:t>
            </a:r>
            <a:endParaRPr lang="en-US" sz="1300" dirty="0"/>
          </a:p>
          <a:p>
            <a:pPr marL="342900" indent="-342900">
              <a:buSzPct val="100000"/>
              <a:buChar char="•"/>
            </a:pPr>
            <a:r>
              <a:rPr lang="en-US" sz="1300" dirty="0">
                <a:solidFill>
                  <a:srgbClr val="FFFFFF"/>
                </a:solidFill>
              </a:rPr>
              <a:t>Backpropagation</a:t>
            </a:r>
            <a:endParaRPr lang="en-US" sz="1300" dirty="0"/>
          </a:p>
          <a:p>
            <a:pPr marL="342900" indent="-342900">
              <a:buSzPct val="100000"/>
              <a:buChar char="•"/>
            </a:pPr>
            <a:r>
              <a:rPr lang="en-US" sz="1300" dirty="0">
                <a:solidFill>
                  <a:srgbClr val="FFFFFF"/>
                </a:solidFill>
              </a:rPr>
              <a:t>Feature Extraction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lgn="ctr">
              <a:buNone/>
            </a:pPr>
            <a:r>
              <a:rPr lang="en-US" sz="4000" b="1" dirty="0">
                <a:solidFill>
                  <a:srgbClr val="1E2761"/>
                </a:solidFill>
                <a:latin typeface="Arial" pitchFamily="34" charset="0"/>
                <a:ea typeface="Arial" pitchFamily="34" charset="-122"/>
                <a:cs typeface="Arial" pitchFamily="34" charset="-120"/>
              </a:rPr>
              <a:t>The Relationship: AI ⊃ ML ⊃ DL</a:t>
            </a:r>
            <a:endParaRPr lang="en-US" sz="4000" dirty="0"/>
          </a:p>
        </p:txBody>
      </p:sp>
      <p:sp>
        <p:nvSpPr>
          <p:cNvPr id="3" name="Shape 1"/>
          <p:cNvSpPr/>
          <p:nvPr/>
        </p:nvSpPr>
        <p:spPr>
          <a:xfrm>
            <a:off x="1371600" y="1371600"/>
            <a:ext cx="6400800" cy="3200400"/>
          </a:xfrm>
          <a:prstGeom prst="ellipse">
            <a:avLst/>
          </a:prstGeom>
          <a:solidFill>
            <a:srgbClr val="065A82">
              <a:alpha val="40000"/>
            </a:srgbClr>
          </a:solidFill>
          <a:ln w="38100">
            <a:solidFill>
              <a:srgbClr val="065A82"/>
            </a:solidFill>
            <a:prstDash val="solid"/>
          </a:ln>
        </p:spPr>
      </p:sp>
      <p:sp>
        <p:nvSpPr>
          <p:cNvPr id="4" name="Text 2"/>
          <p:cNvSpPr/>
          <p:nvPr/>
        </p:nvSpPr>
        <p:spPr>
          <a:xfrm>
            <a:off x="1371600" y="1554480"/>
            <a:ext cx="6400800" cy="457200"/>
          </a:xfrm>
          <a:prstGeom prst="rect">
            <a:avLst/>
          </a:prstGeom>
          <a:noFill/>
          <a:ln/>
        </p:spPr>
        <p:txBody>
          <a:bodyPr wrap="square" rtlCol="0" anchor="ctr"/>
          <a:lstStyle/>
          <a:p>
            <a:pPr marL="0" indent="0" algn="ctr">
              <a:buNone/>
            </a:pPr>
            <a:r>
              <a:rPr lang="en-US" sz="1800" b="1" dirty="0">
                <a:solidFill>
                  <a:srgbClr val="1E2761"/>
                </a:solidFill>
                <a:latin typeface="Arial" pitchFamily="34" charset="0"/>
                <a:ea typeface="Arial" pitchFamily="34" charset="-122"/>
                <a:cs typeface="Arial" pitchFamily="34" charset="-120"/>
              </a:rPr>
              <a:t>ARTIFICIAL INTELLIGENCE</a:t>
            </a:r>
            <a:endParaRPr lang="en-US" sz="1800" dirty="0"/>
          </a:p>
        </p:txBody>
      </p:sp>
      <p:sp>
        <p:nvSpPr>
          <p:cNvPr id="5" name="Shape 3"/>
          <p:cNvSpPr/>
          <p:nvPr/>
        </p:nvSpPr>
        <p:spPr>
          <a:xfrm>
            <a:off x="2286000" y="2103120"/>
            <a:ext cx="4572000" cy="2103120"/>
          </a:xfrm>
          <a:prstGeom prst="ellipse">
            <a:avLst/>
          </a:prstGeom>
          <a:solidFill>
            <a:srgbClr val="028090">
              <a:alpha val="50000"/>
            </a:srgbClr>
          </a:solidFill>
          <a:ln w="38100">
            <a:solidFill>
              <a:srgbClr val="028090"/>
            </a:solidFill>
            <a:prstDash val="solid"/>
          </a:ln>
        </p:spPr>
      </p:sp>
      <p:sp>
        <p:nvSpPr>
          <p:cNvPr id="6" name="Text 4"/>
          <p:cNvSpPr/>
          <p:nvPr/>
        </p:nvSpPr>
        <p:spPr>
          <a:xfrm>
            <a:off x="2286000" y="2286000"/>
            <a:ext cx="4572000" cy="457200"/>
          </a:xfrm>
          <a:prstGeom prst="rect">
            <a:avLst/>
          </a:prstGeom>
          <a:noFill/>
          <a:ln/>
        </p:spPr>
        <p:txBody>
          <a:bodyPr wrap="square" rtlCol="0" anchor="ctr"/>
          <a:lstStyle/>
          <a:p>
            <a:pPr marL="0" indent="0" algn="ctr">
              <a:buNone/>
            </a:pPr>
            <a:r>
              <a:rPr lang="en-US" sz="1600" b="1" dirty="0">
                <a:solidFill>
                  <a:srgbClr val="1E2761"/>
                </a:solidFill>
                <a:latin typeface="Arial" pitchFamily="34" charset="0"/>
                <a:ea typeface="Arial" pitchFamily="34" charset="-122"/>
                <a:cs typeface="Arial" pitchFamily="34" charset="-120"/>
              </a:rPr>
              <a:t>MACHINE LEARNING</a:t>
            </a:r>
            <a:endParaRPr lang="en-US" sz="1600" dirty="0"/>
          </a:p>
        </p:txBody>
      </p:sp>
      <p:sp>
        <p:nvSpPr>
          <p:cNvPr id="7" name="Shape 5"/>
          <p:cNvSpPr/>
          <p:nvPr/>
        </p:nvSpPr>
        <p:spPr>
          <a:xfrm>
            <a:off x="3200400" y="2743200"/>
            <a:ext cx="2743200" cy="1371600"/>
          </a:xfrm>
          <a:prstGeom prst="ellipse">
            <a:avLst/>
          </a:prstGeom>
          <a:solidFill>
            <a:srgbClr val="02C39A">
              <a:alpha val="60000"/>
            </a:srgbClr>
          </a:solidFill>
          <a:ln w="38100">
            <a:solidFill>
              <a:srgbClr val="02C39A"/>
            </a:solidFill>
            <a:prstDash val="solid"/>
          </a:ln>
        </p:spPr>
      </p:sp>
      <p:sp>
        <p:nvSpPr>
          <p:cNvPr id="8" name="Text 6"/>
          <p:cNvSpPr/>
          <p:nvPr/>
        </p:nvSpPr>
        <p:spPr>
          <a:xfrm>
            <a:off x="3200400" y="2926080"/>
            <a:ext cx="2743200" cy="457200"/>
          </a:xfrm>
          <a:prstGeom prst="rect">
            <a:avLst/>
          </a:prstGeom>
          <a:noFill/>
          <a:ln/>
        </p:spPr>
        <p:txBody>
          <a:bodyPr wrap="square" rtlCol="0" anchor="ctr"/>
          <a:lstStyle/>
          <a:p>
            <a:pPr marL="0" indent="0" algn="ctr">
              <a:buNone/>
            </a:pPr>
            <a:r>
              <a:rPr lang="en-US" sz="1400" b="1" dirty="0">
                <a:solidFill>
                  <a:srgbClr val="1E2761"/>
                </a:solidFill>
                <a:latin typeface="Arial" pitchFamily="34" charset="0"/>
                <a:ea typeface="Arial" pitchFamily="34" charset="-122"/>
                <a:cs typeface="Arial" pitchFamily="34" charset="-120"/>
              </a:rPr>
              <a:t>DEEP LEARNING</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lgn="l">
              <a:buNone/>
            </a:pPr>
            <a:r>
              <a:rPr lang="en-US" sz="4000" b="1" dirty="0">
                <a:solidFill>
                  <a:srgbClr val="1E2761"/>
                </a:solidFill>
                <a:latin typeface="Arial" pitchFamily="34" charset="0"/>
                <a:ea typeface="Arial" pitchFamily="34" charset="-122"/>
                <a:cs typeface="Arial" pitchFamily="34" charset="-120"/>
              </a:rPr>
              <a:t>Why Do They Matter?</a:t>
            </a:r>
            <a:endParaRPr lang="en-US" sz="4000" dirty="0"/>
          </a:p>
        </p:txBody>
      </p:sp>
      <p:sp>
        <p:nvSpPr>
          <p:cNvPr id="3" name="Shape 1"/>
          <p:cNvSpPr/>
          <p:nvPr/>
        </p:nvSpPr>
        <p:spPr>
          <a:xfrm>
            <a:off x="457200" y="1371600"/>
            <a:ext cx="2651760" cy="3017520"/>
          </a:xfrm>
          <a:prstGeom prst="rect">
            <a:avLst/>
          </a:prstGeom>
          <a:solidFill>
            <a:srgbClr val="FFFFFF"/>
          </a:solidFill>
          <a:ln/>
          <a:effectLst>
            <a:outerShdw blurRad="101600" dist="38100" dir="8100000" algn="bl" rotWithShape="0">
              <a:srgbClr val="000000">
                <a:alpha val="15000"/>
              </a:srgbClr>
            </a:outerShdw>
          </a:effectLst>
        </p:spPr>
      </p:sp>
      <p:pic>
        <p:nvPicPr>
          <p:cNvPr id="4" name="Image 0" descr="preencoded.png"/>
          <p:cNvPicPr>
            <a:picLocks noChangeAspect="1"/>
          </p:cNvPicPr>
          <p:nvPr/>
        </p:nvPicPr>
        <p:blipFill>
          <a:blip r:embed="rId3"/>
          <a:stretch>
            <a:fillRect/>
          </a:stretch>
        </p:blipFill>
        <p:spPr>
          <a:xfrm>
            <a:off x="1508760" y="1645920"/>
            <a:ext cx="548640" cy="548640"/>
          </a:xfrm>
          <a:prstGeom prst="rect">
            <a:avLst/>
          </a:prstGeom>
        </p:spPr>
      </p:pic>
      <p:sp>
        <p:nvSpPr>
          <p:cNvPr id="5" name="Text 2"/>
          <p:cNvSpPr/>
          <p:nvPr/>
        </p:nvSpPr>
        <p:spPr>
          <a:xfrm>
            <a:off x="457200" y="2377440"/>
            <a:ext cx="2651760" cy="365760"/>
          </a:xfrm>
          <a:prstGeom prst="rect">
            <a:avLst/>
          </a:prstGeom>
          <a:noFill/>
          <a:ln/>
        </p:spPr>
        <p:txBody>
          <a:bodyPr wrap="square" rtlCol="0" anchor="ctr"/>
          <a:lstStyle/>
          <a:p>
            <a:pPr marL="0" indent="0" algn="ctr">
              <a:buNone/>
            </a:pPr>
            <a:r>
              <a:rPr lang="en-US" sz="1800" b="1" dirty="0">
                <a:solidFill>
                  <a:srgbClr val="065A82"/>
                </a:solidFill>
                <a:latin typeface="Arial" pitchFamily="34" charset="0"/>
                <a:ea typeface="Arial" pitchFamily="34" charset="-122"/>
                <a:cs typeface="Arial" pitchFamily="34" charset="-120"/>
              </a:rPr>
              <a:t>Business Value</a:t>
            </a:r>
            <a:endParaRPr lang="en-US" sz="1800" dirty="0"/>
          </a:p>
        </p:txBody>
      </p:sp>
      <p:sp>
        <p:nvSpPr>
          <p:cNvPr id="6" name="Text 3"/>
          <p:cNvSpPr/>
          <p:nvPr/>
        </p:nvSpPr>
        <p:spPr>
          <a:xfrm>
            <a:off x="640080" y="2834640"/>
            <a:ext cx="2286000" cy="1280160"/>
          </a:xfrm>
          <a:prstGeom prst="rect">
            <a:avLst/>
          </a:prstGeom>
          <a:noFill/>
          <a:ln/>
        </p:spPr>
        <p:txBody>
          <a:bodyPr wrap="square" rtlCol="0" anchor="ctr"/>
          <a:lstStyle/>
          <a:p>
            <a:pPr marL="0" indent="0" algn="ctr">
              <a:buNone/>
            </a:pPr>
            <a:r>
              <a:rPr lang="en-US" sz="1300" dirty="0">
                <a:solidFill>
                  <a:srgbClr val="2C3E50"/>
                </a:solidFill>
                <a:latin typeface="Calibri" pitchFamily="34" charset="0"/>
                <a:ea typeface="Calibri" pitchFamily="34" charset="-122"/>
                <a:cs typeface="Calibri" pitchFamily="34" charset="-120"/>
              </a:rPr>
              <a:t>Automate processes, reduce costs, and improve decision-making through data-driven insights</a:t>
            </a:r>
            <a:endParaRPr lang="en-US" sz="1300" dirty="0"/>
          </a:p>
        </p:txBody>
      </p:sp>
      <p:sp>
        <p:nvSpPr>
          <p:cNvPr id="7" name="Shape 4"/>
          <p:cNvSpPr/>
          <p:nvPr/>
        </p:nvSpPr>
        <p:spPr>
          <a:xfrm>
            <a:off x="3383280" y="1371600"/>
            <a:ext cx="2651760" cy="3017520"/>
          </a:xfrm>
          <a:prstGeom prst="rect">
            <a:avLst/>
          </a:prstGeom>
          <a:solidFill>
            <a:srgbClr val="FFFFFF"/>
          </a:solidFill>
          <a:ln/>
          <a:effectLst>
            <a:outerShdw blurRad="101600" dist="38100" dir="8100000" algn="bl" rotWithShape="0">
              <a:srgbClr val="000000">
                <a:alpha val="15000"/>
              </a:srgbClr>
            </a:outerShdw>
          </a:effectLst>
        </p:spPr>
      </p:sp>
      <p:pic>
        <p:nvPicPr>
          <p:cNvPr id="8" name="Image 1" descr="preencoded.png"/>
          <p:cNvPicPr>
            <a:picLocks noChangeAspect="1"/>
          </p:cNvPicPr>
          <p:nvPr/>
        </p:nvPicPr>
        <p:blipFill>
          <a:blip r:embed="rId4"/>
          <a:stretch>
            <a:fillRect/>
          </a:stretch>
        </p:blipFill>
        <p:spPr>
          <a:xfrm>
            <a:off x="4434840" y="1645920"/>
            <a:ext cx="548640" cy="548640"/>
          </a:xfrm>
          <a:prstGeom prst="rect">
            <a:avLst/>
          </a:prstGeom>
        </p:spPr>
      </p:pic>
      <p:sp>
        <p:nvSpPr>
          <p:cNvPr id="9" name="Text 5"/>
          <p:cNvSpPr/>
          <p:nvPr/>
        </p:nvSpPr>
        <p:spPr>
          <a:xfrm>
            <a:off x="3383280" y="2377440"/>
            <a:ext cx="2651760" cy="365760"/>
          </a:xfrm>
          <a:prstGeom prst="rect">
            <a:avLst/>
          </a:prstGeom>
          <a:noFill/>
          <a:ln/>
        </p:spPr>
        <p:txBody>
          <a:bodyPr wrap="square" rtlCol="0" anchor="ctr"/>
          <a:lstStyle/>
          <a:p>
            <a:pPr marL="0" indent="0" algn="ctr">
              <a:buNone/>
            </a:pPr>
            <a:r>
              <a:rPr lang="en-US" sz="1800" b="1" dirty="0">
                <a:solidFill>
                  <a:srgbClr val="028090"/>
                </a:solidFill>
                <a:latin typeface="Arial" pitchFamily="34" charset="0"/>
                <a:ea typeface="Arial" pitchFamily="34" charset="-122"/>
                <a:cs typeface="Arial" pitchFamily="34" charset="-120"/>
              </a:rPr>
              <a:t>Innovation Driver</a:t>
            </a:r>
            <a:endParaRPr lang="en-US" sz="1800" dirty="0"/>
          </a:p>
        </p:txBody>
      </p:sp>
      <p:sp>
        <p:nvSpPr>
          <p:cNvPr id="10" name="Text 6"/>
          <p:cNvSpPr/>
          <p:nvPr/>
        </p:nvSpPr>
        <p:spPr>
          <a:xfrm>
            <a:off x="3566160" y="2834640"/>
            <a:ext cx="2286000" cy="1280160"/>
          </a:xfrm>
          <a:prstGeom prst="rect">
            <a:avLst/>
          </a:prstGeom>
          <a:noFill/>
          <a:ln/>
        </p:spPr>
        <p:txBody>
          <a:bodyPr wrap="square" rtlCol="0" anchor="ctr"/>
          <a:lstStyle/>
          <a:p>
            <a:pPr marL="0" indent="0" algn="ctr">
              <a:buNone/>
            </a:pPr>
            <a:r>
              <a:rPr lang="en-US" sz="1300" dirty="0">
                <a:solidFill>
                  <a:srgbClr val="2C3E50"/>
                </a:solidFill>
                <a:latin typeface="Calibri" pitchFamily="34" charset="0"/>
                <a:ea typeface="Calibri" pitchFamily="34" charset="-122"/>
                <a:cs typeface="Calibri" pitchFamily="34" charset="-120"/>
              </a:rPr>
              <a:t>Enable new products, services, and capabilities that were previously impossible</a:t>
            </a:r>
            <a:endParaRPr lang="en-US" sz="1300" dirty="0"/>
          </a:p>
        </p:txBody>
      </p:sp>
      <p:sp>
        <p:nvSpPr>
          <p:cNvPr id="11" name="Shape 7"/>
          <p:cNvSpPr/>
          <p:nvPr/>
        </p:nvSpPr>
        <p:spPr>
          <a:xfrm>
            <a:off x="6309360" y="1371600"/>
            <a:ext cx="2651760" cy="3017520"/>
          </a:xfrm>
          <a:prstGeom prst="rect">
            <a:avLst/>
          </a:prstGeom>
          <a:solidFill>
            <a:srgbClr val="FFFFFF"/>
          </a:solidFill>
          <a:ln/>
          <a:effectLst>
            <a:outerShdw blurRad="101600" dist="38100" dir="8100000" algn="bl" rotWithShape="0">
              <a:srgbClr val="000000">
                <a:alpha val="15000"/>
              </a:srgbClr>
            </a:outerShdw>
          </a:effectLst>
        </p:spPr>
      </p:sp>
      <p:pic>
        <p:nvPicPr>
          <p:cNvPr id="12" name="Image 2" descr="preencoded.png"/>
          <p:cNvPicPr>
            <a:picLocks noChangeAspect="1"/>
          </p:cNvPicPr>
          <p:nvPr/>
        </p:nvPicPr>
        <p:blipFill>
          <a:blip r:embed="rId5"/>
          <a:stretch>
            <a:fillRect/>
          </a:stretch>
        </p:blipFill>
        <p:spPr>
          <a:xfrm>
            <a:off x="7360920" y="1645920"/>
            <a:ext cx="548640" cy="548640"/>
          </a:xfrm>
          <a:prstGeom prst="rect">
            <a:avLst/>
          </a:prstGeom>
        </p:spPr>
      </p:pic>
      <p:sp>
        <p:nvSpPr>
          <p:cNvPr id="13" name="Text 8"/>
          <p:cNvSpPr/>
          <p:nvPr/>
        </p:nvSpPr>
        <p:spPr>
          <a:xfrm>
            <a:off x="6309360" y="2377440"/>
            <a:ext cx="2651760" cy="365760"/>
          </a:xfrm>
          <a:prstGeom prst="rect">
            <a:avLst/>
          </a:prstGeom>
          <a:noFill/>
          <a:ln/>
        </p:spPr>
        <p:txBody>
          <a:bodyPr wrap="square" rtlCol="0" anchor="ctr"/>
          <a:lstStyle/>
          <a:p>
            <a:pPr marL="0" indent="0" algn="ctr">
              <a:buNone/>
            </a:pPr>
            <a:r>
              <a:rPr lang="en-US" sz="1800" b="1" dirty="0">
                <a:solidFill>
                  <a:srgbClr val="02C39A"/>
                </a:solidFill>
                <a:latin typeface="Arial" pitchFamily="34" charset="0"/>
                <a:ea typeface="Arial" pitchFamily="34" charset="-122"/>
                <a:cs typeface="Arial" pitchFamily="34" charset="-120"/>
              </a:rPr>
              <a:t>Competitive Edge</a:t>
            </a:r>
            <a:endParaRPr lang="en-US" sz="1800" dirty="0"/>
          </a:p>
        </p:txBody>
      </p:sp>
      <p:sp>
        <p:nvSpPr>
          <p:cNvPr id="14" name="Text 9"/>
          <p:cNvSpPr/>
          <p:nvPr/>
        </p:nvSpPr>
        <p:spPr>
          <a:xfrm>
            <a:off x="6492240" y="2834640"/>
            <a:ext cx="2286000" cy="1280160"/>
          </a:xfrm>
          <a:prstGeom prst="rect">
            <a:avLst/>
          </a:prstGeom>
          <a:noFill/>
          <a:ln/>
        </p:spPr>
        <p:txBody>
          <a:bodyPr wrap="square" rtlCol="0" anchor="ctr"/>
          <a:lstStyle/>
          <a:p>
            <a:pPr marL="0" indent="0" algn="ctr">
              <a:buNone/>
            </a:pPr>
            <a:r>
              <a:rPr lang="en-US" sz="1300" dirty="0">
                <a:solidFill>
                  <a:srgbClr val="2C3E50"/>
                </a:solidFill>
                <a:latin typeface="Calibri" pitchFamily="34" charset="0"/>
                <a:ea typeface="Calibri" pitchFamily="34" charset="-122"/>
                <a:cs typeface="Calibri" pitchFamily="34" charset="-120"/>
              </a:rPr>
              <a:t>Organizations using AI outperform competitors in efficiency, customer satisfaction, and growth</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lgn="l">
              <a:buNone/>
            </a:pPr>
            <a:r>
              <a:rPr lang="en-US" sz="4000" b="1" dirty="0">
                <a:solidFill>
                  <a:srgbClr val="1E2761"/>
                </a:solidFill>
                <a:latin typeface="Arial" pitchFamily="34" charset="0"/>
                <a:ea typeface="Arial" pitchFamily="34" charset="-122"/>
                <a:cs typeface="Arial" pitchFamily="34" charset="-120"/>
              </a:rPr>
              <a:t>Where is AI Used?</a:t>
            </a:r>
            <a:endParaRPr lang="en-US" sz="4000" dirty="0"/>
          </a:p>
        </p:txBody>
      </p:sp>
      <p:sp>
        <p:nvSpPr>
          <p:cNvPr id="3" name="Text 1"/>
          <p:cNvSpPr/>
          <p:nvPr/>
        </p:nvSpPr>
        <p:spPr>
          <a:xfrm>
            <a:off x="457200" y="868680"/>
            <a:ext cx="8229600" cy="274320"/>
          </a:xfrm>
          <a:prstGeom prst="rect">
            <a:avLst/>
          </a:prstGeom>
          <a:noFill/>
          <a:ln/>
        </p:spPr>
        <p:txBody>
          <a:bodyPr wrap="square" rtlCol="0" anchor="ctr"/>
          <a:lstStyle/>
          <a:p>
            <a:pPr marL="0" indent="0" algn="l">
              <a:buNone/>
            </a:pPr>
            <a:r>
              <a:rPr lang="en-US" sz="1600" dirty="0">
                <a:solidFill>
                  <a:srgbClr val="7F8C8D"/>
                </a:solidFill>
                <a:latin typeface="Calibri" pitchFamily="34" charset="0"/>
                <a:ea typeface="Calibri" pitchFamily="34" charset="-122"/>
                <a:cs typeface="Calibri" pitchFamily="34" charset="-120"/>
              </a:rPr>
              <a:t>Key Industries &amp; Applications</a:t>
            </a:r>
            <a:endParaRPr lang="en-US" sz="1600" dirty="0"/>
          </a:p>
        </p:txBody>
      </p:sp>
      <p:sp>
        <p:nvSpPr>
          <p:cNvPr id="4" name="Shape 2"/>
          <p:cNvSpPr/>
          <p:nvPr/>
        </p:nvSpPr>
        <p:spPr>
          <a:xfrm>
            <a:off x="457200" y="1463040"/>
            <a:ext cx="2651760" cy="1280160"/>
          </a:xfrm>
          <a:prstGeom prst="rect">
            <a:avLst/>
          </a:prstGeom>
          <a:solidFill>
            <a:srgbClr val="FFFFFF"/>
          </a:solidFill>
          <a:ln/>
          <a:effectLst>
            <a:outerShdw blurRad="101600" dist="38100" dir="8100000" algn="bl" rotWithShape="0">
              <a:srgbClr val="000000">
                <a:alpha val="15000"/>
              </a:srgbClr>
            </a:outerShdw>
          </a:effectLst>
        </p:spPr>
      </p:sp>
      <p:pic>
        <p:nvPicPr>
          <p:cNvPr id="5" name="Image 0" descr="preencoded.png"/>
          <p:cNvPicPr>
            <a:picLocks noChangeAspect="1"/>
          </p:cNvPicPr>
          <p:nvPr/>
        </p:nvPicPr>
        <p:blipFill>
          <a:blip r:embed="rId3"/>
          <a:stretch>
            <a:fillRect/>
          </a:stretch>
        </p:blipFill>
        <p:spPr>
          <a:xfrm>
            <a:off x="594360" y="1737360"/>
            <a:ext cx="457200" cy="457200"/>
          </a:xfrm>
          <a:prstGeom prst="rect">
            <a:avLst/>
          </a:prstGeom>
        </p:spPr>
      </p:pic>
      <p:sp>
        <p:nvSpPr>
          <p:cNvPr id="6" name="Text 3"/>
          <p:cNvSpPr/>
          <p:nvPr/>
        </p:nvSpPr>
        <p:spPr>
          <a:xfrm>
            <a:off x="1188720" y="1600200"/>
            <a:ext cx="1828800" cy="320040"/>
          </a:xfrm>
          <a:prstGeom prst="rect">
            <a:avLst/>
          </a:prstGeom>
          <a:noFill/>
          <a:ln/>
        </p:spPr>
        <p:txBody>
          <a:bodyPr wrap="square" rtlCol="0" anchor="ctr"/>
          <a:lstStyle/>
          <a:p>
            <a:pPr marL="0" indent="0">
              <a:buNone/>
            </a:pPr>
            <a:r>
              <a:rPr lang="en-US" sz="1600" b="1" dirty="0">
                <a:solidFill>
                  <a:srgbClr val="065A82"/>
                </a:solidFill>
                <a:latin typeface="Arial" pitchFamily="34" charset="0"/>
                <a:ea typeface="Arial" pitchFamily="34" charset="-122"/>
                <a:cs typeface="Arial" pitchFamily="34" charset="-120"/>
              </a:rPr>
              <a:t>Healthcare</a:t>
            </a:r>
            <a:endParaRPr lang="en-US" sz="1600" dirty="0"/>
          </a:p>
        </p:txBody>
      </p:sp>
      <p:sp>
        <p:nvSpPr>
          <p:cNvPr id="7" name="Text 4"/>
          <p:cNvSpPr/>
          <p:nvPr/>
        </p:nvSpPr>
        <p:spPr>
          <a:xfrm>
            <a:off x="594360" y="2240280"/>
            <a:ext cx="2377440" cy="45720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Diagnosis, drug discovery, treatment planning</a:t>
            </a:r>
            <a:endParaRPr lang="en-US" sz="1100" dirty="0"/>
          </a:p>
        </p:txBody>
      </p:sp>
      <p:sp>
        <p:nvSpPr>
          <p:cNvPr id="8" name="Shape 5"/>
          <p:cNvSpPr/>
          <p:nvPr/>
        </p:nvSpPr>
        <p:spPr>
          <a:xfrm>
            <a:off x="3383280" y="1463040"/>
            <a:ext cx="2651760" cy="1280160"/>
          </a:xfrm>
          <a:prstGeom prst="rect">
            <a:avLst/>
          </a:prstGeom>
          <a:solidFill>
            <a:srgbClr val="FFFFFF"/>
          </a:solidFill>
          <a:ln/>
          <a:effectLst>
            <a:outerShdw blurRad="101600" dist="38100" dir="8100000" algn="bl" rotWithShape="0">
              <a:srgbClr val="000000">
                <a:alpha val="15000"/>
              </a:srgbClr>
            </a:outerShdw>
          </a:effectLst>
        </p:spPr>
      </p:sp>
      <p:pic>
        <p:nvPicPr>
          <p:cNvPr id="9" name="Image 1" descr="preencoded.png"/>
          <p:cNvPicPr>
            <a:picLocks noChangeAspect="1"/>
          </p:cNvPicPr>
          <p:nvPr/>
        </p:nvPicPr>
        <p:blipFill>
          <a:blip r:embed="rId4"/>
          <a:stretch>
            <a:fillRect/>
          </a:stretch>
        </p:blipFill>
        <p:spPr>
          <a:xfrm>
            <a:off x="3520440" y="1737360"/>
            <a:ext cx="457200" cy="457200"/>
          </a:xfrm>
          <a:prstGeom prst="rect">
            <a:avLst/>
          </a:prstGeom>
        </p:spPr>
      </p:pic>
      <p:sp>
        <p:nvSpPr>
          <p:cNvPr id="10" name="Text 6"/>
          <p:cNvSpPr/>
          <p:nvPr/>
        </p:nvSpPr>
        <p:spPr>
          <a:xfrm>
            <a:off x="4114800" y="1600200"/>
            <a:ext cx="1828800" cy="320040"/>
          </a:xfrm>
          <a:prstGeom prst="rect">
            <a:avLst/>
          </a:prstGeom>
          <a:noFill/>
          <a:ln/>
        </p:spPr>
        <p:txBody>
          <a:bodyPr wrap="square" rtlCol="0" anchor="ctr"/>
          <a:lstStyle/>
          <a:p>
            <a:pPr marL="0" indent="0">
              <a:buNone/>
            </a:pPr>
            <a:r>
              <a:rPr lang="en-US" sz="1600" b="1" dirty="0">
                <a:solidFill>
                  <a:srgbClr val="065A82"/>
                </a:solidFill>
                <a:latin typeface="Arial" pitchFamily="34" charset="0"/>
                <a:ea typeface="Arial" pitchFamily="34" charset="-122"/>
                <a:cs typeface="Arial" pitchFamily="34" charset="-120"/>
              </a:rPr>
              <a:t>Automotive</a:t>
            </a:r>
            <a:endParaRPr lang="en-US" sz="1600" dirty="0"/>
          </a:p>
        </p:txBody>
      </p:sp>
      <p:sp>
        <p:nvSpPr>
          <p:cNvPr id="11" name="Text 7"/>
          <p:cNvSpPr/>
          <p:nvPr/>
        </p:nvSpPr>
        <p:spPr>
          <a:xfrm>
            <a:off x="3520440" y="2240280"/>
            <a:ext cx="2377440" cy="45720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Autonomous vehicles, predictive maintenance</a:t>
            </a:r>
            <a:endParaRPr lang="en-US" sz="1100" dirty="0"/>
          </a:p>
        </p:txBody>
      </p:sp>
      <p:sp>
        <p:nvSpPr>
          <p:cNvPr id="12" name="Shape 8"/>
          <p:cNvSpPr/>
          <p:nvPr/>
        </p:nvSpPr>
        <p:spPr>
          <a:xfrm>
            <a:off x="6309360" y="1463040"/>
            <a:ext cx="2651760" cy="1280160"/>
          </a:xfrm>
          <a:prstGeom prst="rect">
            <a:avLst/>
          </a:prstGeom>
          <a:solidFill>
            <a:srgbClr val="FFFFFF"/>
          </a:solidFill>
          <a:ln/>
          <a:effectLst>
            <a:outerShdw blurRad="101600" dist="38100" dir="8100000" algn="bl" rotWithShape="0">
              <a:srgbClr val="000000">
                <a:alpha val="15000"/>
              </a:srgbClr>
            </a:outerShdw>
          </a:effectLst>
        </p:spPr>
      </p:sp>
      <p:pic>
        <p:nvPicPr>
          <p:cNvPr id="13" name="Image 2" descr="preencoded.png"/>
          <p:cNvPicPr>
            <a:picLocks noChangeAspect="1"/>
          </p:cNvPicPr>
          <p:nvPr/>
        </p:nvPicPr>
        <p:blipFill>
          <a:blip r:embed="rId5"/>
          <a:stretch>
            <a:fillRect/>
          </a:stretch>
        </p:blipFill>
        <p:spPr>
          <a:xfrm>
            <a:off x="6446520" y="1737360"/>
            <a:ext cx="457200" cy="457200"/>
          </a:xfrm>
          <a:prstGeom prst="rect">
            <a:avLst/>
          </a:prstGeom>
        </p:spPr>
      </p:pic>
      <p:sp>
        <p:nvSpPr>
          <p:cNvPr id="14" name="Text 9"/>
          <p:cNvSpPr/>
          <p:nvPr/>
        </p:nvSpPr>
        <p:spPr>
          <a:xfrm>
            <a:off x="7040880" y="1600200"/>
            <a:ext cx="1828800" cy="320040"/>
          </a:xfrm>
          <a:prstGeom prst="rect">
            <a:avLst/>
          </a:prstGeom>
          <a:noFill/>
          <a:ln/>
        </p:spPr>
        <p:txBody>
          <a:bodyPr wrap="square" rtlCol="0" anchor="ctr"/>
          <a:lstStyle/>
          <a:p>
            <a:pPr marL="0" indent="0">
              <a:buNone/>
            </a:pPr>
            <a:r>
              <a:rPr lang="en-US" sz="1600" b="1" dirty="0">
                <a:solidFill>
                  <a:srgbClr val="065A82"/>
                </a:solidFill>
                <a:latin typeface="Arial" pitchFamily="34" charset="0"/>
                <a:ea typeface="Arial" pitchFamily="34" charset="-122"/>
                <a:cs typeface="Arial" pitchFamily="34" charset="-120"/>
              </a:rPr>
              <a:t>Retail</a:t>
            </a:r>
            <a:endParaRPr lang="en-US" sz="1600" dirty="0"/>
          </a:p>
        </p:txBody>
      </p:sp>
      <p:sp>
        <p:nvSpPr>
          <p:cNvPr id="15" name="Text 10"/>
          <p:cNvSpPr/>
          <p:nvPr/>
        </p:nvSpPr>
        <p:spPr>
          <a:xfrm>
            <a:off x="6446520" y="2240280"/>
            <a:ext cx="2377440" cy="45720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Recommendations, inventory management, chatbots</a:t>
            </a:r>
            <a:endParaRPr lang="en-US" sz="1100" dirty="0"/>
          </a:p>
        </p:txBody>
      </p:sp>
      <p:sp>
        <p:nvSpPr>
          <p:cNvPr id="16" name="Shape 11"/>
          <p:cNvSpPr/>
          <p:nvPr/>
        </p:nvSpPr>
        <p:spPr>
          <a:xfrm>
            <a:off x="457200" y="3108960"/>
            <a:ext cx="2651760" cy="1280160"/>
          </a:xfrm>
          <a:prstGeom prst="rect">
            <a:avLst/>
          </a:prstGeom>
          <a:solidFill>
            <a:srgbClr val="FFFFFF"/>
          </a:solidFill>
          <a:ln/>
          <a:effectLst>
            <a:outerShdw blurRad="101600" dist="38100" dir="8100000" algn="bl" rotWithShape="0">
              <a:srgbClr val="000000">
                <a:alpha val="15000"/>
              </a:srgbClr>
            </a:outerShdw>
          </a:effectLst>
        </p:spPr>
      </p:sp>
      <p:pic>
        <p:nvPicPr>
          <p:cNvPr id="17" name="Image 3" descr="preencoded.png"/>
          <p:cNvPicPr>
            <a:picLocks noChangeAspect="1"/>
          </p:cNvPicPr>
          <p:nvPr/>
        </p:nvPicPr>
        <p:blipFill>
          <a:blip r:embed="rId6"/>
          <a:stretch>
            <a:fillRect/>
          </a:stretch>
        </p:blipFill>
        <p:spPr>
          <a:xfrm>
            <a:off x="594360" y="3383280"/>
            <a:ext cx="457200" cy="457200"/>
          </a:xfrm>
          <a:prstGeom prst="rect">
            <a:avLst/>
          </a:prstGeom>
        </p:spPr>
      </p:pic>
      <p:sp>
        <p:nvSpPr>
          <p:cNvPr id="18" name="Text 12"/>
          <p:cNvSpPr/>
          <p:nvPr/>
        </p:nvSpPr>
        <p:spPr>
          <a:xfrm>
            <a:off x="1188720" y="3246120"/>
            <a:ext cx="1828800" cy="320040"/>
          </a:xfrm>
          <a:prstGeom prst="rect">
            <a:avLst/>
          </a:prstGeom>
          <a:noFill/>
          <a:ln/>
        </p:spPr>
        <p:txBody>
          <a:bodyPr wrap="square" rtlCol="0" anchor="ctr"/>
          <a:lstStyle/>
          <a:p>
            <a:pPr marL="0" indent="0">
              <a:buNone/>
            </a:pPr>
            <a:r>
              <a:rPr lang="en-US" sz="1600" b="1" dirty="0">
                <a:solidFill>
                  <a:srgbClr val="065A82"/>
                </a:solidFill>
                <a:latin typeface="Arial" pitchFamily="34" charset="0"/>
                <a:ea typeface="Arial" pitchFamily="34" charset="-122"/>
                <a:cs typeface="Arial" pitchFamily="34" charset="-120"/>
              </a:rPr>
              <a:t>Manufacturing</a:t>
            </a:r>
            <a:endParaRPr lang="en-US" sz="1600" dirty="0"/>
          </a:p>
        </p:txBody>
      </p:sp>
      <p:sp>
        <p:nvSpPr>
          <p:cNvPr id="19" name="Text 13"/>
          <p:cNvSpPr/>
          <p:nvPr/>
        </p:nvSpPr>
        <p:spPr>
          <a:xfrm>
            <a:off x="594360" y="3886200"/>
            <a:ext cx="2377440" cy="45720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Quality control, supply chain optimization</a:t>
            </a:r>
            <a:endParaRPr lang="en-US" sz="1100" dirty="0"/>
          </a:p>
        </p:txBody>
      </p:sp>
      <p:sp>
        <p:nvSpPr>
          <p:cNvPr id="20" name="Shape 14"/>
          <p:cNvSpPr/>
          <p:nvPr/>
        </p:nvSpPr>
        <p:spPr>
          <a:xfrm>
            <a:off x="3383280" y="3108960"/>
            <a:ext cx="2651760" cy="1280160"/>
          </a:xfrm>
          <a:prstGeom prst="rect">
            <a:avLst/>
          </a:prstGeom>
          <a:solidFill>
            <a:srgbClr val="FFFFFF"/>
          </a:solidFill>
          <a:ln/>
          <a:effectLst>
            <a:outerShdw blurRad="101600" dist="38100" dir="8100000" algn="bl" rotWithShape="0">
              <a:srgbClr val="000000">
                <a:alpha val="15000"/>
              </a:srgbClr>
            </a:outerShdw>
          </a:effectLst>
        </p:spPr>
      </p:sp>
      <p:pic>
        <p:nvPicPr>
          <p:cNvPr id="21" name="Image 4" descr="preencoded.png"/>
          <p:cNvPicPr>
            <a:picLocks noChangeAspect="1"/>
          </p:cNvPicPr>
          <p:nvPr/>
        </p:nvPicPr>
        <p:blipFill>
          <a:blip r:embed="rId7"/>
          <a:stretch>
            <a:fillRect/>
          </a:stretch>
        </p:blipFill>
        <p:spPr>
          <a:xfrm>
            <a:off x="3520440" y="3383280"/>
            <a:ext cx="457200" cy="457200"/>
          </a:xfrm>
          <a:prstGeom prst="rect">
            <a:avLst/>
          </a:prstGeom>
        </p:spPr>
      </p:pic>
      <p:sp>
        <p:nvSpPr>
          <p:cNvPr id="22" name="Text 15"/>
          <p:cNvSpPr/>
          <p:nvPr/>
        </p:nvSpPr>
        <p:spPr>
          <a:xfrm>
            <a:off x="4114800" y="3246120"/>
            <a:ext cx="1828800" cy="320040"/>
          </a:xfrm>
          <a:prstGeom prst="rect">
            <a:avLst/>
          </a:prstGeom>
          <a:noFill/>
          <a:ln/>
        </p:spPr>
        <p:txBody>
          <a:bodyPr wrap="square" rtlCol="0" anchor="ctr"/>
          <a:lstStyle/>
          <a:p>
            <a:pPr marL="0" indent="0">
              <a:buNone/>
            </a:pPr>
            <a:r>
              <a:rPr lang="en-US" sz="1600" b="1" dirty="0">
                <a:solidFill>
                  <a:srgbClr val="065A82"/>
                </a:solidFill>
                <a:latin typeface="Arial" pitchFamily="34" charset="0"/>
                <a:ea typeface="Arial" pitchFamily="34" charset="-122"/>
                <a:cs typeface="Arial" pitchFamily="34" charset="-120"/>
              </a:rPr>
              <a:t>Finance</a:t>
            </a:r>
            <a:endParaRPr lang="en-US" sz="1600" dirty="0"/>
          </a:p>
        </p:txBody>
      </p:sp>
      <p:sp>
        <p:nvSpPr>
          <p:cNvPr id="23" name="Text 16"/>
          <p:cNvSpPr/>
          <p:nvPr/>
        </p:nvSpPr>
        <p:spPr>
          <a:xfrm>
            <a:off x="3520440" y="3886200"/>
            <a:ext cx="2377440" cy="45720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Fraud detection, algorithmic trading, risk assessment</a:t>
            </a:r>
            <a:endParaRPr lang="en-US" sz="1100" dirty="0"/>
          </a:p>
        </p:txBody>
      </p:sp>
      <p:sp>
        <p:nvSpPr>
          <p:cNvPr id="24" name="Shape 17"/>
          <p:cNvSpPr/>
          <p:nvPr/>
        </p:nvSpPr>
        <p:spPr>
          <a:xfrm>
            <a:off x="6309360" y="3108960"/>
            <a:ext cx="2651760" cy="1280160"/>
          </a:xfrm>
          <a:prstGeom prst="rect">
            <a:avLst/>
          </a:prstGeom>
          <a:solidFill>
            <a:srgbClr val="FFFFFF"/>
          </a:solidFill>
          <a:ln/>
          <a:effectLst>
            <a:outerShdw blurRad="101600" dist="38100" dir="8100000" algn="bl" rotWithShape="0">
              <a:srgbClr val="000000">
                <a:alpha val="15000"/>
              </a:srgbClr>
            </a:outerShdw>
          </a:effectLst>
        </p:spPr>
      </p:sp>
      <p:pic>
        <p:nvPicPr>
          <p:cNvPr id="25" name="Image 5" descr="preencoded.png"/>
          <p:cNvPicPr>
            <a:picLocks noChangeAspect="1"/>
          </p:cNvPicPr>
          <p:nvPr/>
        </p:nvPicPr>
        <p:blipFill>
          <a:blip r:embed="rId8"/>
          <a:stretch>
            <a:fillRect/>
          </a:stretch>
        </p:blipFill>
        <p:spPr>
          <a:xfrm>
            <a:off x="6446520" y="3383280"/>
            <a:ext cx="457200" cy="457200"/>
          </a:xfrm>
          <a:prstGeom prst="rect">
            <a:avLst/>
          </a:prstGeom>
        </p:spPr>
      </p:pic>
      <p:sp>
        <p:nvSpPr>
          <p:cNvPr id="26" name="Text 18"/>
          <p:cNvSpPr/>
          <p:nvPr/>
        </p:nvSpPr>
        <p:spPr>
          <a:xfrm>
            <a:off x="7040880" y="3246120"/>
            <a:ext cx="1828800" cy="320040"/>
          </a:xfrm>
          <a:prstGeom prst="rect">
            <a:avLst/>
          </a:prstGeom>
          <a:noFill/>
          <a:ln/>
        </p:spPr>
        <p:txBody>
          <a:bodyPr wrap="square" rtlCol="0" anchor="ctr"/>
          <a:lstStyle/>
          <a:p>
            <a:pPr marL="0" indent="0">
              <a:buNone/>
            </a:pPr>
            <a:r>
              <a:rPr lang="en-US" sz="1600" b="1" dirty="0">
                <a:solidFill>
                  <a:srgbClr val="065A82"/>
                </a:solidFill>
                <a:latin typeface="Arial" pitchFamily="34" charset="0"/>
                <a:ea typeface="Arial" pitchFamily="34" charset="-122"/>
                <a:cs typeface="Arial" pitchFamily="34" charset="-120"/>
              </a:rPr>
              <a:t>Technology</a:t>
            </a:r>
            <a:endParaRPr lang="en-US" sz="1600" dirty="0"/>
          </a:p>
        </p:txBody>
      </p:sp>
      <p:sp>
        <p:nvSpPr>
          <p:cNvPr id="27" name="Text 19"/>
          <p:cNvSpPr/>
          <p:nvPr/>
        </p:nvSpPr>
        <p:spPr>
          <a:xfrm>
            <a:off x="6446520" y="3886200"/>
            <a:ext cx="2377440" cy="45720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Cloud services, voice assistants, cybersecurity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lgn="l">
              <a:buNone/>
            </a:pPr>
            <a:r>
              <a:rPr lang="en-US" sz="4000" b="1" dirty="0">
                <a:solidFill>
                  <a:srgbClr val="1E2761"/>
                </a:solidFill>
                <a:latin typeface="Arial" pitchFamily="34" charset="0"/>
                <a:ea typeface="Arial" pitchFamily="34" charset="-122"/>
                <a:cs typeface="Arial" pitchFamily="34" charset="-120"/>
              </a:rPr>
              <a:t>AI Adoption Trends</a:t>
            </a:r>
            <a:endParaRPr lang="en-US" sz="4000" dirty="0"/>
          </a:p>
        </p:txBody>
      </p:sp>
      <p:graphicFrame>
        <p:nvGraphicFramePr>
          <p:cNvPr id="3" name="Chart 0"/>
          <p:cNvGraphicFramePr/>
          <p:nvPr/>
        </p:nvGraphicFramePr>
        <p:xfrm>
          <a:off x="457200" y="1280160"/>
          <a:ext cx="50292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5760720" y="1280160"/>
            <a:ext cx="2926080" cy="1371600"/>
          </a:xfrm>
          <a:prstGeom prst="rect">
            <a:avLst/>
          </a:prstGeom>
          <a:solidFill>
            <a:srgbClr val="065A82"/>
          </a:solidFill>
          <a:ln/>
          <a:effectLst>
            <a:outerShdw blurRad="101600" dist="38100" dir="8100000" algn="bl" rotWithShape="0">
              <a:srgbClr val="000000">
                <a:alpha val="15000"/>
              </a:srgbClr>
            </a:outerShdw>
          </a:effectLst>
        </p:spPr>
      </p:sp>
      <p:sp>
        <p:nvSpPr>
          <p:cNvPr id="5" name="Text 2"/>
          <p:cNvSpPr/>
          <p:nvPr/>
        </p:nvSpPr>
        <p:spPr>
          <a:xfrm>
            <a:off x="5760720" y="1554480"/>
            <a:ext cx="2926080" cy="548640"/>
          </a:xfrm>
          <a:prstGeom prst="rect">
            <a:avLst/>
          </a:prstGeom>
          <a:noFill/>
          <a:ln/>
        </p:spPr>
        <p:txBody>
          <a:bodyPr wrap="square"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78%</a:t>
            </a:r>
            <a:endParaRPr lang="en-US" sz="4400" dirty="0"/>
          </a:p>
        </p:txBody>
      </p:sp>
      <p:sp>
        <p:nvSpPr>
          <p:cNvPr id="6" name="Text 3"/>
          <p:cNvSpPr/>
          <p:nvPr/>
        </p:nvSpPr>
        <p:spPr>
          <a:xfrm>
            <a:off x="5760720" y="2194560"/>
            <a:ext cx="2926080" cy="365760"/>
          </a:xfrm>
          <a:prstGeom prst="rect">
            <a:avLst/>
          </a:prstGeom>
          <a:noFill/>
          <a:ln/>
        </p:spPr>
        <p:txBody>
          <a:bodyPr wrap="square" rtlCol="0" anchor="ctr"/>
          <a:lstStyle/>
          <a:p>
            <a:pPr marL="0" indent="0" algn="ctr">
              <a:buNone/>
            </a:pPr>
            <a:r>
              <a:rPr lang="en-US" sz="1400" dirty="0">
                <a:solidFill>
                  <a:srgbClr val="F5F5F5"/>
                </a:solidFill>
                <a:latin typeface="Calibri" pitchFamily="34" charset="0"/>
                <a:ea typeface="Calibri" pitchFamily="34" charset="-122"/>
                <a:cs typeface="Calibri" pitchFamily="34" charset="-120"/>
              </a:rPr>
              <a:t>of enterprises use AI</a:t>
            </a:r>
            <a:endParaRPr lang="en-US" sz="1400" dirty="0"/>
          </a:p>
          <a:p>
            <a:pPr marL="0" indent="0" algn="ctr">
              <a:buNone/>
            </a:pPr>
            <a:r>
              <a:rPr lang="en-US" sz="1400" dirty="0">
                <a:solidFill>
                  <a:srgbClr val="F5F5F5"/>
                </a:solidFill>
                <a:latin typeface="Calibri" pitchFamily="34" charset="0"/>
                <a:ea typeface="Calibri" pitchFamily="34" charset="-122"/>
                <a:cs typeface="Calibri" pitchFamily="34" charset="-120"/>
              </a:rPr>
              <a:t>in 2024</a:t>
            </a:r>
            <a:endParaRPr lang="en-US" sz="1400" dirty="0"/>
          </a:p>
        </p:txBody>
      </p:sp>
      <p:sp>
        <p:nvSpPr>
          <p:cNvPr id="7" name="Shape 4"/>
          <p:cNvSpPr/>
          <p:nvPr/>
        </p:nvSpPr>
        <p:spPr>
          <a:xfrm>
            <a:off x="5760720" y="2834640"/>
            <a:ext cx="2926080" cy="1645920"/>
          </a:xfrm>
          <a:prstGeom prst="rect">
            <a:avLst/>
          </a:prstGeom>
          <a:solidFill>
            <a:srgbClr val="FFFFFF"/>
          </a:solidFill>
          <a:ln/>
          <a:effectLst>
            <a:outerShdw blurRad="101600" dist="38100" dir="8100000" algn="bl" rotWithShape="0">
              <a:srgbClr val="000000">
                <a:alpha val="15000"/>
              </a:srgbClr>
            </a:outerShdw>
          </a:effectLst>
        </p:spPr>
      </p:sp>
      <p:sp>
        <p:nvSpPr>
          <p:cNvPr id="8" name="Text 5"/>
          <p:cNvSpPr/>
          <p:nvPr/>
        </p:nvSpPr>
        <p:spPr>
          <a:xfrm>
            <a:off x="5943600" y="3017520"/>
            <a:ext cx="2560320" cy="1280160"/>
          </a:xfrm>
          <a:prstGeom prst="rect">
            <a:avLst/>
          </a:prstGeom>
          <a:noFill/>
          <a:ln/>
        </p:spPr>
        <p:txBody>
          <a:bodyPr wrap="square" rtlCol="0" anchor="ctr"/>
          <a:lstStyle/>
          <a:p>
            <a:pPr marL="0" indent="0">
              <a:buNone/>
            </a:pPr>
            <a:r>
              <a:rPr lang="en-US" sz="1600" b="1" dirty="0">
                <a:solidFill>
                  <a:srgbClr val="065A82"/>
                </a:solidFill>
              </a:rPr>
              <a:t>Market Growth</a:t>
            </a:r>
            <a:endParaRPr lang="en-US" sz="1600" dirty="0"/>
          </a:p>
          <a:p>
            <a:pPr marL="0" indent="0">
              <a:buNone/>
            </a:pPr>
            <a:r>
              <a:rPr lang="en-US" sz="1600" dirty="0">
                <a:solidFill>
                  <a:srgbClr val="000000"/>
                </a:solidFill>
              </a:rPr>
              <a:t>
</a:t>
            </a:r>
            <a:endParaRPr lang="en-US" sz="1600" dirty="0"/>
          </a:p>
          <a:p>
            <a:pPr marL="0" indent="0">
              <a:buNone/>
            </a:pPr>
            <a:r>
              <a:rPr lang="en-US" sz="1200" dirty="0">
                <a:solidFill>
                  <a:srgbClr val="2C3E50"/>
                </a:solidFill>
              </a:rPr>
              <a:t>Global AI market expected to reach $1.8 trillion by 2030, growing at 37% CAGR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lgn="l">
              <a:buNone/>
            </a:pPr>
            <a:r>
              <a:rPr lang="en-US" sz="4000" b="1" dirty="0">
                <a:solidFill>
                  <a:srgbClr val="1E2761"/>
                </a:solidFill>
                <a:latin typeface="Arial" pitchFamily="34" charset="0"/>
                <a:ea typeface="Arial" pitchFamily="34" charset="-122"/>
                <a:cs typeface="Arial" pitchFamily="34" charset="-120"/>
              </a:rPr>
              <a:t>Key Drivers of AI Adoption</a:t>
            </a:r>
            <a:endParaRPr lang="en-US" sz="4000" dirty="0"/>
          </a:p>
        </p:txBody>
      </p:sp>
      <p:sp>
        <p:nvSpPr>
          <p:cNvPr id="3" name="Shape 1"/>
          <p:cNvSpPr/>
          <p:nvPr/>
        </p:nvSpPr>
        <p:spPr>
          <a:xfrm>
            <a:off x="457200" y="1371600"/>
            <a:ext cx="4114800" cy="1280160"/>
          </a:xfrm>
          <a:prstGeom prst="rect">
            <a:avLst/>
          </a:prstGeom>
          <a:solidFill>
            <a:srgbClr val="FFFFFF"/>
          </a:solidFill>
          <a:ln/>
          <a:effectLst>
            <a:outerShdw blurRad="101600" dist="38100" dir="8100000" algn="bl" rotWithShape="0">
              <a:srgbClr val="000000">
                <a:alpha val="15000"/>
              </a:srgbClr>
            </a:outerShdw>
          </a:effectLst>
        </p:spPr>
      </p:sp>
      <p:sp>
        <p:nvSpPr>
          <p:cNvPr id="4" name="Shape 2"/>
          <p:cNvSpPr/>
          <p:nvPr/>
        </p:nvSpPr>
        <p:spPr>
          <a:xfrm>
            <a:off x="457200" y="1371600"/>
            <a:ext cx="73152" cy="1280160"/>
          </a:xfrm>
          <a:prstGeom prst="rect">
            <a:avLst/>
          </a:prstGeom>
          <a:solidFill>
            <a:srgbClr val="028090"/>
          </a:solidFill>
          <a:ln/>
        </p:spPr>
      </p:sp>
      <p:pic>
        <p:nvPicPr>
          <p:cNvPr id="5" name="Image 0" descr="preencoded.png"/>
          <p:cNvPicPr>
            <a:picLocks noChangeAspect="1"/>
          </p:cNvPicPr>
          <p:nvPr/>
        </p:nvPicPr>
        <p:blipFill>
          <a:blip r:embed="rId3"/>
          <a:stretch>
            <a:fillRect/>
          </a:stretch>
        </p:blipFill>
        <p:spPr>
          <a:xfrm>
            <a:off x="731520" y="1645920"/>
            <a:ext cx="548640" cy="548640"/>
          </a:xfrm>
          <a:prstGeom prst="rect">
            <a:avLst/>
          </a:prstGeom>
        </p:spPr>
      </p:pic>
      <p:sp>
        <p:nvSpPr>
          <p:cNvPr id="6" name="Text 3"/>
          <p:cNvSpPr/>
          <p:nvPr/>
        </p:nvSpPr>
        <p:spPr>
          <a:xfrm>
            <a:off x="1463040" y="1554480"/>
            <a:ext cx="2926080" cy="365760"/>
          </a:xfrm>
          <a:prstGeom prst="rect">
            <a:avLst/>
          </a:prstGeom>
          <a:noFill/>
          <a:ln/>
        </p:spPr>
        <p:txBody>
          <a:bodyPr wrap="square" rtlCol="0" anchor="ctr"/>
          <a:lstStyle/>
          <a:p>
            <a:pPr marL="0" indent="0">
              <a:buNone/>
            </a:pPr>
            <a:r>
              <a:rPr lang="en-US" sz="1800" b="1" dirty="0">
                <a:solidFill>
                  <a:srgbClr val="065A82"/>
                </a:solidFill>
                <a:latin typeface="Arial" pitchFamily="34" charset="0"/>
                <a:ea typeface="Arial" pitchFamily="34" charset="-122"/>
                <a:cs typeface="Arial" pitchFamily="34" charset="-120"/>
              </a:rPr>
              <a:t>Data Availability</a:t>
            </a:r>
            <a:endParaRPr lang="en-US" sz="1800" dirty="0"/>
          </a:p>
        </p:txBody>
      </p:sp>
      <p:sp>
        <p:nvSpPr>
          <p:cNvPr id="7" name="Text 4"/>
          <p:cNvSpPr/>
          <p:nvPr/>
        </p:nvSpPr>
        <p:spPr>
          <a:xfrm>
            <a:off x="1463040" y="2011680"/>
            <a:ext cx="2926080" cy="548640"/>
          </a:xfrm>
          <a:prstGeom prst="rect">
            <a:avLst/>
          </a:prstGeom>
          <a:noFill/>
          <a:ln/>
        </p:spPr>
        <p:txBody>
          <a:bodyPr wrap="square" rtlCol="0" anchor="ctr"/>
          <a:lstStyle/>
          <a:p>
            <a:pPr marL="0" indent="0">
              <a:buNone/>
            </a:pPr>
            <a:r>
              <a:rPr lang="en-US" sz="1200" dirty="0">
                <a:solidFill>
                  <a:srgbClr val="2C3E50"/>
                </a:solidFill>
                <a:latin typeface="Calibri" pitchFamily="34" charset="0"/>
                <a:ea typeface="Calibri" pitchFamily="34" charset="-122"/>
                <a:cs typeface="Calibri" pitchFamily="34" charset="-120"/>
              </a:rPr>
              <a:t>Explosive growth in data generation and storage capabilities</a:t>
            </a:r>
            <a:endParaRPr lang="en-US" sz="1200" dirty="0"/>
          </a:p>
        </p:txBody>
      </p:sp>
      <p:sp>
        <p:nvSpPr>
          <p:cNvPr id="8" name="Shape 5"/>
          <p:cNvSpPr/>
          <p:nvPr/>
        </p:nvSpPr>
        <p:spPr>
          <a:xfrm>
            <a:off x="4846320" y="1371600"/>
            <a:ext cx="4114800" cy="1280160"/>
          </a:xfrm>
          <a:prstGeom prst="rect">
            <a:avLst/>
          </a:prstGeom>
          <a:solidFill>
            <a:srgbClr val="FFFFFF"/>
          </a:solidFill>
          <a:ln/>
          <a:effectLst>
            <a:outerShdw blurRad="101600" dist="38100" dir="8100000" algn="bl" rotWithShape="0">
              <a:srgbClr val="000000">
                <a:alpha val="15000"/>
              </a:srgbClr>
            </a:outerShdw>
          </a:effectLst>
        </p:spPr>
      </p:sp>
      <p:sp>
        <p:nvSpPr>
          <p:cNvPr id="9" name="Shape 6"/>
          <p:cNvSpPr/>
          <p:nvPr/>
        </p:nvSpPr>
        <p:spPr>
          <a:xfrm>
            <a:off x="4846320" y="1371600"/>
            <a:ext cx="73152" cy="1280160"/>
          </a:xfrm>
          <a:prstGeom prst="rect">
            <a:avLst/>
          </a:prstGeom>
          <a:solidFill>
            <a:srgbClr val="028090"/>
          </a:solidFill>
          <a:ln/>
        </p:spPr>
      </p:sp>
      <p:pic>
        <p:nvPicPr>
          <p:cNvPr id="10" name="Image 1" descr="preencoded.png"/>
          <p:cNvPicPr>
            <a:picLocks noChangeAspect="1"/>
          </p:cNvPicPr>
          <p:nvPr/>
        </p:nvPicPr>
        <p:blipFill>
          <a:blip r:embed="rId4"/>
          <a:stretch>
            <a:fillRect/>
          </a:stretch>
        </p:blipFill>
        <p:spPr>
          <a:xfrm>
            <a:off x="5120640" y="1645920"/>
            <a:ext cx="548640" cy="548640"/>
          </a:xfrm>
          <a:prstGeom prst="rect">
            <a:avLst/>
          </a:prstGeom>
        </p:spPr>
      </p:pic>
      <p:sp>
        <p:nvSpPr>
          <p:cNvPr id="11" name="Text 7"/>
          <p:cNvSpPr/>
          <p:nvPr/>
        </p:nvSpPr>
        <p:spPr>
          <a:xfrm>
            <a:off x="5852160" y="1554480"/>
            <a:ext cx="2926080" cy="365760"/>
          </a:xfrm>
          <a:prstGeom prst="rect">
            <a:avLst/>
          </a:prstGeom>
          <a:noFill/>
          <a:ln/>
        </p:spPr>
        <p:txBody>
          <a:bodyPr wrap="square" rtlCol="0" anchor="ctr"/>
          <a:lstStyle/>
          <a:p>
            <a:pPr marL="0" indent="0">
              <a:buNone/>
            </a:pPr>
            <a:r>
              <a:rPr lang="en-US" sz="1800" b="1" dirty="0">
                <a:solidFill>
                  <a:srgbClr val="065A82"/>
                </a:solidFill>
                <a:latin typeface="Arial" pitchFamily="34" charset="0"/>
                <a:ea typeface="Arial" pitchFamily="34" charset="-122"/>
                <a:cs typeface="Arial" pitchFamily="34" charset="-120"/>
              </a:rPr>
              <a:t>Computing Power</a:t>
            </a:r>
            <a:endParaRPr lang="en-US" sz="1800" dirty="0"/>
          </a:p>
        </p:txBody>
      </p:sp>
      <p:sp>
        <p:nvSpPr>
          <p:cNvPr id="12" name="Text 8"/>
          <p:cNvSpPr/>
          <p:nvPr/>
        </p:nvSpPr>
        <p:spPr>
          <a:xfrm>
            <a:off x="5852160" y="2011680"/>
            <a:ext cx="2926080" cy="548640"/>
          </a:xfrm>
          <a:prstGeom prst="rect">
            <a:avLst/>
          </a:prstGeom>
          <a:noFill/>
          <a:ln/>
        </p:spPr>
        <p:txBody>
          <a:bodyPr wrap="square" rtlCol="0" anchor="ctr"/>
          <a:lstStyle/>
          <a:p>
            <a:pPr marL="0" indent="0">
              <a:buNone/>
            </a:pPr>
            <a:r>
              <a:rPr lang="en-US" sz="1200" dirty="0">
                <a:solidFill>
                  <a:srgbClr val="2C3E50"/>
                </a:solidFill>
                <a:latin typeface="Calibri" pitchFamily="34" charset="0"/>
                <a:ea typeface="Calibri" pitchFamily="34" charset="-122"/>
                <a:cs typeface="Calibri" pitchFamily="34" charset="-120"/>
              </a:rPr>
              <a:t>Advanced GPUs and cloud infrastructure enable complex AI models</a:t>
            </a:r>
            <a:endParaRPr lang="en-US" sz="1200" dirty="0"/>
          </a:p>
        </p:txBody>
      </p:sp>
      <p:sp>
        <p:nvSpPr>
          <p:cNvPr id="13" name="Shape 9"/>
          <p:cNvSpPr/>
          <p:nvPr/>
        </p:nvSpPr>
        <p:spPr>
          <a:xfrm>
            <a:off x="457200" y="3017520"/>
            <a:ext cx="4114800" cy="1280160"/>
          </a:xfrm>
          <a:prstGeom prst="rect">
            <a:avLst/>
          </a:prstGeom>
          <a:solidFill>
            <a:srgbClr val="FFFFFF"/>
          </a:solidFill>
          <a:ln/>
          <a:effectLst>
            <a:outerShdw blurRad="101600" dist="38100" dir="8100000" algn="bl" rotWithShape="0">
              <a:srgbClr val="000000">
                <a:alpha val="15000"/>
              </a:srgbClr>
            </a:outerShdw>
          </a:effectLst>
        </p:spPr>
      </p:sp>
      <p:sp>
        <p:nvSpPr>
          <p:cNvPr id="14" name="Shape 10"/>
          <p:cNvSpPr/>
          <p:nvPr/>
        </p:nvSpPr>
        <p:spPr>
          <a:xfrm>
            <a:off x="457200" y="3017520"/>
            <a:ext cx="73152" cy="1280160"/>
          </a:xfrm>
          <a:prstGeom prst="rect">
            <a:avLst/>
          </a:prstGeom>
          <a:solidFill>
            <a:srgbClr val="028090"/>
          </a:solidFill>
          <a:ln/>
        </p:spPr>
      </p:sp>
      <p:pic>
        <p:nvPicPr>
          <p:cNvPr id="15" name="Image 2" descr="preencoded.png"/>
          <p:cNvPicPr>
            <a:picLocks noChangeAspect="1"/>
          </p:cNvPicPr>
          <p:nvPr/>
        </p:nvPicPr>
        <p:blipFill>
          <a:blip r:embed="rId5"/>
          <a:stretch>
            <a:fillRect/>
          </a:stretch>
        </p:blipFill>
        <p:spPr>
          <a:xfrm>
            <a:off x="731520" y="3291840"/>
            <a:ext cx="548640" cy="548640"/>
          </a:xfrm>
          <a:prstGeom prst="rect">
            <a:avLst/>
          </a:prstGeom>
        </p:spPr>
      </p:pic>
      <p:sp>
        <p:nvSpPr>
          <p:cNvPr id="16" name="Text 11"/>
          <p:cNvSpPr/>
          <p:nvPr/>
        </p:nvSpPr>
        <p:spPr>
          <a:xfrm>
            <a:off x="1463040" y="3200400"/>
            <a:ext cx="2926080" cy="365760"/>
          </a:xfrm>
          <a:prstGeom prst="rect">
            <a:avLst/>
          </a:prstGeom>
          <a:noFill/>
          <a:ln/>
        </p:spPr>
        <p:txBody>
          <a:bodyPr wrap="square" rtlCol="0" anchor="ctr"/>
          <a:lstStyle/>
          <a:p>
            <a:pPr marL="0" indent="0">
              <a:buNone/>
            </a:pPr>
            <a:r>
              <a:rPr lang="en-US" sz="1800" b="1" dirty="0">
                <a:solidFill>
                  <a:srgbClr val="065A82"/>
                </a:solidFill>
                <a:latin typeface="Arial" pitchFamily="34" charset="0"/>
                <a:ea typeface="Arial" pitchFamily="34" charset="-122"/>
                <a:cs typeface="Arial" pitchFamily="34" charset="-120"/>
              </a:rPr>
              <a:t>Cost Reduction</a:t>
            </a:r>
            <a:endParaRPr lang="en-US" sz="1800" dirty="0"/>
          </a:p>
        </p:txBody>
      </p:sp>
      <p:sp>
        <p:nvSpPr>
          <p:cNvPr id="17" name="Text 12"/>
          <p:cNvSpPr/>
          <p:nvPr/>
        </p:nvSpPr>
        <p:spPr>
          <a:xfrm>
            <a:off x="1463040" y="3657600"/>
            <a:ext cx="2926080" cy="548640"/>
          </a:xfrm>
          <a:prstGeom prst="rect">
            <a:avLst/>
          </a:prstGeom>
          <a:noFill/>
          <a:ln/>
        </p:spPr>
        <p:txBody>
          <a:bodyPr wrap="square" rtlCol="0" anchor="ctr"/>
          <a:lstStyle/>
          <a:p>
            <a:pPr marL="0" indent="0">
              <a:buNone/>
            </a:pPr>
            <a:r>
              <a:rPr lang="en-US" sz="1200" dirty="0">
                <a:solidFill>
                  <a:srgbClr val="2C3E50"/>
                </a:solidFill>
                <a:latin typeface="Calibri" pitchFamily="34" charset="0"/>
                <a:ea typeface="Calibri" pitchFamily="34" charset="-122"/>
                <a:cs typeface="Calibri" pitchFamily="34" charset="-120"/>
              </a:rPr>
              <a:t>Decreasing costs of computation and data storage</a:t>
            </a:r>
            <a:endParaRPr lang="en-US" sz="1200" dirty="0"/>
          </a:p>
        </p:txBody>
      </p:sp>
      <p:sp>
        <p:nvSpPr>
          <p:cNvPr id="18" name="Shape 13"/>
          <p:cNvSpPr/>
          <p:nvPr/>
        </p:nvSpPr>
        <p:spPr>
          <a:xfrm>
            <a:off x="4846320" y="3017520"/>
            <a:ext cx="4114800" cy="1280160"/>
          </a:xfrm>
          <a:prstGeom prst="rect">
            <a:avLst/>
          </a:prstGeom>
          <a:solidFill>
            <a:srgbClr val="FFFFFF"/>
          </a:solidFill>
          <a:ln/>
          <a:effectLst>
            <a:outerShdw blurRad="101600" dist="38100" dir="8100000" algn="bl" rotWithShape="0">
              <a:srgbClr val="000000">
                <a:alpha val="15000"/>
              </a:srgbClr>
            </a:outerShdw>
          </a:effectLst>
        </p:spPr>
      </p:sp>
      <p:sp>
        <p:nvSpPr>
          <p:cNvPr id="19" name="Shape 14"/>
          <p:cNvSpPr/>
          <p:nvPr/>
        </p:nvSpPr>
        <p:spPr>
          <a:xfrm>
            <a:off x="4846320" y="3017520"/>
            <a:ext cx="73152" cy="1280160"/>
          </a:xfrm>
          <a:prstGeom prst="rect">
            <a:avLst/>
          </a:prstGeom>
          <a:solidFill>
            <a:srgbClr val="028090"/>
          </a:solidFill>
          <a:ln/>
        </p:spPr>
      </p:sp>
      <p:pic>
        <p:nvPicPr>
          <p:cNvPr id="20" name="Image 3" descr="preencoded.png"/>
          <p:cNvPicPr>
            <a:picLocks noChangeAspect="1"/>
          </p:cNvPicPr>
          <p:nvPr/>
        </p:nvPicPr>
        <p:blipFill>
          <a:blip r:embed="rId6"/>
          <a:stretch>
            <a:fillRect/>
          </a:stretch>
        </p:blipFill>
        <p:spPr>
          <a:xfrm>
            <a:off x="5120640" y="3291840"/>
            <a:ext cx="548640" cy="548640"/>
          </a:xfrm>
          <a:prstGeom prst="rect">
            <a:avLst/>
          </a:prstGeom>
        </p:spPr>
      </p:pic>
      <p:sp>
        <p:nvSpPr>
          <p:cNvPr id="21" name="Text 15"/>
          <p:cNvSpPr/>
          <p:nvPr/>
        </p:nvSpPr>
        <p:spPr>
          <a:xfrm>
            <a:off x="5852160" y="3200400"/>
            <a:ext cx="2926080" cy="365760"/>
          </a:xfrm>
          <a:prstGeom prst="rect">
            <a:avLst/>
          </a:prstGeom>
          <a:noFill/>
          <a:ln/>
        </p:spPr>
        <p:txBody>
          <a:bodyPr wrap="square" rtlCol="0" anchor="ctr"/>
          <a:lstStyle/>
          <a:p>
            <a:pPr marL="0" indent="0">
              <a:buNone/>
            </a:pPr>
            <a:r>
              <a:rPr lang="en-US" sz="1800" b="1" dirty="0">
                <a:solidFill>
                  <a:srgbClr val="065A82"/>
                </a:solidFill>
                <a:latin typeface="Arial" pitchFamily="34" charset="0"/>
                <a:ea typeface="Arial" pitchFamily="34" charset="-122"/>
                <a:cs typeface="Arial" pitchFamily="34" charset="-120"/>
              </a:rPr>
              <a:t>Proven ROI</a:t>
            </a:r>
            <a:endParaRPr lang="en-US" sz="1800" dirty="0"/>
          </a:p>
        </p:txBody>
      </p:sp>
      <p:sp>
        <p:nvSpPr>
          <p:cNvPr id="22" name="Text 16"/>
          <p:cNvSpPr/>
          <p:nvPr/>
        </p:nvSpPr>
        <p:spPr>
          <a:xfrm>
            <a:off x="5852160" y="3657600"/>
            <a:ext cx="2926080" cy="548640"/>
          </a:xfrm>
          <a:prstGeom prst="rect">
            <a:avLst/>
          </a:prstGeom>
          <a:noFill/>
          <a:ln/>
        </p:spPr>
        <p:txBody>
          <a:bodyPr wrap="square" rtlCol="0" anchor="ctr"/>
          <a:lstStyle/>
          <a:p>
            <a:pPr marL="0" indent="0">
              <a:buNone/>
            </a:pPr>
            <a:r>
              <a:rPr lang="en-US" sz="1200" dirty="0">
                <a:solidFill>
                  <a:srgbClr val="2C3E50"/>
                </a:solidFill>
                <a:latin typeface="Calibri" pitchFamily="34" charset="0"/>
                <a:ea typeface="Calibri" pitchFamily="34" charset="-122"/>
                <a:cs typeface="Calibri" pitchFamily="34" charset="-120"/>
              </a:rPr>
              <a:t>Demonstrated business value and competitive advantages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lgn="l">
              <a:buNone/>
            </a:pPr>
            <a:r>
              <a:rPr lang="en-US" sz="4000" b="1" dirty="0">
                <a:solidFill>
                  <a:srgbClr val="1E2761"/>
                </a:solidFill>
                <a:latin typeface="Arial" pitchFamily="34" charset="0"/>
                <a:ea typeface="Arial" pitchFamily="34" charset="-122"/>
                <a:cs typeface="Arial" pitchFamily="34" charset="-120"/>
              </a:rPr>
              <a:t>Challenges in AI Implementation</a:t>
            </a:r>
            <a:endParaRPr lang="en-US" sz="4000" dirty="0"/>
          </a:p>
        </p:txBody>
      </p:sp>
      <p:sp>
        <p:nvSpPr>
          <p:cNvPr id="3" name="Shape 1"/>
          <p:cNvSpPr/>
          <p:nvPr/>
        </p:nvSpPr>
        <p:spPr>
          <a:xfrm>
            <a:off x="457200" y="1280160"/>
            <a:ext cx="4114800" cy="914400"/>
          </a:xfrm>
          <a:prstGeom prst="rect">
            <a:avLst/>
          </a:prstGeom>
          <a:solidFill>
            <a:srgbClr val="FFFFFF"/>
          </a:solidFill>
          <a:ln/>
          <a:effectLst>
            <a:outerShdw blurRad="101600" dist="38100" dir="8100000" algn="bl" rotWithShape="0">
              <a:srgbClr val="000000">
                <a:alpha val="15000"/>
              </a:srgbClr>
            </a:outerShdw>
          </a:effectLst>
        </p:spPr>
      </p:sp>
      <p:sp>
        <p:nvSpPr>
          <p:cNvPr id="4" name="Shape 2"/>
          <p:cNvSpPr/>
          <p:nvPr/>
        </p:nvSpPr>
        <p:spPr>
          <a:xfrm>
            <a:off x="640080" y="1508760"/>
            <a:ext cx="457200" cy="457200"/>
          </a:xfrm>
          <a:prstGeom prst="ellipse">
            <a:avLst/>
          </a:prstGeom>
          <a:solidFill>
            <a:srgbClr val="1E2761"/>
          </a:solidFill>
          <a:ln/>
        </p:spPr>
      </p:sp>
      <p:sp>
        <p:nvSpPr>
          <p:cNvPr id="5" name="Text 3"/>
          <p:cNvSpPr/>
          <p:nvPr/>
        </p:nvSpPr>
        <p:spPr>
          <a:xfrm>
            <a:off x="640080" y="1508760"/>
            <a:ext cx="457200" cy="45720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p:nvPr/>
        </p:nvSpPr>
        <p:spPr>
          <a:xfrm>
            <a:off x="1234440" y="1389888"/>
            <a:ext cx="3200400" cy="320040"/>
          </a:xfrm>
          <a:prstGeom prst="rect">
            <a:avLst/>
          </a:prstGeom>
          <a:noFill/>
          <a:ln/>
        </p:spPr>
        <p:txBody>
          <a:bodyPr wrap="square" rtlCol="0" anchor="t"/>
          <a:lstStyle/>
          <a:p>
            <a:pPr marL="0" indent="0">
              <a:buNone/>
            </a:pPr>
            <a:r>
              <a:rPr lang="en-US" sz="1500" b="1" dirty="0">
                <a:solidFill>
                  <a:srgbClr val="065A82"/>
                </a:solidFill>
                <a:latin typeface="Arial" pitchFamily="34" charset="0"/>
                <a:ea typeface="Arial" pitchFamily="34" charset="-122"/>
                <a:cs typeface="Arial" pitchFamily="34" charset="-120"/>
              </a:rPr>
              <a:t>Data Quality &amp; Quantity</a:t>
            </a:r>
            <a:endParaRPr lang="en-US" sz="1500" dirty="0"/>
          </a:p>
        </p:txBody>
      </p:sp>
      <p:sp>
        <p:nvSpPr>
          <p:cNvPr id="7" name="Text 5"/>
          <p:cNvSpPr/>
          <p:nvPr/>
        </p:nvSpPr>
        <p:spPr>
          <a:xfrm>
            <a:off x="1234440" y="1755648"/>
            <a:ext cx="3200400" cy="36576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Requires large volumes of high-quality, labeled data</a:t>
            </a:r>
            <a:endParaRPr lang="en-US" sz="1100" dirty="0"/>
          </a:p>
        </p:txBody>
      </p:sp>
      <p:sp>
        <p:nvSpPr>
          <p:cNvPr id="8" name="Shape 6"/>
          <p:cNvSpPr/>
          <p:nvPr/>
        </p:nvSpPr>
        <p:spPr>
          <a:xfrm>
            <a:off x="4846320" y="1280160"/>
            <a:ext cx="4114800" cy="914400"/>
          </a:xfrm>
          <a:prstGeom prst="rect">
            <a:avLst/>
          </a:prstGeom>
          <a:solidFill>
            <a:srgbClr val="FFFFFF"/>
          </a:solidFill>
          <a:ln/>
          <a:effectLst>
            <a:outerShdw blurRad="101600" dist="38100" dir="8100000" algn="bl" rotWithShape="0">
              <a:srgbClr val="000000">
                <a:alpha val="15000"/>
              </a:srgbClr>
            </a:outerShdw>
          </a:effectLst>
        </p:spPr>
      </p:sp>
      <p:sp>
        <p:nvSpPr>
          <p:cNvPr id="9" name="Shape 7"/>
          <p:cNvSpPr/>
          <p:nvPr/>
        </p:nvSpPr>
        <p:spPr>
          <a:xfrm>
            <a:off x="5029200" y="1508760"/>
            <a:ext cx="457200" cy="457200"/>
          </a:xfrm>
          <a:prstGeom prst="ellipse">
            <a:avLst/>
          </a:prstGeom>
          <a:solidFill>
            <a:srgbClr val="1E2761"/>
          </a:solidFill>
          <a:ln/>
        </p:spPr>
      </p:sp>
      <p:sp>
        <p:nvSpPr>
          <p:cNvPr id="10" name="Text 8"/>
          <p:cNvSpPr/>
          <p:nvPr/>
        </p:nvSpPr>
        <p:spPr>
          <a:xfrm>
            <a:off x="5029200" y="1508760"/>
            <a:ext cx="457200" cy="45720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1" name="Text 9"/>
          <p:cNvSpPr/>
          <p:nvPr/>
        </p:nvSpPr>
        <p:spPr>
          <a:xfrm>
            <a:off x="5623560" y="1389888"/>
            <a:ext cx="3200400" cy="320040"/>
          </a:xfrm>
          <a:prstGeom prst="rect">
            <a:avLst/>
          </a:prstGeom>
          <a:noFill/>
          <a:ln/>
        </p:spPr>
        <p:txBody>
          <a:bodyPr wrap="square" rtlCol="0" anchor="t"/>
          <a:lstStyle/>
          <a:p>
            <a:pPr marL="0" indent="0">
              <a:buNone/>
            </a:pPr>
            <a:r>
              <a:rPr lang="en-US" sz="1500" b="1" dirty="0">
                <a:solidFill>
                  <a:srgbClr val="065A82"/>
                </a:solidFill>
                <a:latin typeface="Arial" pitchFamily="34" charset="0"/>
                <a:ea typeface="Arial" pitchFamily="34" charset="-122"/>
                <a:cs typeface="Arial" pitchFamily="34" charset="-120"/>
              </a:rPr>
              <a:t>Implementation Costs</a:t>
            </a:r>
            <a:endParaRPr lang="en-US" sz="1500" dirty="0"/>
          </a:p>
        </p:txBody>
      </p:sp>
      <p:sp>
        <p:nvSpPr>
          <p:cNvPr id="12" name="Text 10"/>
          <p:cNvSpPr/>
          <p:nvPr/>
        </p:nvSpPr>
        <p:spPr>
          <a:xfrm>
            <a:off x="5623560" y="1755648"/>
            <a:ext cx="3200400" cy="36576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High initial investment in infrastructure and talent</a:t>
            </a:r>
            <a:endParaRPr lang="en-US" sz="1100" dirty="0"/>
          </a:p>
        </p:txBody>
      </p:sp>
      <p:sp>
        <p:nvSpPr>
          <p:cNvPr id="13" name="Shape 11"/>
          <p:cNvSpPr/>
          <p:nvPr/>
        </p:nvSpPr>
        <p:spPr>
          <a:xfrm>
            <a:off x="457200" y="2468880"/>
            <a:ext cx="4114800" cy="914400"/>
          </a:xfrm>
          <a:prstGeom prst="rect">
            <a:avLst/>
          </a:prstGeom>
          <a:solidFill>
            <a:srgbClr val="FFFFFF"/>
          </a:solidFill>
          <a:ln/>
          <a:effectLst>
            <a:outerShdw blurRad="101600" dist="38100" dir="8100000" algn="bl" rotWithShape="0">
              <a:srgbClr val="000000">
                <a:alpha val="15000"/>
              </a:srgbClr>
            </a:outerShdw>
          </a:effectLst>
        </p:spPr>
      </p:sp>
      <p:sp>
        <p:nvSpPr>
          <p:cNvPr id="14" name="Shape 12"/>
          <p:cNvSpPr/>
          <p:nvPr/>
        </p:nvSpPr>
        <p:spPr>
          <a:xfrm>
            <a:off x="640080" y="2697480"/>
            <a:ext cx="457200" cy="457200"/>
          </a:xfrm>
          <a:prstGeom prst="ellipse">
            <a:avLst/>
          </a:prstGeom>
          <a:solidFill>
            <a:srgbClr val="1E2761"/>
          </a:solidFill>
          <a:ln/>
        </p:spPr>
      </p:sp>
      <p:sp>
        <p:nvSpPr>
          <p:cNvPr id="15" name="Text 13"/>
          <p:cNvSpPr/>
          <p:nvPr/>
        </p:nvSpPr>
        <p:spPr>
          <a:xfrm>
            <a:off x="640080" y="2697480"/>
            <a:ext cx="457200" cy="45720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6" name="Text 14"/>
          <p:cNvSpPr/>
          <p:nvPr/>
        </p:nvSpPr>
        <p:spPr>
          <a:xfrm>
            <a:off x="1234440" y="2578608"/>
            <a:ext cx="3200400" cy="320040"/>
          </a:xfrm>
          <a:prstGeom prst="rect">
            <a:avLst/>
          </a:prstGeom>
          <a:noFill/>
          <a:ln/>
        </p:spPr>
        <p:txBody>
          <a:bodyPr wrap="square" rtlCol="0" anchor="t"/>
          <a:lstStyle/>
          <a:p>
            <a:pPr marL="0" indent="0">
              <a:buNone/>
            </a:pPr>
            <a:r>
              <a:rPr lang="en-US" sz="1500" b="1" dirty="0">
                <a:solidFill>
                  <a:srgbClr val="065A82"/>
                </a:solidFill>
                <a:latin typeface="Arial" pitchFamily="34" charset="0"/>
                <a:ea typeface="Arial" pitchFamily="34" charset="-122"/>
                <a:cs typeface="Arial" pitchFamily="34" charset="-120"/>
              </a:rPr>
              <a:t>Technical Complexity</a:t>
            </a:r>
            <a:endParaRPr lang="en-US" sz="1500" dirty="0"/>
          </a:p>
        </p:txBody>
      </p:sp>
      <p:sp>
        <p:nvSpPr>
          <p:cNvPr id="17" name="Text 15"/>
          <p:cNvSpPr/>
          <p:nvPr/>
        </p:nvSpPr>
        <p:spPr>
          <a:xfrm>
            <a:off x="1234440" y="2944368"/>
            <a:ext cx="3200400" cy="36576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Complex algorithms requiring specialized expertise</a:t>
            </a:r>
            <a:endParaRPr lang="en-US" sz="1100" dirty="0"/>
          </a:p>
        </p:txBody>
      </p:sp>
      <p:sp>
        <p:nvSpPr>
          <p:cNvPr id="18" name="Shape 16"/>
          <p:cNvSpPr/>
          <p:nvPr/>
        </p:nvSpPr>
        <p:spPr>
          <a:xfrm>
            <a:off x="4846320" y="2468880"/>
            <a:ext cx="4114800" cy="914400"/>
          </a:xfrm>
          <a:prstGeom prst="rect">
            <a:avLst/>
          </a:prstGeom>
          <a:solidFill>
            <a:srgbClr val="FFFFFF"/>
          </a:solidFill>
          <a:ln/>
          <a:effectLst>
            <a:outerShdw blurRad="101600" dist="38100" dir="8100000" algn="bl" rotWithShape="0">
              <a:srgbClr val="000000">
                <a:alpha val="15000"/>
              </a:srgbClr>
            </a:outerShdw>
          </a:effectLst>
        </p:spPr>
      </p:sp>
      <p:sp>
        <p:nvSpPr>
          <p:cNvPr id="19" name="Shape 17"/>
          <p:cNvSpPr/>
          <p:nvPr/>
        </p:nvSpPr>
        <p:spPr>
          <a:xfrm>
            <a:off x="5029200" y="2697480"/>
            <a:ext cx="457200" cy="457200"/>
          </a:xfrm>
          <a:prstGeom prst="ellipse">
            <a:avLst/>
          </a:prstGeom>
          <a:solidFill>
            <a:srgbClr val="1E2761"/>
          </a:solidFill>
          <a:ln/>
        </p:spPr>
      </p:sp>
      <p:sp>
        <p:nvSpPr>
          <p:cNvPr id="20" name="Text 18"/>
          <p:cNvSpPr/>
          <p:nvPr/>
        </p:nvSpPr>
        <p:spPr>
          <a:xfrm>
            <a:off x="5029200" y="2697480"/>
            <a:ext cx="457200" cy="45720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1" name="Text 19"/>
          <p:cNvSpPr/>
          <p:nvPr/>
        </p:nvSpPr>
        <p:spPr>
          <a:xfrm>
            <a:off x="5623560" y="2578608"/>
            <a:ext cx="3200400" cy="320040"/>
          </a:xfrm>
          <a:prstGeom prst="rect">
            <a:avLst/>
          </a:prstGeom>
          <a:noFill/>
          <a:ln/>
        </p:spPr>
        <p:txBody>
          <a:bodyPr wrap="square" rtlCol="0" anchor="t"/>
          <a:lstStyle/>
          <a:p>
            <a:pPr marL="0" indent="0">
              <a:buNone/>
            </a:pPr>
            <a:r>
              <a:rPr lang="en-US" sz="1500" b="1" dirty="0">
                <a:solidFill>
                  <a:srgbClr val="065A82"/>
                </a:solidFill>
                <a:latin typeface="Arial" pitchFamily="34" charset="0"/>
                <a:ea typeface="Arial" pitchFamily="34" charset="-122"/>
                <a:cs typeface="Arial" pitchFamily="34" charset="-120"/>
              </a:rPr>
              <a:t>Security &amp; Privacy</a:t>
            </a:r>
            <a:endParaRPr lang="en-US" sz="1500" dirty="0"/>
          </a:p>
        </p:txBody>
      </p:sp>
      <p:sp>
        <p:nvSpPr>
          <p:cNvPr id="22" name="Text 20"/>
          <p:cNvSpPr/>
          <p:nvPr/>
        </p:nvSpPr>
        <p:spPr>
          <a:xfrm>
            <a:off x="5623560" y="2944368"/>
            <a:ext cx="3200400" cy="36576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Data protection and cybersecurity vulnerabilities</a:t>
            </a:r>
            <a:endParaRPr lang="en-US" sz="1100" dirty="0"/>
          </a:p>
        </p:txBody>
      </p:sp>
      <p:sp>
        <p:nvSpPr>
          <p:cNvPr id="23" name="Shape 21"/>
          <p:cNvSpPr/>
          <p:nvPr/>
        </p:nvSpPr>
        <p:spPr>
          <a:xfrm>
            <a:off x="457200" y="3657600"/>
            <a:ext cx="4114800" cy="914400"/>
          </a:xfrm>
          <a:prstGeom prst="rect">
            <a:avLst/>
          </a:prstGeom>
          <a:solidFill>
            <a:srgbClr val="FFFFFF"/>
          </a:solidFill>
          <a:ln/>
          <a:effectLst>
            <a:outerShdw blurRad="101600" dist="38100" dir="8100000" algn="bl" rotWithShape="0">
              <a:srgbClr val="000000">
                <a:alpha val="15000"/>
              </a:srgbClr>
            </a:outerShdw>
          </a:effectLst>
        </p:spPr>
      </p:sp>
      <p:sp>
        <p:nvSpPr>
          <p:cNvPr id="24" name="Shape 22"/>
          <p:cNvSpPr/>
          <p:nvPr/>
        </p:nvSpPr>
        <p:spPr>
          <a:xfrm>
            <a:off x="640080" y="3886200"/>
            <a:ext cx="457200" cy="457200"/>
          </a:xfrm>
          <a:prstGeom prst="ellipse">
            <a:avLst/>
          </a:prstGeom>
          <a:solidFill>
            <a:srgbClr val="1E2761"/>
          </a:solidFill>
          <a:ln/>
        </p:spPr>
      </p:sp>
      <p:sp>
        <p:nvSpPr>
          <p:cNvPr id="25" name="Text 23"/>
          <p:cNvSpPr/>
          <p:nvPr/>
        </p:nvSpPr>
        <p:spPr>
          <a:xfrm>
            <a:off x="640080" y="3886200"/>
            <a:ext cx="457200" cy="45720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6" name="Text 24"/>
          <p:cNvSpPr/>
          <p:nvPr/>
        </p:nvSpPr>
        <p:spPr>
          <a:xfrm>
            <a:off x="1234440" y="3767328"/>
            <a:ext cx="3200400" cy="320040"/>
          </a:xfrm>
          <a:prstGeom prst="rect">
            <a:avLst/>
          </a:prstGeom>
          <a:noFill/>
          <a:ln/>
        </p:spPr>
        <p:txBody>
          <a:bodyPr wrap="square" rtlCol="0" anchor="t"/>
          <a:lstStyle/>
          <a:p>
            <a:pPr marL="0" indent="0">
              <a:buNone/>
            </a:pPr>
            <a:r>
              <a:rPr lang="en-US" sz="1500" b="1" dirty="0">
                <a:solidFill>
                  <a:srgbClr val="065A82"/>
                </a:solidFill>
                <a:latin typeface="Arial" pitchFamily="34" charset="0"/>
                <a:ea typeface="Arial" pitchFamily="34" charset="-122"/>
                <a:cs typeface="Arial" pitchFamily="34" charset="-120"/>
              </a:rPr>
              <a:t>Ethics &amp; Bias</a:t>
            </a:r>
            <a:endParaRPr lang="en-US" sz="1500" dirty="0"/>
          </a:p>
        </p:txBody>
      </p:sp>
      <p:sp>
        <p:nvSpPr>
          <p:cNvPr id="27" name="Text 25"/>
          <p:cNvSpPr/>
          <p:nvPr/>
        </p:nvSpPr>
        <p:spPr>
          <a:xfrm>
            <a:off x="1234440" y="4133088"/>
            <a:ext cx="3200400" cy="36576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Algorithmic bias and ethical concerns in decision-making</a:t>
            </a:r>
            <a:endParaRPr lang="en-US" sz="1100" dirty="0"/>
          </a:p>
        </p:txBody>
      </p:sp>
      <p:sp>
        <p:nvSpPr>
          <p:cNvPr id="28" name="Shape 26"/>
          <p:cNvSpPr/>
          <p:nvPr/>
        </p:nvSpPr>
        <p:spPr>
          <a:xfrm>
            <a:off x="4846320" y="3657600"/>
            <a:ext cx="4114800" cy="914400"/>
          </a:xfrm>
          <a:prstGeom prst="rect">
            <a:avLst/>
          </a:prstGeom>
          <a:solidFill>
            <a:srgbClr val="FFFFFF"/>
          </a:solidFill>
          <a:ln/>
          <a:effectLst>
            <a:outerShdw blurRad="101600" dist="38100" dir="8100000" algn="bl" rotWithShape="0">
              <a:srgbClr val="000000">
                <a:alpha val="15000"/>
              </a:srgbClr>
            </a:outerShdw>
          </a:effectLst>
        </p:spPr>
      </p:sp>
      <p:sp>
        <p:nvSpPr>
          <p:cNvPr id="29" name="Shape 27"/>
          <p:cNvSpPr/>
          <p:nvPr/>
        </p:nvSpPr>
        <p:spPr>
          <a:xfrm>
            <a:off x="5029200" y="3886200"/>
            <a:ext cx="457200" cy="457200"/>
          </a:xfrm>
          <a:prstGeom prst="ellipse">
            <a:avLst/>
          </a:prstGeom>
          <a:solidFill>
            <a:srgbClr val="1E2761"/>
          </a:solidFill>
          <a:ln/>
        </p:spPr>
      </p:sp>
      <p:sp>
        <p:nvSpPr>
          <p:cNvPr id="30" name="Text 28"/>
          <p:cNvSpPr/>
          <p:nvPr/>
        </p:nvSpPr>
        <p:spPr>
          <a:xfrm>
            <a:off x="5029200" y="3886200"/>
            <a:ext cx="457200" cy="45720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31" name="Text 29"/>
          <p:cNvSpPr/>
          <p:nvPr/>
        </p:nvSpPr>
        <p:spPr>
          <a:xfrm>
            <a:off x="5623560" y="3767328"/>
            <a:ext cx="3200400" cy="320040"/>
          </a:xfrm>
          <a:prstGeom prst="rect">
            <a:avLst/>
          </a:prstGeom>
          <a:noFill/>
          <a:ln/>
        </p:spPr>
        <p:txBody>
          <a:bodyPr wrap="square" rtlCol="0" anchor="t"/>
          <a:lstStyle/>
          <a:p>
            <a:pPr marL="0" indent="0">
              <a:buNone/>
            </a:pPr>
            <a:r>
              <a:rPr lang="en-US" sz="1500" b="1" dirty="0">
                <a:solidFill>
                  <a:srgbClr val="065A82"/>
                </a:solidFill>
                <a:latin typeface="Arial" pitchFamily="34" charset="0"/>
                <a:ea typeface="Arial" pitchFamily="34" charset="-122"/>
                <a:cs typeface="Arial" pitchFamily="34" charset="-120"/>
              </a:rPr>
              <a:t>Regulatory Compliance</a:t>
            </a:r>
            <a:endParaRPr lang="en-US" sz="1500" dirty="0"/>
          </a:p>
        </p:txBody>
      </p:sp>
      <p:sp>
        <p:nvSpPr>
          <p:cNvPr id="32" name="Text 30"/>
          <p:cNvSpPr/>
          <p:nvPr/>
        </p:nvSpPr>
        <p:spPr>
          <a:xfrm>
            <a:off x="5623560" y="4133088"/>
            <a:ext cx="3200400" cy="36576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Evolving regulations and governance frameworks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lgn="l">
              <a:buNone/>
            </a:pPr>
            <a:r>
              <a:rPr lang="en-US" sz="4000" b="1" dirty="0">
                <a:solidFill>
                  <a:srgbClr val="1E2761"/>
                </a:solidFill>
                <a:latin typeface="Arial" pitchFamily="34" charset="0"/>
                <a:ea typeface="Arial" pitchFamily="34" charset="-122"/>
                <a:cs typeface="Arial" pitchFamily="34" charset="-120"/>
              </a:rPr>
              <a:t>Data Challenges</a:t>
            </a:r>
            <a:endParaRPr lang="en-US" sz="4000" dirty="0"/>
          </a:p>
        </p:txBody>
      </p:sp>
      <p:sp>
        <p:nvSpPr>
          <p:cNvPr id="3" name="Shape 1"/>
          <p:cNvSpPr/>
          <p:nvPr/>
        </p:nvSpPr>
        <p:spPr>
          <a:xfrm>
            <a:off x="457200" y="1280160"/>
            <a:ext cx="4114800" cy="3291840"/>
          </a:xfrm>
          <a:prstGeom prst="rect">
            <a:avLst/>
          </a:prstGeom>
          <a:solidFill>
            <a:srgbClr val="FFFFFF"/>
          </a:solidFill>
          <a:ln/>
          <a:effectLst>
            <a:outerShdw blurRad="101600" dist="38100" dir="8100000" algn="bl" rotWithShape="0">
              <a:srgbClr val="000000">
                <a:alpha val="15000"/>
              </a:srgbClr>
            </a:outerShdw>
          </a:effectLst>
        </p:spPr>
      </p:sp>
      <p:sp>
        <p:nvSpPr>
          <p:cNvPr id="4" name="Text 2"/>
          <p:cNvSpPr/>
          <p:nvPr/>
        </p:nvSpPr>
        <p:spPr>
          <a:xfrm>
            <a:off x="457200" y="1417320"/>
            <a:ext cx="4114800" cy="365760"/>
          </a:xfrm>
          <a:prstGeom prst="rect">
            <a:avLst/>
          </a:prstGeom>
          <a:noFill/>
          <a:ln/>
        </p:spPr>
        <p:txBody>
          <a:bodyPr wrap="square" rtlCol="0" anchor="ctr"/>
          <a:lstStyle/>
          <a:p>
            <a:pPr marL="0" indent="0" algn="ctr">
              <a:buNone/>
            </a:pPr>
            <a:r>
              <a:rPr lang="en-US" sz="1800" b="1" dirty="0">
                <a:solidFill>
                  <a:srgbClr val="065A82"/>
                </a:solidFill>
                <a:latin typeface="Arial" pitchFamily="34" charset="0"/>
                <a:ea typeface="Arial" pitchFamily="34" charset="-122"/>
                <a:cs typeface="Arial" pitchFamily="34" charset="-120"/>
              </a:rPr>
              <a:t>Common Data Issues</a:t>
            </a:r>
            <a:endParaRPr lang="en-US" sz="1800" dirty="0"/>
          </a:p>
        </p:txBody>
      </p:sp>
      <p:sp>
        <p:nvSpPr>
          <p:cNvPr id="5" name="Text 3"/>
          <p:cNvSpPr/>
          <p:nvPr/>
        </p:nvSpPr>
        <p:spPr>
          <a:xfrm>
            <a:off x="731520" y="2011680"/>
            <a:ext cx="3657600" cy="2286000"/>
          </a:xfrm>
          <a:prstGeom prst="rect">
            <a:avLst/>
          </a:prstGeom>
          <a:noFill/>
          <a:ln/>
        </p:spPr>
        <p:txBody>
          <a:bodyPr wrap="square" rtlCol="0" anchor="ctr"/>
          <a:lstStyle/>
          <a:p>
            <a:pPr marL="342900" indent="-342900">
              <a:buSzPct val="100000"/>
              <a:buChar char="•"/>
            </a:pPr>
            <a:r>
              <a:rPr lang="en-US" sz="1200" dirty="0">
                <a:solidFill>
                  <a:srgbClr val="2C3E50"/>
                </a:solidFill>
              </a:rPr>
              <a:t>Data Silos: Information scattered across systems</a:t>
            </a:r>
            <a:endParaRPr lang="en-US" sz="1200" dirty="0"/>
          </a:p>
          <a:p>
            <a:pPr marL="0" indent="0">
              <a:buNone/>
            </a:pPr>
            <a:endParaRPr lang="en-US" sz="1200" dirty="0"/>
          </a:p>
          <a:p>
            <a:pPr marL="342900" indent="-342900">
              <a:buSzPct val="100000"/>
              <a:buChar char="•"/>
            </a:pPr>
            <a:r>
              <a:rPr lang="en-US" sz="1200" dirty="0">
                <a:solidFill>
                  <a:srgbClr val="2C3E50"/>
                </a:solidFill>
              </a:rPr>
              <a:t>Quality Issues: Incomplete, inaccurate, or outdated data</a:t>
            </a:r>
            <a:endParaRPr lang="en-US" sz="1200" dirty="0"/>
          </a:p>
          <a:p>
            <a:pPr marL="0" indent="0">
              <a:buNone/>
            </a:pPr>
            <a:endParaRPr lang="en-US" sz="1200" dirty="0"/>
          </a:p>
          <a:p>
            <a:pPr marL="342900" indent="-342900">
              <a:buSzPct val="100000"/>
              <a:buChar char="•"/>
            </a:pPr>
            <a:r>
              <a:rPr lang="en-US" sz="1200" dirty="0">
                <a:solidFill>
                  <a:srgbClr val="2C3E50"/>
                </a:solidFill>
              </a:rPr>
              <a:t>Labeling Costs: Manual data annotation is time-consuming</a:t>
            </a:r>
            <a:r>
              <a:rPr lang="en-US" sz="1200" dirty="0">
                <a:solidFill>
                  <a:srgbClr val="000000"/>
                </a:solidFill>
              </a:rPr>
              <a:t>
</a:t>
            </a:r>
            <a:endParaRPr lang="en-US" sz="1200" dirty="0"/>
          </a:p>
          <a:p>
            <a:pPr marL="342900" indent="-342900">
              <a:buSzPct val="100000"/>
              <a:buChar char="•"/>
            </a:pPr>
            <a:r>
              <a:rPr lang="en-US" sz="1200" dirty="0">
                <a:solidFill>
                  <a:srgbClr val="2C3E50"/>
                </a:solidFill>
              </a:rPr>
              <a:t>Imbalanced Datasets: Uneven distribution across categories</a:t>
            </a:r>
            <a:r>
              <a:rPr lang="en-US" sz="1200" dirty="0">
                <a:solidFill>
                  <a:srgbClr val="000000"/>
                </a:solidFill>
              </a:rPr>
              <a:t>
</a:t>
            </a:r>
            <a:endParaRPr lang="en-US" sz="1200" dirty="0"/>
          </a:p>
          <a:p>
            <a:pPr marL="342900" indent="-342900">
              <a:buSzPct val="100000"/>
              <a:buChar char="•"/>
            </a:pPr>
            <a:r>
              <a:rPr lang="en-US" sz="1200" dirty="0">
                <a:solidFill>
                  <a:srgbClr val="2C3E50"/>
                </a:solidFill>
              </a:rPr>
              <a:t>Privacy Constraints: Legal restrictions on data usage</a:t>
            </a:r>
            <a:endParaRPr lang="en-US" sz="1200" dirty="0"/>
          </a:p>
        </p:txBody>
      </p:sp>
      <p:sp>
        <p:nvSpPr>
          <p:cNvPr id="6" name="Shape 4"/>
          <p:cNvSpPr/>
          <p:nvPr/>
        </p:nvSpPr>
        <p:spPr>
          <a:xfrm>
            <a:off x="4754880" y="1280160"/>
            <a:ext cx="3931920" cy="3291840"/>
          </a:xfrm>
          <a:prstGeom prst="rect">
            <a:avLst/>
          </a:prstGeom>
          <a:solidFill>
            <a:srgbClr val="02C39A"/>
          </a:solidFill>
          <a:ln/>
          <a:effectLst>
            <a:outerShdw blurRad="101600" dist="38100" dir="8100000" algn="bl" rotWithShape="0">
              <a:srgbClr val="000000">
                <a:alpha val="15000"/>
              </a:srgbClr>
            </a:outerShdw>
          </a:effectLst>
        </p:spPr>
      </p:sp>
      <p:sp>
        <p:nvSpPr>
          <p:cNvPr id="7" name="Text 5"/>
          <p:cNvSpPr/>
          <p:nvPr/>
        </p:nvSpPr>
        <p:spPr>
          <a:xfrm>
            <a:off x="4754880" y="1417320"/>
            <a:ext cx="3931920" cy="36576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Solutions &amp; Best Practices</a:t>
            </a:r>
            <a:endParaRPr lang="en-US" sz="1800" dirty="0"/>
          </a:p>
        </p:txBody>
      </p:sp>
      <p:sp>
        <p:nvSpPr>
          <p:cNvPr id="8" name="Text 6"/>
          <p:cNvSpPr/>
          <p:nvPr/>
        </p:nvSpPr>
        <p:spPr>
          <a:xfrm>
            <a:off x="5029200" y="2011680"/>
            <a:ext cx="3474720" cy="2286000"/>
          </a:xfrm>
          <a:prstGeom prst="rect">
            <a:avLst/>
          </a:prstGeom>
          <a:noFill/>
          <a:ln/>
        </p:spPr>
        <p:txBody>
          <a:bodyPr wrap="square" rtlCol="0" anchor="ctr"/>
          <a:lstStyle/>
          <a:p>
            <a:pPr marL="342900" indent="-342900">
              <a:buSzPct val="100000"/>
              <a:buChar char="•"/>
            </a:pPr>
            <a:r>
              <a:rPr lang="en-US" sz="1200" dirty="0">
                <a:solidFill>
                  <a:srgbClr val="FFFFFF"/>
                </a:solidFill>
              </a:rPr>
              <a:t>Data Integration: Implement centralized data platforms</a:t>
            </a:r>
            <a:endParaRPr lang="en-US" sz="1200" dirty="0"/>
          </a:p>
          <a:p>
            <a:pPr marL="0" indent="0">
              <a:buNone/>
            </a:pPr>
            <a:r>
              <a:rPr lang="en-US" sz="1200" dirty="0">
                <a:solidFill>
                  <a:srgbClr val="000000"/>
                </a:solidFill>
              </a:rPr>
              <a:t>
</a:t>
            </a:r>
            <a:endParaRPr lang="en-US" sz="1200" dirty="0"/>
          </a:p>
          <a:p>
            <a:pPr marL="342900" indent="-342900">
              <a:buSzPct val="100000"/>
              <a:buChar char="•"/>
            </a:pPr>
            <a:r>
              <a:rPr lang="en-US" sz="1200" dirty="0">
                <a:solidFill>
                  <a:srgbClr val="FFFFFF"/>
                </a:solidFill>
              </a:rPr>
              <a:t>Quality Frameworks: Establish data governance policies</a:t>
            </a:r>
            <a:endParaRPr lang="en-US" sz="1200" dirty="0"/>
          </a:p>
          <a:p>
            <a:pPr marL="0" indent="0">
              <a:buNone/>
            </a:pPr>
            <a:r>
              <a:rPr lang="en-US" sz="1200" dirty="0">
                <a:solidFill>
                  <a:srgbClr val="000000"/>
                </a:solidFill>
              </a:rPr>
              <a:t>
</a:t>
            </a:r>
            <a:endParaRPr lang="en-US" sz="1200" dirty="0"/>
          </a:p>
          <a:p>
            <a:pPr marL="342900" indent="-342900">
              <a:buSzPct val="100000"/>
              <a:buChar char="•"/>
            </a:pPr>
            <a:r>
              <a:rPr lang="en-US" sz="1200" dirty="0">
                <a:solidFill>
                  <a:srgbClr val="FFFFFF"/>
                </a:solidFill>
              </a:rPr>
              <a:t>Automated Labeling: Use semi-supervised and active learning</a:t>
            </a:r>
            <a:endParaRPr lang="en-US" sz="1200" dirty="0"/>
          </a:p>
          <a:p>
            <a:pPr marL="0" indent="0">
              <a:buNone/>
            </a:pPr>
            <a:r>
              <a:rPr lang="en-US" sz="1200" dirty="0">
                <a:solidFill>
                  <a:srgbClr val="000000"/>
                </a:solidFill>
              </a:rPr>
              <a:t>
</a:t>
            </a:r>
            <a:endParaRPr lang="en-US" sz="1200" dirty="0"/>
          </a:p>
          <a:p>
            <a:pPr marL="342900" indent="-342900">
              <a:buSzPct val="100000"/>
              <a:buChar char="•"/>
            </a:pPr>
            <a:r>
              <a:rPr lang="en-US" sz="1200" dirty="0">
                <a:solidFill>
                  <a:srgbClr val="FFFFFF"/>
                </a:solidFill>
              </a:rPr>
              <a:t>Synthetic Data: Generate artificial training data</a:t>
            </a:r>
            <a:endParaRPr lang="en-US" sz="1200" dirty="0"/>
          </a:p>
          <a:p>
            <a:pPr marL="0" indent="0">
              <a:buNone/>
            </a:pPr>
            <a:r>
              <a:rPr lang="en-US" sz="1200" dirty="0">
                <a:solidFill>
                  <a:srgbClr val="000000"/>
                </a:solidFill>
              </a:rPr>
              <a:t>
</a:t>
            </a:r>
            <a:endParaRPr lang="en-US" sz="1200" dirty="0"/>
          </a:p>
          <a:p>
            <a:pPr marL="342900" indent="-342900">
              <a:buSzPct val="100000"/>
              <a:buChar char="•"/>
            </a:pPr>
            <a:r>
              <a:rPr lang="en-US" sz="1200" dirty="0">
                <a:solidFill>
                  <a:srgbClr val="FFFFFF"/>
                </a:solidFill>
              </a:rPr>
              <a:t>Privacy Tech: Apply federated learning and differential privacy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lgn="l">
              <a:buNone/>
            </a:pPr>
            <a:r>
              <a:rPr lang="en-US" sz="4000" b="1" dirty="0">
                <a:solidFill>
                  <a:srgbClr val="1E2761"/>
                </a:solidFill>
                <a:latin typeface="Arial" pitchFamily="34" charset="0"/>
                <a:ea typeface="Arial" pitchFamily="34" charset="-122"/>
                <a:cs typeface="Arial" pitchFamily="34" charset="-120"/>
              </a:rPr>
              <a:t>Technical &amp; Talent Challenges</a:t>
            </a:r>
            <a:endParaRPr lang="en-US" sz="4000" dirty="0"/>
          </a:p>
        </p:txBody>
      </p:sp>
      <p:sp>
        <p:nvSpPr>
          <p:cNvPr id="3" name="Shape 1"/>
          <p:cNvSpPr/>
          <p:nvPr/>
        </p:nvSpPr>
        <p:spPr>
          <a:xfrm>
            <a:off x="457200" y="1280160"/>
            <a:ext cx="4114800" cy="3291840"/>
          </a:xfrm>
          <a:prstGeom prst="rect">
            <a:avLst/>
          </a:prstGeom>
          <a:solidFill>
            <a:srgbClr val="FFFFFF"/>
          </a:solidFill>
          <a:ln/>
          <a:effectLst>
            <a:outerShdw blurRad="101600" dist="38100" dir="8100000" algn="bl" rotWithShape="0">
              <a:srgbClr val="000000">
                <a:alpha val="15000"/>
              </a:srgbClr>
            </a:outerShdw>
          </a:effectLst>
        </p:spPr>
      </p:sp>
      <p:sp>
        <p:nvSpPr>
          <p:cNvPr id="4" name="Shape 2"/>
          <p:cNvSpPr/>
          <p:nvPr/>
        </p:nvSpPr>
        <p:spPr>
          <a:xfrm>
            <a:off x="457200" y="1280160"/>
            <a:ext cx="73152" cy="3291840"/>
          </a:xfrm>
          <a:prstGeom prst="rect">
            <a:avLst/>
          </a:prstGeom>
          <a:solidFill>
            <a:srgbClr val="065A82"/>
          </a:solidFill>
          <a:ln/>
        </p:spPr>
      </p:sp>
      <p:sp>
        <p:nvSpPr>
          <p:cNvPr id="5" name="Text 3"/>
          <p:cNvSpPr/>
          <p:nvPr/>
        </p:nvSpPr>
        <p:spPr>
          <a:xfrm>
            <a:off x="731520" y="1508760"/>
            <a:ext cx="3657600" cy="365760"/>
          </a:xfrm>
          <a:prstGeom prst="rect">
            <a:avLst/>
          </a:prstGeom>
          <a:noFill/>
          <a:ln/>
        </p:spPr>
        <p:txBody>
          <a:bodyPr wrap="square" rtlCol="0" anchor="ctr"/>
          <a:lstStyle/>
          <a:p>
            <a:pPr marL="0" indent="0">
              <a:buNone/>
            </a:pPr>
            <a:r>
              <a:rPr lang="en-US" sz="1800" b="1" dirty="0">
                <a:solidFill>
                  <a:srgbClr val="065A82"/>
                </a:solidFill>
                <a:latin typeface="Arial" pitchFamily="34" charset="0"/>
                <a:ea typeface="Arial" pitchFamily="34" charset="-122"/>
                <a:cs typeface="Arial" pitchFamily="34" charset="-120"/>
              </a:rPr>
              <a:t>Technical Hurdles</a:t>
            </a:r>
            <a:endParaRPr lang="en-US" sz="1800" dirty="0"/>
          </a:p>
        </p:txBody>
      </p:sp>
      <p:sp>
        <p:nvSpPr>
          <p:cNvPr id="6" name="Text 4"/>
          <p:cNvSpPr/>
          <p:nvPr/>
        </p:nvSpPr>
        <p:spPr>
          <a:xfrm>
            <a:off x="731520" y="2011680"/>
            <a:ext cx="3657600" cy="2377440"/>
          </a:xfrm>
          <a:prstGeom prst="rect">
            <a:avLst/>
          </a:prstGeom>
          <a:noFill/>
          <a:ln/>
        </p:spPr>
        <p:txBody>
          <a:bodyPr wrap="square" rtlCol="0" anchor="ctr"/>
          <a:lstStyle/>
          <a:p>
            <a:pPr marL="0" indent="0">
              <a:buNone/>
            </a:pPr>
            <a:r>
              <a:rPr lang="en-US" sz="1300" b="1" dirty="0">
                <a:solidFill>
                  <a:srgbClr val="2C3E50"/>
                </a:solidFill>
              </a:rPr>
              <a:t>Infrastructure Requirements</a:t>
            </a:r>
            <a:endParaRPr lang="en-US" sz="1300" dirty="0"/>
          </a:p>
          <a:p>
            <a:pPr marL="0" indent="0">
              <a:buNone/>
            </a:pPr>
            <a:r>
              <a:rPr lang="en-US" sz="1100" dirty="0">
                <a:solidFill>
                  <a:srgbClr val="7F8C8D"/>
                </a:solidFill>
              </a:rPr>
              <a:t>High-performance computing resources needed</a:t>
            </a:r>
            <a:endParaRPr lang="en-US" sz="1300" dirty="0"/>
          </a:p>
          <a:p>
            <a:pPr marL="0" indent="0">
              <a:buNone/>
            </a:pPr>
            <a:r>
              <a:rPr lang="en-US" sz="1300" dirty="0">
                <a:solidFill>
                  <a:srgbClr val="000000"/>
                </a:solidFill>
              </a:rPr>
              <a:t>
</a:t>
            </a:r>
            <a:endParaRPr lang="en-US" sz="1300" dirty="0"/>
          </a:p>
          <a:p>
            <a:pPr marL="0" indent="0">
              <a:buNone/>
            </a:pPr>
            <a:r>
              <a:rPr lang="en-US" sz="1300" b="1" dirty="0">
                <a:solidFill>
                  <a:srgbClr val="2C3E50"/>
                </a:solidFill>
              </a:rPr>
              <a:t>Model Complexity</a:t>
            </a:r>
            <a:endParaRPr lang="en-US" sz="1300" dirty="0"/>
          </a:p>
          <a:p>
            <a:pPr marL="0" indent="0">
              <a:buNone/>
            </a:pPr>
            <a:r>
              <a:rPr lang="en-US" sz="1100" dirty="0">
                <a:solidFill>
                  <a:srgbClr val="7F8C8D"/>
                </a:solidFill>
              </a:rPr>
              <a:t>Difficult to interpret and debug neural networks</a:t>
            </a:r>
            <a:endParaRPr lang="en-US" sz="1300" dirty="0"/>
          </a:p>
          <a:p>
            <a:pPr marL="0" indent="0">
              <a:buNone/>
            </a:pPr>
            <a:r>
              <a:rPr lang="en-US" sz="1300" dirty="0">
                <a:solidFill>
                  <a:srgbClr val="000000"/>
                </a:solidFill>
              </a:rPr>
              <a:t>
</a:t>
            </a:r>
            <a:endParaRPr lang="en-US" sz="1300" dirty="0"/>
          </a:p>
          <a:p>
            <a:pPr marL="0" indent="0">
              <a:buNone/>
            </a:pPr>
            <a:r>
              <a:rPr lang="en-US" sz="1300" b="1" dirty="0">
                <a:solidFill>
                  <a:srgbClr val="2C3E50"/>
                </a:solidFill>
              </a:rPr>
              <a:t>Integration Issues</a:t>
            </a:r>
            <a:endParaRPr lang="en-US" sz="1300" dirty="0"/>
          </a:p>
          <a:p>
            <a:pPr marL="0" indent="0">
              <a:buNone/>
            </a:pPr>
            <a:r>
              <a:rPr lang="en-US" sz="1100" dirty="0">
                <a:solidFill>
                  <a:srgbClr val="7F8C8D"/>
                </a:solidFill>
              </a:rPr>
              <a:t>Challenges connecting AI with legacy systems</a:t>
            </a:r>
            <a:endParaRPr lang="en-US" sz="1300" dirty="0"/>
          </a:p>
          <a:p>
            <a:pPr marL="0" indent="0">
              <a:buNone/>
            </a:pPr>
            <a:r>
              <a:rPr lang="en-US" sz="1300" dirty="0">
                <a:solidFill>
                  <a:srgbClr val="000000"/>
                </a:solidFill>
              </a:rPr>
              <a:t>
</a:t>
            </a:r>
            <a:endParaRPr lang="en-US" sz="1300" dirty="0"/>
          </a:p>
          <a:p>
            <a:pPr marL="0" indent="0">
              <a:buNone/>
            </a:pPr>
            <a:r>
              <a:rPr lang="en-US" sz="1300" b="1" dirty="0">
                <a:solidFill>
                  <a:srgbClr val="2C3E50"/>
                </a:solidFill>
              </a:rPr>
              <a:t>Scalability Concerns</a:t>
            </a:r>
            <a:endParaRPr lang="en-US" sz="1300" dirty="0"/>
          </a:p>
          <a:p>
            <a:pPr marL="0" indent="0">
              <a:buNone/>
            </a:pPr>
            <a:r>
              <a:rPr lang="en-US" sz="1100" dirty="0">
                <a:solidFill>
                  <a:srgbClr val="7F8C8D"/>
                </a:solidFill>
              </a:rPr>
              <a:t>Models may not scale across different contexts</a:t>
            </a:r>
            <a:endParaRPr lang="en-US" sz="1300" dirty="0"/>
          </a:p>
        </p:txBody>
      </p:sp>
      <p:sp>
        <p:nvSpPr>
          <p:cNvPr id="7" name="Shape 5"/>
          <p:cNvSpPr/>
          <p:nvPr/>
        </p:nvSpPr>
        <p:spPr>
          <a:xfrm>
            <a:off x="4754880" y="1280160"/>
            <a:ext cx="3931920" cy="3291840"/>
          </a:xfrm>
          <a:prstGeom prst="rect">
            <a:avLst/>
          </a:prstGeom>
          <a:solidFill>
            <a:srgbClr val="FFFFFF"/>
          </a:solidFill>
          <a:ln/>
          <a:effectLst>
            <a:outerShdw blurRad="101600" dist="38100" dir="8100000" algn="bl" rotWithShape="0">
              <a:srgbClr val="000000">
                <a:alpha val="15000"/>
              </a:srgbClr>
            </a:outerShdw>
          </a:effectLst>
        </p:spPr>
      </p:sp>
      <p:sp>
        <p:nvSpPr>
          <p:cNvPr id="8" name="Shape 6"/>
          <p:cNvSpPr/>
          <p:nvPr/>
        </p:nvSpPr>
        <p:spPr>
          <a:xfrm>
            <a:off x="4754880" y="1280160"/>
            <a:ext cx="73152" cy="3291840"/>
          </a:xfrm>
          <a:prstGeom prst="rect">
            <a:avLst/>
          </a:prstGeom>
          <a:solidFill>
            <a:srgbClr val="028090"/>
          </a:solidFill>
          <a:ln/>
        </p:spPr>
      </p:sp>
      <p:sp>
        <p:nvSpPr>
          <p:cNvPr id="9" name="Text 7"/>
          <p:cNvSpPr/>
          <p:nvPr/>
        </p:nvSpPr>
        <p:spPr>
          <a:xfrm>
            <a:off x="5029200" y="1508760"/>
            <a:ext cx="3474720" cy="365760"/>
          </a:xfrm>
          <a:prstGeom prst="rect">
            <a:avLst/>
          </a:prstGeom>
          <a:noFill/>
          <a:ln/>
        </p:spPr>
        <p:txBody>
          <a:bodyPr wrap="square" rtlCol="0" anchor="ctr"/>
          <a:lstStyle/>
          <a:p>
            <a:pPr marL="0" indent="0">
              <a:buNone/>
            </a:pPr>
            <a:r>
              <a:rPr lang="en-US" sz="1800" b="1" dirty="0">
                <a:solidFill>
                  <a:srgbClr val="028090"/>
                </a:solidFill>
                <a:latin typeface="Arial" pitchFamily="34" charset="0"/>
                <a:ea typeface="Arial" pitchFamily="34" charset="-122"/>
                <a:cs typeface="Arial" pitchFamily="34" charset="-120"/>
              </a:rPr>
              <a:t>Talent Shortage</a:t>
            </a:r>
            <a:endParaRPr lang="en-US" sz="1800" dirty="0"/>
          </a:p>
        </p:txBody>
      </p:sp>
      <p:sp>
        <p:nvSpPr>
          <p:cNvPr id="10" name="Text 8"/>
          <p:cNvSpPr/>
          <p:nvPr/>
        </p:nvSpPr>
        <p:spPr>
          <a:xfrm>
            <a:off x="5029200" y="2011680"/>
            <a:ext cx="3474720" cy="2377440"/>
          </a:xfrm>
          <a:prstGeom prst="rect">
            <a:avLst/>
          </a:prstGeom>
          <a:noFill/>
          <a:ln/>
        </p:spPr>
        <p:txBody>
          <a:bodyPr wrap="square" rtlCol="0" anchor="ctr"/>
          <a:lstStyle/>
          <a:p>
            <a:pPr marL="0" indent="0">
              <a:buNone/>
            </a:pPr>
            <a:r>
              <a:rPr lang="en-US" sz="1300" b="1" dirty="0">
                <a:solidFill>
                  <a:srgbClr val="2C3E50"/>
                </a:solidFill>
              </a:rPr>
              <a:t>Skills Gap</a:t>
            </a:r>
            <a:endParaRPr lang="en-US" sz="1300" dirty="0"/>
          </a:p>
          <a:p>
            <a:pPr marL="0" indent="0">
              <a:buNone/>
            </a:pPr>
            <a:r>
              <a:rPr lang="en-US" sz="1100" dirty="0">
                <a:solidFill>
                  <a:srgbClr val="7F8C8D"/>
                </a:solidFill>
              </a:rPr>
              <a:t>Limited availability of AI/ML specialists</a:t>
            </a:r>
            <a:endParaRPr lang="en-US" sz="1300" dirty="0"/>
          </a:p>
          <a:p>
            <a:pPr marL="0" indent="0">
              <a:buNone/>
            </a:pPr>
            <a:r>
              <a:rPr lang="en-US" sz="1300" dirty="0">
                <a:solidFill>
                  <a:srgbClr val="000000"/>
                </a:solidFill>
              </a:rPr>
              <a:t>
</a:t>
            </a:r>
            <a:endParaRPr lang="en-US" sz="1300" dirty="0"/>
          </a:p>
          <a:p>
            <a:pPr marL="0" indent="0">
              <a:buNone/>
            </a:pPr>
            <a:r>
              <a:rPr lang="en-US" sz="1300" b="1" dirty="0">
                <a:solidFill>
                  <a:srgbClr val="2C3E50"/>
                </a:solidFill>
              </a:rPr>
              <a:t>High Salaries</a:t>
            </a:r>
            <a:endParaRPr lang="en-US" sz="1300" dirty="0"/>
          </a:p>
          <a:p>
            <a:pPr marL="0" indent="0">
              <a:buNone/>
            </a:pPr>
            <a:r>
              <a:rPr lang="en-US" sz="1100" dirty="0">
                <a:solidFill>
                  <a:srgbClr val="7F8C8D"/>
                </a:solidFill>
              </a:rPr>
              <a:t>Competitive compensation demands</a:t>
            </a:r>
            <a:endParaRPr lang="en-US" sz="1300" dirty="0"/>
          </a:p>
          <a:p>
            <a:pPr marL="0" indent="0">
              <a:buNone/>
            </a:pPr>
            <a:r>
              <a:rPr lang="en-US" sz="1300" dirty="0">
                <a:solidFill>
                  <a:srgbClr val="000000"/>
                </a:solidFill>
              </a:rPr>
              <a:t>
</a:t>
            </a:r>
            <a:endParaRPr lang="en-US" sz="1300" dirty="0"/>
          </a:p>
          <a:p>
            <a:pPr marL="0" indent="0">
              <a:buNone/>
            </a:pPr>
            <a:r>
              <a:rPr lang="en-US" sz="1300" b="1" dirty="0">
                <a:solidFill>
                  <a:srgbClr val="2C3E50"/>
                </a:solidFill>
              </a:rPr>
              <a:t>Training Costs</a:t>
            </a:r>
            <a:endParaRPr lang="en-US" sz="1300" dirty="0"/>
          </a:p>
          <a:p>
            <a:pPr marL="0" indent="0">
              <a:buNone/>
            </a:pPr>
            <a:r>
              <a:rPr lang="en-US" sz="1100" dirty="0">
                <a:solidFill>
                  <a:srgbClr val="7F8C8D"/>
                </a:solidFill>
              </a:rPr>
              <a:t>Significant investment in upskilling teams</a:t>
            </a:r>
            <a:endParaRPr lang="en-US" sz="1300" dirty="0"/>
          </a:p>
          <a:p>
            <a:pPr marL="0" indent="0">
              <a:buNone/>
            </a:pPr>
            <a:r>
              <a:rPr lang="en-US" sz="1300" dirty="0">
                <a:solidFill>
                  <a:srgbClr val="000000"/>
                </a:solidFill>
              </a:rPr>
              <a:t>
</a:t>
            </a:r>
            <a:endParaRPr lang="en-US" sz="1300" dirty="0"/>
          </a:p>
          <a:p>
            <a:pPr marL="0" indent="0">
              <a:buNone/>
            </a:pPr>
            <a:r>
              <a:rPr lang="en-US" sz="1300" b="1" dirty="0">
                <a:solidFill>
                  <a:srgbClr val="2C3E50"/>
                </a:solidFill>
              </a:rPr>
              <a:t>Retention Challenges</a:t>
            </a:r>
            <a:endParaRPr lang="en-US" sz="1300" dirty="0"/>
          </a:p>
          <a:p>
            <a:pPr marL="0" indent="0">
              <a:buNone/>
            </a:pPr>
            <a:r>
              <a:rPr lang="en-US" sz="1100" dirty="0">
                <a:solidFill>
                  <a:srgbClr val="7F8C8D"/>
                </a:solidFill>
              </a:rPr>
              <a:t>Difficulty keeping skilled professionals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lgn="l">
              <a:buNone/>
            </a:pPr>
            <a:r>
              <a:rPr lang="en-US" sz="4000" b="1" dirty="0">
                <a:solidFill>
                  <a:srgbClr val="1E2761"/>
                </a:solidFill>
                <a:latin typeface="Arial" pitchFamily="34" charset="0"/>
                <a:ea typeface="Arial" pitchFamily="34" charset="-122"/>
                <a:cs typeface="Arial" pitchFamily="34" charset="-120"/>
              </a:rPr>
              <a:t>Ethical &amp; Regulatory Challenges</a:t>
            </a:r>
            <a:endParaRPr lang="en-US" sz="4000" dirty="0"/>
          </a:p>
        </p:txBody>
      </p:sp>
      <p:sp>
        <p:nvSpPr>
          <p:cNvPr id="3" name="Shape 1"/>
          <p:cNvSpPr/>
          <p:nvPr/>
        </p:nvSpPr>
        <p:spPr>
          <a:xfrm>
            <a:off x="457200" y="1280160"/>
            <a:ext cx="4114800" cy="1554480"/>
          </a:xfrm>
          <a:prstGeom prst="rect">
            <a:avLst/>
          </a:prstGeom>
          <a:solidFill>
            <a:srgbClr val="065A82"/>
          </a:solidFill>
          <a:ln/>
          <a:effectLst>
            <a:outerShdw blurRad="101600" dist="38100" dir="8100000" algn="bl" rotWithShape="0">
              <a:srgbClr val="000000">
                <a:alpha val="15000"/>
              </a:srgbClr>
            </a:outerShdw>
          </a:effectLst>
        </p:spPr>
      </p:sp>
      <p:sp>
        <p:nvSpPr>
          <p:cNvPr id="4" name="Text 2"/>
          <p:cNvSpPr/>
          <p:nvPr/>
        </p:nvSpPr>
        <p:spPr>
          <a:xfrm>
            <a:off x="457200" y="1417320"/>
            <a:ext cx="4114800" cy="36576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Ethical Concerns</a:t>
            </a:r>
            <a:endParaRPr lang="en-US" sz="1800" dirty="0"/>
          </a:p>
        </p:txBody>
      </p:sp>
      <p:sp>
        <p:nvSpPr>
          <p:cNvPr id="5" name="Text 3"/>
          <p:cNvSpPr/>
          <p:nvPr/>
        </p:nvSpPr>
        <p:spPr>
          <a:xfrm>
            <a:off x="731520" y="1920240"/>
            <a:ext cx="3657600" cy="822960"/>
          </a:xfrm>
          <a:prstGeom prst="rect">
            <a:avLst/>
          </a:prstGeom>
          <a:noFill/>
          <a:ln/>
        </p:spPr>
        <p:txBody>
          <a:bodyPr wrap="square" rtlCol="0" anchor="ctr"/>
          <a:lstStyle/>
          <a:p>
            <a:pPr marL="342900" indent="-342900">
              <a:buSzPct val="100000"/>
              <a:buChar char="•"/>
            </a:pPr>
            <a:r>
              <a:rPr lang="en-US" sz="1100" dirty="0">
                <a:solidFill>
                  <a:srgbClr val="FFFFFF"/>
                </a:solidFill>
              </a:rPr>
              <a:t>Algorithmic Bias: Discriminatory outcomes from biased training data</a:t>
            </a:r>
            <a:endParaRPr lang="en-US" sz="1100" dirty="0"/>
          </a:p>
          <a:p>
            <a:pPr marL="342900" indent="-342900">
              <a:buSzPct val="100000"/>
              <a:buChar char="•"/>
            </a:pPr>
            <a:r>
              <a:rPr lang="en-US" sz="1100" dirty="0">
                <a:solidFill>
                  <a:srgbClr val="FFFFFF"/>
                </a:solidFill>
              </a:rPr>
              <a:t>Transparency: Black-box models difficult to explain</a:t>
            </a:r>
            <a:endParaRPr lang="en-US" sz="1100" dirty="0"/>
          </a:p>
          <a:p>
            <a:pPr marL="342900" indent="-342900">
              <a:buSzPct val="100000"/>
              <a:buChar char="•"/>
            </a:pPr>
            <a:r>
              <a:rPr lang="en-US" sz="1100" dirty="0">
                <a:solidFill>
                  <a:srgbClr val="FFFFFF"/>
                </a:solidFill>
              </a:rPr>
              <a:t>Accountability: Unclear responsibility for AI decisions</a:t>
            </a:r>
            <a:endParaRPr lang="en-US" sz="1100" dirty="0"/>
          </a:p>
        </p:txBody>
      </p:sp>
      <p:sp>
        <p:nvSpPr>
          <p:cNvPr id="6" name="Shape 4"/>
          <p:cNvSpPr/>
          <p:nvPr/>
        </p:nvSpPr>
        <p:spPr>
          <a:xfrm>
            <a:off x="4754880" y="1280160"/>
            <a:ext cx="3931920" cy="1554480"/>
          </a:xfrm>
          <a:prstGeom prst="rect">
            <a:avLst/>
          </a:prstGeom>
          <a:solidFill>
            <a:srgbClr val="028090"/>
          </a:solidFill>
          <a:ln/>
          <a:effectLst>
            <a:outerShdw blurRad="101600" dist="38100" dir="8100000" algn="bl" rotWithShape="0">
              <a:srgbClr val="000000">
                <a:alpha val="15000"/>
              </a:srgbClr>
            </a:outerShdw>
          </a:effectLst>
        </p:spPr>
      </p:sp>
      <p:sp>
        <p:nvSpPr>
          <p:cNvPr id="7" name="Text 5"/>
          <p:cNvSpPr/>
          <p:nvPr/>
        </p:nvSpPr>
        <p:spPr>
          <a:xfrm>
            <a:off x="4754880" y="1417320"/>
            <a:ext cx="3931920" cy="36576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Privacy Risks</a:t>
            </a:r>
            <a:endParaRPr lang="en-US" sz="1800" dirty="0"/>
          </a:p>
        </p:txBody>
      </p:sp>
      <p:sp>
        <p:nvSpPr>
          <p:cNvPr id="8" name="Text 6"/>
          <p:cNvSpPr/>
          <p:nvPr/>
        </p:nvSpPr>
        <p:spPr>
          <a:xfrm>
            <a:off x="5029200" y="1920240"/>
            <a:ext cx="3474720" cy="822960"/>
          </a:xfrm>
          <a:prstGeom prst="rect">
            <a:avLst/>
          </a:prstGeom>
          <a:noFill/>
          <a:ln/>
        </p:spPr>
        <p:txBody>
          <a:bodyPr wrap="square" rtlCol="0" anchor="ctr"/>
          <a:lstStyle/>
          <a:p>
            <a:pPr marL="342900" indent="-342900">
              <a:buSzPct val="100000"/>
              <a:buChar char="•"/>
            </a:pPr>
            <a:r>
              <a:rPr lang="en-US" sz="1100" dirty="0">
                <a:solidFill>
                  <a:srgbClr val="FFFFFF"/>
                </a:solidFill>
              </a:rPr>
              <a:t>Data Collection: Extensive personal data requirements</a:t>
            </a:r>
            <a:endParaRPr lang="en-US" sz="1100" dirty="0"/>
          </a:p>
          <a:p>
            <a:pPr marL="342900" indent="-342900">
              <a:buSzPct val="100000"/>
              <a:buChar char="•"/>
            </a:pPr>
            <a:r>
              <a:rPr lang="en-US" sz="1100" dirty="0">
                <a:solidFill>
                  <a:srgbClr val="FFFFFF"/>
                </a:solidFill>
              </a:rPr>
              <a:t>Storage Security: Risks of data breaches and leaks</a:t>
            </a:r>
            <a:endParaRPr lang="en-US" sz="1100" dirty="0"/>
          </a:p>
          <a:p>
            <a:pPr marL="342900" indent="-342900">
              <a:buSzPct val="100000"/>
              <a:buChar char="•"/>
            </a:pPr>
            <a:r>
              <a:rPr lang="en-US" sz="1100" dirty="0">
                <a:solidFill>
                  <a:srgbClr val="FFFFFF"/>
                </a:solidFill>
              </a:rPr>
              <a:t>User Consent: Complex consent and opt-out mechanisms</a:t>
            </a:r>
            <a:endParaRPr lang="en-US" sz="1100" dirty="0"/>
          </a:p>
        </p:txBody>
      </p:sp>
      <p:sp>
        <p:nvSpPr>
          <p:cNvPr id="9" name="Shape 7"/>
          <p:cNvSpPr/>
          <p:nvPr/>
        </p:nvSpPr>
        <p:spPr>
          <a:xfrm>
            <a:off x="457200" y="3017520"/>
            <a:ext cx="8229600" cy="1554480"/>
          </a:xfrm>
          <a:prstGeom prst="rect">
            <a:avLst/>
          </a:prstGeom>
          <a:solidFill>
            <a:srgbClr val="FFFFFF"/>
          </a:solidFill>
          <a:ln/>
          <a:effectLst>
            <a:outerShdw blurRad="101600" dist="38100" dir="8100000" algn="bl" rotWithShape="0">
              <a:srgbClr val="000000">
                <a:alpha val="15000"/>
              </a:srgbClr>
            </a:outerShdw>
          </a:effectLst>
        </p:spPr>
      </p:sp>
      <p:sp>
        <p:nvSpPr>
          <p:cNvPr id="10" name="Text 8"/>
          <p:cNvSpPr/>
          <p:nvPr/>
        </p:nvSpPr>
        <p:spPr>
          <a:xfrm>
            <a:off x="457200" y="3154680"/>
            <a:ext cx="8229600" cy="365760"/>
          </a:xfrm>
          <a:prstGeom prst="rect">
            <a:avLst/>
          </a:prstGeom>
          <a:noFill/>
          <a:ln/>
        </p:spPr>
        <p:txBody>
          <a:bodyPr wrap="square" rtlCol="0" anchor="ctr"/>
          <a:lstStyle/>
          <a:p>
            <a:pPr marL="0" indent="0" algn="ctr">
              <a:buNone/>
            </a:pPr>
            <a:r>
              <a:rPr lang="en-US" sz="1800" b="1" dirty="0">
                <a:solidFill>
                  <a:srgbClr val="1E2761"/>
                </a:solidFill>
                <a:latin typeface="Arial" pitchFamily="34" charset="0"/>
                <a:ea typeface="Arial" pitchFamily="34" charset="-122"/>
                <a:cs typeface="Arial" pitchFamily="34" charset="-120"/>
              </a:rPr>
              <a:t>Regulatory Landscape</a:t>
            </a:r>
            <a:endParaRPr lang="en-US" sz="1800" dirty="0"/>
          </a:p>
        </p:txBody>
      </p:sp>
      <p:sp>
        <p:nvSpPr>
          <p:cNvPr id="11" name="Text 9"/>
          <p:cNvSpPr/>
          <p:nvPr/>
        </p:nvSpPr>
        <p:spPr>
          <a:xfrm>
            <a:off x="731520" y="3611880"/>
            <a:ext cx="7680960" cy="822960"/>
          </a:xfrm>
          <a:prstGeom prst="rect">
            <a:avLst/>
          </a:prstGeom>
          <a:noFill/>
          <a:ln/>
        </p:spPr>
        <p:txBody>
          <a:bodyPr wrap="square" rtlCol="0" anchor="ctr"/>
          <a:lstStyle/>
          <a:p>
            <a:pPr marL="342900" indent="-342900">
              <a:buSzPct val="100000"/>
              <a:buChar char="•"/>
            </a:pPr>
            <a:r>
              <a:rPr lang="en-US" sz="1100" dirty="0">
                <a:solidFill>
                  <a:srgbClr val="2C3E50"/>
                </a:solidFill>
              </a:rPr>
              <a:t>EU AI Act: Risk-based classification of AI systems</a:t>
            </a:r>
            <a:endParaRPr lang="en-US" sz="1100" dirty="0"/>
          </a:p>
          <a:p>
            <a:pPr marL="342900" indent="-342900">
              <a:buSzPct val="100000"/>
              <a:buChar char="•"/>
            </a:pPr>
            <a:r>
              <a:rPr lang="en-US" sz="1100" dirty="0">
                <a:solidFill>
                  <a:srgbClr val="2C3E50"/>
                </a:solidFill>
              </a:rPr>
              <a:t>GDPR Compliance: Data protection requirements in Europe</a:t>
            </a:r>
            <a:endParaRPr lang="en-US" sz="1100" dirty="0"/>
          </a:p>
          <a:p>
            <a:pPr marL="342900" indent="-342900">
              <a:buSzPct val="100000"/>
              <a:buChar char="•"/>
            </a:pPr>
            <a:r>
              <a:rPr lang="en-US" sz="1100" dirty="0">
                <a:solidFill>
                  <a:srgbClr val="2C3E50"/>
                </a:solidFill>
              </a:rPr>
              <a:t>Industry-Specific Rules: Healthcare (HIPAA), Finance (SOX), etc.</a:t>
            </a:r>
            <a:endParaRPr lang="en-US" sz="1100" dirty="0"/>
          </a:p>
          <a:p>
            <a:pPr marL="342900" indent="-342900">
              <a:buSzPct val="100000"/>
              <a:buChar char="•"/>
            </a:pPr>
            <a:r>
              <a:rPr lang="en-US" sz="1100" dirty="0">
                <a:solidFill>
                  <a:srgbClr val="2C3E50"/>
                </a:solidFill>
              </a:rPr>
              <a:t>Evolving Standards: Rapid changes in AI governance frameworks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lgn="l">
              <a:buNone/>
            </a:pPr>
            <a:r>
              <a:rPr lang="en-US" sz="4000" b="1" dirty="0">
                <a:solidFill>
                  <a:srgbClr val="1E2761"/>
                </a:solidFill>
                <a:latin typeface="Arial" pitchFamily="34" charset="0"/>
                <a:ea typeface="Arial" pitchFamily="34" charset="-122"/>
                <a:cs typeface="Arial" pitchFamily="34" charset="-120"/>
              </a:rPr>
              <a:t>Overcoming AI Challenges</a:t>
            </a:r>
            <a:endParaRPr lang="en-US" sz="4000" dirty="0"/>
          </a:p>
        </p:txBody>
      </p:sp>
      <p:sp>
        <p:nvSpPr>
          <p:cNvPr id="3" name="Text 1"/>
          <p:cNvSpPr/>
          <p:nvPr/>
        </p:nvSpPr>
        <p:spPr>
          <a:xfrm>
            <a:off x="457200" y="868680"/>
            <a:ext cx="8229600" cy="274320"/>
          </a:xfrm>
          <a:prstGeom prst="rect">
            <a:avLst/>
          </a:prstGeom>
          <a:noFill/>
          <a:ln/>
        </p:spPr>
        <p:txBody>
          <a:bodyPr wrap="square" rtlCol="0" anchor="ctr"/>
          <a:lstStyle/>
          <a:p>
            <a:pPr marL="0" indent="0" algn="l">
              <a:buNone/>
            </a:pPr>
            <a:r>
              <a:rPr lang="en-US" sz="1600" dirty="0">
                <a:solidFill>
                  <a:srgbClr val="7F8C8D"/>
                </a:solidFill>
                <a:latin typeface="Calibri" pitchFamily="34" charset="0"/>
                <a:ea typeface="Calibri" pitchFamily="34" charset="-122"/>
                <a:cs typeface="Calibri" pitchFamily="34" charset="-120"/>
              </a:rPr>
              <a:t>Strategic Approaches for Success</a:t>
            </a:r>
            <a:endParaRPr lang="en-US" sz="1600" dirty="0"/>
          </a:p>
        </p:txBody>
      </p:sp>
      <p:sp>
        <p:nvSpPr>
          <p:cNvPr id="4" name="Shape 2"/>
          <p:cNvSpPr/>
          <p:nvPr/>
        </p:nvSpPr>
        <p:spPr>
          <a:xfrm>
            <a:off x="457200" y="1371600"/>
            <a:ext cx="4114800" cy="914400"/>
          </a:xfrm>
          <a:prstGeom prst="rect">
            <a:avLst/>
          </a:prstGeom>
          <a:solidFill>
            <a:srgbClr val="FFFFFF"/>
          </a:solidFill>
          <a:ln/>
          <a:effectLst>
            <a:outerShdw blurRad="101600" dist="38100" dir="8100000" algn="bl" rotWithShape="0">
              <a:srgbClr val="000000">
                <a:alpha val="15000"/>
              </a:srgbClr>
            </a:outerShdw>
          </a:effectLst>
        </p:spPr>
      </p:sp>
      <p:sp>
        <p:nvSpPr>
          <p:cNvPr id="5" name="Shape 3"/>
          <p:cNvSpPr/>
          <p:nvPr/>
        </p:nvSpPr>
        <p:spPr>
          <a:xfrm>
            <a:off x="457200" y="1371600"/>
            <a:ext cx="73152" cy="914400"/>
          </a:xfrm>
          <a:prstGeom prst="rect">
            <a:avLst/>
          </a:prstGeom>
          <a:solidFill>
            <a:srgbClr val="02C39A"/>
          </a:solidFill>
          <a:ln/>
        </p:spPr>
      </p:sp>
      <p:sp>
        <p:nvSpPr>
          <p:cNvPr id="6" name="Text 4"/>
          <p:cNvSpPr/>
          <p:nvPr/>
        </p:nvSpPr>
        <p:spPr>
          <a:xfrm>
            <a:off x="685800" y="1600200"/>
            <a:ext cx="457200" cy="457200"/>
          </a:xfrm>
          <a:prstGeom prst="rect">
            <a:avLst/>
          </a:prstGeom>
          <a:noFill/>
          <a:ln/>
        </p:spPr>
        <p:txBody>
          <a:bodyPr wrap="square" rtlCol="0" anchor="ctr"/>
          <a:lstStyle/>
          <a:p>
            <a:pPr marL="0" indent="0" algn="ctr">
              <a:buNone/>
            </a:pPr>
            <a:r>
              <a:rPr lang="en-US" sz="2800" b="1" dirty="0">
                <a:solidFill>
                  <a:srgbClr val="02C39A"/>
                </a:solidFill>
                <a:latin typeface="Arial" pitchFamily="34" charset="0"/>
                <a:ea typeface="Arial" pitchFamily="34" charset="-122"/>
                <a:cs typeface="Arial" pitchFamily="34" charset="-120"/>
              </a:rPr>
              <a:t>1</a:t>
            </a:r>
            <a:endParaRPr lang="en-US" sz="2800" dirty="0"/>
          </a:p>
        </p:txBody>
      </p:sp>
      <p:sp>
        <p:nvSpPr>
          <p:cNvPr id="7" name="Text 5"/>
          <p:cNvSpPr/>
          <p:nvPr/>
        </p:nvSpPr>
        <p:spPr>
          <a:xfrm>
            <a:off x="1280160" y="1508760"/>
            <a:ext cx="3108960" cy="320040"/>
          </a:xfrm>
          <a:prstGeom prst="rect">
            <a:avLst/>
          </a:prstGeom>
          <a:noFill/>
          <a:ln/>
        </p:spPr>
        <p:txBody>
          <a:bodyPr wrap="square" rtlCol="0" anchor="ctr"/>
          <a:lstStyle/>
          <a:p>
            <a:pPr marL="0" indent="0">
              <a:buNone/>
            </a:pPr>
            <a:r>
              <a:rPr lang="en-US" sz="1500" b="1" dirty="0">
                <a:solidFill>
                  <a:srgbClr val="065A82"/>
                </a:solidFill>
                <a:latin typeface="Arial" pitchFamily="34" charset="0"/>
                <a:ea typeface="Arial" pitchFamily="34" charset="-122"/>
                <a:cs typeface="Arial" pitchFamily="34" charset="-120"/>
              </a:rPr>
              <a:t>Start Small &amp; Scale</a:t>
            </a:r>
            <a:endParaRPr lang="en-US" sz="1500" dirty="0"/>
          </a:p>
        </p:txBody>
      </p:sp>
      <p:sp>
        <p:nvSpPr>
          <p:cNvPr id="8" name="Text 6"/>
          <p:cNvSpPr/>
          <p:nvPr/>
        </p:nvSpPr>
        <p:spPr>
          <a:xfrm>
            <a:off x="1280160" y="1874520"/>
            <a:ext cx="3108960" cy="32004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Begin with pilot projects, prove value, then expand incrementally</a:t>
            </a:r>
            <a:endParaRPr lang="en-US" sz="1100" dirty="0"/>
          </a:p>
        </p:txBody>
      </p:sp>
      <p:sp>
        <p:nvSpPr>
          <p:cNvPr id="9" name="Shape 7"/>
          <p:cNvSpPr/>
          <p:nvPr/>
        </p:nvSpPr>
        <p:spPr>
          <a:xfrm>
            <a:off x="4846320" y="1371600"/>
            <a:ext cx="4114800" cy="914400"/>
          </a:xfrm>
          <a:prstGeom prst="rect">
            <a:avLst/>
          </a:prstGeom>
          <a:solidFill>
            <a:srgbClr val="FFFFFF"/>
          </a:solidFill>
          <a:ln/>
          <a:effectLst>
            <a:outerShdw blurRad="101600" dist="38100" dir="8100000" algn="bl" rotWithShape="0">
              <a:srgbClr val="000000">
                <a:alpha val="15000"/>
              </a:srgbClr>
            </a:outerShdw>
          </a:effectLst>
        </p:spPr>
      </p:sp>
      <p:sp>
        <p:nvSpPr>
          <p:cNvPr id="10" name="Shape 8"/>
          <p:cNvSpPr/>
          <p:nvPr/>
        </p:nvSpPr>
        <p:spPr>
          <a:xfrm>
            <a:off x="4846320" y="1371600"/>
            <a:ext cx="73152" cy="914400"/>
          </a:xfrm>
          <a:prstGeom prst="rect">
            <a:avLst/>
          </a:prstGeom>
          <a:solidFill>
            <a:srgbClr val="02C39A"/>
          </a:solidFill>
          <a:ln/>
        </p:spPr>
      </p:sp>
      <p:sp>
        <p:nvSpPr>
          <p:cNvPr id="11" name="Text 9"/>
          <p:cNvSpPr/>
          <p:nvPr/>
        </p:nvSpPr>
        <p:spPr>
          <a:xfrm>
            <a:off x="5074920" y="1600200"/>
            <a:ext cx="457200" cy="457200"/>
          </a:xfrm>
          <a:prstGeom prst="rect">
            <a:avLst/>
          </a:prstGeom>
          <a:noFill/>
          <a:ln/>
        </p:spPr>
        <p:txBody>
          <a:bodyPr wrap="square" rtlCol="0" anchor="ctr"/>
          <a:lstStyle/>
          <a:p>
            <a:pPr marL="0" indent="0" algn="ctr">
              <a:buNone/>
            </a:pPr>
            <a:r>
              <a:rPr lang="en-US" sz="2800" b="1" dirty="0">
                <a:solidFill>
                  <a:srgbClr val="02C39A"/>
                </a:solidFill>
                <a:latin typeface="Arial" pitchFamily="34" charset="0"/>
                <a:ea typeface="Arial" pitchFamily="34" charset="-122"/>
                <a:cs typeface="Arial" pitchFamily="34" charset="-120"/>
              </a:rPr>
              <a:t>2</a:t>
            </a:r>
            <a:endParaRPr lang="en-US" sz="2800" dirty="0"/>
          </a:p>
        </p:txBody>
      </p:sp>
      <p:sp>
        <p:nvSpPr>
          <p:cNvPr id="12" name="Text 10"/>
          <p:cNvSpPr/>
          <p:nvPr/>
        </p:nvSpPr>
        <p:spPr>
          <a:xfrm>
            <a:off x="5669280" y="1508760"/>
            <a:ext cx="3108960" cy="320040"/>
          </a:xfrm>
          <a:prstGeom prst="rect">
            <a:avLst/>
          </a:prstGeom>
          <a:noFill/>
          <a:ln/>
        </p:spPr>
        <p:txBody>
          <a:bodyPr wrap="square" rtlCol="0" anchor="ctr"/>
          <a:lstStyle/>
          <a:p>
            <a:pPr marL="0" indent="0">
              <a:buNone/>
            </a:pPr>
            <a:r>
              <a:rPr lang="en-US" sz="1500" b="1" dirty="0">
                <a:solidFill>
                  <a:srgbClr val="065A82"/>
                </a:solidFill>
                <a:latin typeface="Arial" pitchFamily="34" charset="0"/>
                <a:ea typeface="Arial" pitchFamily="34" charset="-122"/>
                <a:cs typeface="Arial" pitchFamily="34" charset="-120"/>
              </a:rPr>
              <a:t>Build Data Foundation</a:t>
            </a:r>
            <a:endParaRPr lang="en-US" sz="1500" dirty="0"/>
          </a:p>
        </p:txBody>
      </p:sp>
      <p:sp>
        <p:nvSpPr>
          <p:cNvPr id="13" name="Text 11"/>
          <p:cNvSpPr/>
          <p:nvPr/>
        </p:nvSpPr>
        <p:spPr>
          <a:xfrm>
            <a:off x="5669280" y="1874520"/>
            <a:ext cx="3108960" cy="32004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Invest in data infrastructure, quality, and governance early</a:t>
            </a:r>
            <a:endParaRPr lang="en-US" sz="1100" dirty="0"/>
          </a:p>
        </p:txBody>
      </p:sp>
      <p:sp>
        <p:nvSpPr>
          <p:cNvPr id="14" name="Shape 12"/>
          <p:cNvSpPr/>
          <p:nvPr/>
        </p:nvSpPr>
        <p:spPr>
          <a:xfrm>
            <a:off x="457200" y="2560320"/>
            <a:ext cx="4114800" cy="914400"/>
          </a:xfrm>
          <a:prstGeom prst="rect">
            <a:avLst/>
          </a:prstGeom>
          <a:solidFill>
            <a:srgbClr val="FFFFFF"/>
          </a:solidFill>
          <a:ln/>
          <a:effectLst>
            <a:outerShdw blurRad="101600" dist="38100" dir="8100000" algn="bl" rotWithShape="0">
              <a:srgbClr val="000000">
                <a:alpha val="15000"/>
              </a:srgbClr>
            </a:outerShdw>
          </a:effectLst>
        </p:spPr>
      </p:sp>
      <p:sp>
        <p:nvSpPr>
          <p:cNvPr id="15" name="Shape 13"/>
          <p:cNvSpPr/>
          <p:nvPr/>
        </p:nvSpPr>
        <p:spPr>
          <a:xfrm>
            <a:off x="457200" y="2560320"/>
            <a:ext cx="73152" cy="914400"/>
          </a:xfrm>
          <a:prstGeom prst="rect">
            <a:avLst/>
          </a:prstGeom>
          <a:solidFill>
            <a:srgbClr val="02C39A"/>
          </a:solidFill>
          <a:ln/>
        </p:spPr>
      </p:sp>
      <p:sp>
        <p:nvSpPr>
          <p:cNvPr id="16" name="Text 14"/>
          <p:cNvSpPr/>
          <p:nvPr/>
        </p:nvSpPr>
        <p:spPr>
          <a:xfrm>
            <a:off x="685800" y="2788920"/>
            <a:ext cx="457200" cy="457200"/>
          </a:xfrm>
          <a:prstGeom prst="rect">
            <a:avLst/>
          </a:prstGeom>
          <a:noFill/>
          <a:ln/>
        </p:spPr>
        <p:txBody>
          <a:bodyPr wrap="square" rtlCol="0" anchor="ctr"/>
          <a:lstStyle/>
          <a:p>
            <a:pPr marL="0" indent="0" algn="ctr">
              <a:buNone/>
            </a:pPr>
            <a:r>
              <a:rPr lang="en-US" sz="2800" b="1" dirty="0">
                <a:solidFill>
                  <a:srgbClr val="02C39A"/>
                </a:solidFill>
                <a:latin typeface="Arial" pitchFamily="34" charset="0"/>
                <a:ea typeface="Arial" pitchFamily="34" charset="-122"/>
                <a:cs typeface="Arial" pitchFamily="34" charset="-120"/>
              </a:rPr>
              <a:t>3</a:t>
            </a:r>
            <a:endParaRPr lang="en-US" sz="2800" dirty="0"/>
          </a:p>
        </p:txBody>
      </p:sp>
      <p:sp>
        <p:nvSpPr>
          <p:cNvPr id="17" name="Text 15"/>
          <p:cNvSpPr/>
          <p:nvPr/>
        </p:nvSpPr>
        <p:spPr>
          <a:xfrm>
            <a:off x="1280160" y="2697480"/>
            <a:ext cx="3108960" cy="320040"/>
          </a:xfrm>
          <a:prstGeom prst="rect">
            <a:avLst/>
          </a:prstGeom>
          <a:noFill/>
          <a:ln/>
        </p:spPr>
        <p:txBody>
          <a:bodyPr wrap="square" rtlCol="0" anchor="ctr"/>
          <a:lstStyle/>
          <a:p>
            <a:pPr marL="0" indent="0">
              <a:buNone/>
            </a:pPr>
            <a:r>
              <a:rPr lang="en-US" sz="1500" b="1" dirty="0">
                <a:solidFill>
                  <a:srgbClr val="065A82"/>
                </a:solidFill>
                <a:latin typeface="Arial" pitchFamily="34" charset="0"/>
                <a:ea typeface="Arial" pitchFamily="34" charset="-122"/>
                <a:cs typeface="Arial" pitchFamily="34" charset="-120"/>
              </a:rPr>
              <a:t>Develop Internal Talent</a:t>
            </a:r>
            <a:endParaRPr lang="en-US" sz="1500" dirty="0"/>
          </a:p>
        </p:txBody>
      </p:sp>
      <p:sp>
        <p:nvSpPr>
          <p:cNvPr id="18" name="Text 16"/>
          <p:cNvSpPr/>
          <p:nvPr/>
        </p:nvSpPr>
        <p:spPr>
          <a:xfrm>
            <a:off x="1280160" y="3063240"/>
            <a:ext cx="3108960" cy="32004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Create training programs and hire strategically</a:t>
            </a:r>
            <a:endParaRPr lang="en-US" sz="1100" dirty="0"/>
          </a:p>
        </p:txBody>
      </p:sp>
      <p:sp>
        <p:nvSpPr>
          <p:cNvPr id="19" name="Shape 17"/>
          <p:cNvSpPr/>
          <p:nvPr/>
        </p:nvSpPr>
        <p:spPr>
          <a:xfrm>
            <a:off x="4846320" y="2560320"/>
            <a:ext cx="4114800" cy="914400"/>
          </a:xfrm>
          <a:prstGeom prst="rect">
            <a:avLst/>
          </a:prstGeom>
          <a:solidFill>
            <a:srgbClr val="FFFFFF"/>
          </a:solidFill>
          <a:ln/>
          <a:effectLst>
            <a:outerShdw blurRad="101600" dist="38100" dir="8100000" algn="bl" rotWithShape="0">
              <a:srgbClr val="000000">
                <a:alpha val="15000"/>
              </a:srgbClr>
            </a:outerShdw>
          </a:effectLst>
        </p:spPr>
      </p:sp>
      <p:sp>
        <p:nvSpPr>
          <p:cNvPr id="20" name="Shape 18"/>
          <p:cNvSpPr/>
          <p:nvPr/>
        </p:nvSpPr>
        <p:spPr>
          <a:xfrm>
            <a:off x="4846320" y="2560320"/>
            <a:ext cx="73152" cy="914400"/>
          </a:xfrm>
          <a:prstGeom prst="rect">
            <a:avLst/>
          </a:prstGeom>
          <a:solidFill>
            <a:srgbClr val="02C39A"/>
          </a:solidFill>
          <a:ln/>
        </p:spPr>
      </p:sp>
      <p:sp>
        <p:nvSpPr>
          <p:cNvPr id="21" name="Text 19"/>
          <p:cNvSpPr/>
          <p:nvPr/>
        </p:nvSpPr>
        <p:spPr>
          <a:xfrm>
            <a:off x="5074920" y="2788920"/>
            <a:ext cx="457200" cy="457200"/>
          </a:xfrm>
          <a:prstGeom prst="rect">
            <a:avLst/>
          </a:prstGeom>
          <a:noFill/>
          <a:ln/>
        </p:spPr>
        <p:txBody>
          <a:bodyPr wrap="square" rtlCol="0" anchor="ctr"/>
          <a:lstStyle/>
          <a:p>
            <a:pPr marL="0" indent="0" algn="ctr">
              <a:buNone/>
            </a:pPr>
            <a:r>
              <a:rPr lang="en-US" sz="2800" b="1" dirty="0">
                <a:solidFill>
                  <a:srgbClr val="02C39A"/>
                </a:solidFill>
                <a:latin typeface="Arial" pitchFamily="34" charset="0"/>
                <a:ea typeface="Arial" pitchFamily="34" charset="-122"/>
                <a:cs typeface="Arial" pitchFamily="34" charset="-120"/>
              </a:rPr>
              <a:t>4</a:t>
            </a:r>
            <a:endParaRPr lang="en-US" sz="2800" dirty="0"/>
          </a:p>
        </p:txBody>
      </p:sp>
      <p:sp>
        <p:nvSpPr>
          <p:cNvPr id="22" name="Text 20"/>
          <p:cNvSpPr/>
          <p:nvPr/>
        </p:nvSpPr>
        <p:spPr>
          <a:xfrm>
            <a:off x="5669280" y="2697480"/>
            <a:ext cx="3108960" cy="320040"/>
          </a:xfrm>
          <a:prstGeom prst="rect">
            <a:avLst/>
          </a:prstGeom>
          <a:noFill/>
          <a:ln/>
        </p:spPr>
        <p:txBody>
          <a:bodyPr wrap="square" rtlCol="0" anchor="ctr"/>
          <a:lstStyle/>
          <a:p>
            <a:pPr marL="0" indent="0">
              <a:buNone/>
            </a:pPr>
            <a:r>
              <a:rPr lang="en-US" sz="1500" b="1" dirty="0">
                <a:solidFill>
                  <a:srgbClr val="065A82"/>
                </a:solidFill>
                <a:latin typeface="Arial" pitchFamily="34" charset="0"/>
                <a:ea typeface="Arial" pitchFamily="34" charset="-122"/>
                <a:cs typeface="Arial" pitchFamily="34" charset="-120"/>
              </a:rPr>
              <a:t>Partner with Experts</a:t>
            </a:r>
            <a:endParaRPr lang="en-US" sz="1500" dirty="0"/>
          </a:p>
        </p:txBody>
      </p:sp>
      <p:sp>
        <p:nvSpPr>
          <p:cNvPr id="23" name="Text 21"/>
          <p:cNvSpPr/>
          <p:nvPr/>
        </p:nvSpPr>
        <p:spPr>
          <a:xfrm>
            <a:off x="5669280" y="3063240"/>
            <a:ext cx="3108960" cy="32004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Leverage consultants and technology vendors for expertise</a:t>
            </a:r>
            <a:endParaRPr lang="en-US" sz="1100" dirty="0"/>
          </a:p>
        </p:txBody>
      </p:sp>
      <p:sp>
        <p:nvSpPr>
          <p:cNvPr id="24" name="Shape 22"/>
          <p:cNvSpPr/>
          <p:nvPr/>
        </p:nvSpPr>
        <p:spPr>
          <a:xfrm>
            <a:off x="457200" y="3749040"/>
            <a:ext cx="4114800" cy="914400"/>
          </a:xfrm>
          <a:prstGeom prst="rect">
            <a:avLst/>
          </a:prstGeom>
          <a:solidFill>
            <a:srgbClr val="FFFFFF"/>
          </a:solidFill>
          <a:ln/>
          <a:effectLst>
            <a:outerShdw blurRad="101600" dist="38100" dir="8100000" algn="bl" rotWithShape="0">
              <a:srgbClr val="000000">
                <a:alpha val="15000"/>
              </a:srgbClr>
            </a:outerShdw>
          </a:effectLst>
        </p:spPr>
      </p:sp>
      <p:sp>
        <p:nvSpPr>
          <p:cNvPr id="25" name="Shape 23"/>
          <p:cNvSpPr/>
          <p:nvPr/>
        </p:nvSpPr>
        <p:spPr>
          <a:xfrm>
            <a:off x="457200" y="3749040"/>
            <a:ext cx="73152" cy="914400"/>
          </a:xfrm>
          <a:prstGeom prst="rect">
            <a:avLst/>
          </a:prstGeom>
          <a:solidFill>
            <a:srgbClr val="02C39A"/>
          </a:solidFill>
          <a:ln/>
        </p:spPr>
      </p:sp>
      <p:sp>
        <p:nvSpPr>
          <p:cNvPr id="26" name="Text 24"/>
          <p:cNvSpPr/>
          <p:nvPr/>
        </p:nvSpPr>
        <p:spPr>
          <a:xfrm>
            <a:off x="685800" y="3977640"/>
            <a:ext cx="457200" cy="457200"/>
          </a:xfrm>
          <a:prstGeom prst="rect">
            <a:avLst/>
          </a:prstGeom>
          <a:noFill/>
          <a:ln/>
        </p:spPr>
        <p:txBody>
          <a:bodyPr wrap="square" rtlCol="0" anchor="ctr"/>
          <a:lstStyle/>
          <a:p>
            <a:pPr marL="0" indent="0" algn="ctr">
              <a:buNone/>
            </a:pPr>
            <a:r>
              <a:rPr lang="en-US" sz="2800" b="1" dirty="0">
                <a:solidFill>
                  <a:srgbClr val="02C39A"/>
                </a:solidFill>
                <a:latin typeface="Arial" pitchFamily="34" charset="0"/>
                <a:ea typeface="Arial" pitchFamily="34" charset="-122"/>
                <a:cs typeface="Arial" pitchFamily="34" charset="-120"/>
              </a:rPr>
              <a:t>5</a:t>
            </a:r>
            <a:endParaRPr lang="en-US" sz="2800" dirty="0"/>
          </a:p>
        </p:txBody>
      </p:sp>
      <p:sp>
        <p:nvSpPr>
          <p:cNvPr id="27" name="Text 25"/>
          <p:cNvSpPr/>
          <p:nvPr/>
        </p:nvSpPr>
        <p:spPr>
          <a:xfrm>
            <a:off x="1280160" y="3886200"/>
            <a:ext cx="3108960" cy="320040"/>
          </a:xfrm>
          <a:prstGeom prst="rect">
            <a:avLst/>
          </a:prstGeom>
          <a:noFill/>
          <a:ln/>
        </p:spPr>
        <p:txBody>
          <a:bodyPr wrap="square" rtlCol="0" anchor="ctr"/>
          <a:lstStyle/>
          <a:p>
            <a:pPr marL="0" indent="0">
              <a:buNone/>
            </a:pPr>
            <a:r>
              <a:rPr lang="en-US" sz="1500" b="1" dirty="0">
                <a:solidFill>
                  <a:srgbClr val="065A82"/>
                </a:solidFill>
                <a:latin typeface="Arial" pitchFamily="34" charset="0"/>
                <a:ea typeface="Arial" pitchFamily="34" charset="-122"/>
                <a:cs typeface="Arial" pitchFamily="34" charset="-120"/>
              </a:rPr>
              <a:t>Establish Ethics Framework</a:t>
            </a:r>
            <a:endParaRPr lang="en-US" sz="1500" dirty="0"/>
          </a:p>
        </p:txBody>
      </p:sp>
      <p:sp>
        <p:nvSpPr>
          <p:cNvPr id="28" name="Text 26"/>
          <p:cNvSpPr/>
          <p:nvPr/>
        </p:nvSpPr>
        <p:spPr>
          <a:xfrm>
            <a:off x="1280160" y="4251960"/>
            <a:ext cx="3108960" cy="32004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Define principles, audit processes, ensure accountability</a:t>
            </a:r>
            <a:endParaRPr lang="en-US" sz="1100" dirty="0"/>
          </a:p>
        </p:txBody>
      </p:sp>
      <p:sp>
        <p:nvSpPr>
          <p:cNvPr id="29" name="Shape 27"/>
          <p:cNvSpPr/>
          <p:nvPr/>
        </p:nvSpPr>
        <p:spPr>
          <a:xfrm>
            <a:off x="4846320" y="3749040"/>
            <a:ext cx="4114800" cy="914400"/>
          </a:xfrm>
          <a:prstGeom prst="rect">
            <a:avLst/>
          </a:prstGeom>
          <a:solidFill>
            <a:srgbClr val="FFFFFF"/>
          </a:solidFill>
          <a:ln/>
          <a:effectLst>
            <a:outerShdw blurRad="101600" dist="38100" dir="8100000" algn="bl" rotWithShape="0">
              <a:srgbClr val="000000">
                <a:alpha val="15000"/>
              </a:srgbClr>
            </a:outerShdw>
          </a:effectLst>
        </p:spPr>
      </p:sp>
      <p:sp>
        <p:nvSpPr>
          <p:cNvPr id="30" name="Shape 28"/>
          <p:cNvSpPr/>
          <p:nvPr/>
        </p:nvSpPr>
        <p:spPr>
          <a:xfrm>
            <a:off x="4846320" y="3749040"/>
            <a:ext cx="73152" cy="914400"/>
          </a:xfrm>
          <a:prstGeom prst="rect">
            <a:avLst/>
          </a:prstGeom>
          <a:solidFill>
            <a:srgbClr val="02C39A"/>
          </a:solidFill>
          <a:ln/>
        </p:spPr>
      </p:sp>
      <p:sp>
        <p:nvSpPr>
          <p:cNvPr id="31" name="Text 29"/>
          <p:cNvSpPr/>
          <p:nvPr/>
        </p:nvSpPr>
        <p:spPr>
          <a:xfrm>
            <a:off x="5074920" y="3977640"/>
            <a:ext cx="457200" cy="457200"/>
          </a:xfrm>
          <a:prstGeom prst="rect">
            <a:avLst/>
          </a:prstGeom>
          <a:noFill/>
          <a:ln/>
        </p:spPr>
        <p:txBody>
          <a:bodyPr wrap="square" rtlCol="0" anchor="ctr"/>
          <a:lstStyle/>
          <a:p>
            <a:pPr marL="0" indent="0" algn="ctr">
              <a:buNone/>
            </a:pPr>
            <a:r>
              <a:rPr lang="en-US" sz="2800" b="1" dirty="0">
                <a:solidFill>
                  <a:srgbClr val="02C39A"/>
                </a:solidFill>
                <a:latin typeface="Arial" pitchFamily="34" charset="0"/>
                <a:ea typeface="Arial" pitchFamily="34" charset="-122"/>
                <a:cs typeface="Arial" pitchFamily="34" charset="-120"/>
              </a:rPr>
              <a:t>6</a:t>
            </a:r>
            <a:endParaRPr lang="en-US" sz="2800" dirty="0"/>
          </a:p>
        </p:txBody>
      </p:sp>
      <p:sp>
        <p:nvSpPr>
          <p:cNvPr id="32" name="Text 30"/>
          <p:cNvSpPr/>
          <p:nvPr/>
        </p:nvSpPr>
        <p:spPr>
          <a:xfrm>
            <a:off x="5669280" y="3886200"/>
            <a:ext cx="3108960" cy="320040"/>
          </a:xfrm>
          <a:prstGeom prst="rect">
            <a:avLst/>
          </a:prstGeom>
          <a:noFill/>
          <a:ln/>
        </p:spPr>
        <p:txBody>
          <a:bodyPr wrap="square" rtlCol="0" anchor="ctr"/>
          <a:lstStyle/>
          <a:p>
            <a:pPr marL="0" indent="0">
              <a:buNone/>
            </a:pPr>
            <a:r>
              <a:rPr lang="en-US" sz="1500" b="1" dirty="0">
                <a:solidFill>
                  <a:srgbClr val="065A82"/>
                </a:solidFill>
                <a:latin typeface="Arial" pitchFamily="34" charset="0"/>
                <a:ea typeface="Arial" pitchFamily="34" charset="-122"/>
                <a:cs typeface="Arial" pitchFamily="34" charset="-120"/>
              </a:rPr>
              <a:t>Monitor Regulatory Changes</a:t>
            </a:r>
            <a:endParaRPr lang="en-US" sz="1500" dirty="0"/>
          </a:p>
        </p:txBody>
      </p:sp>
      <p:sp>
        <p:nvSpPr>
          <p:cNvPr id="33" name="Text 31"/>
          <p:cNvSpPr/>
          <p:nvPr/>
        </p:nvSpPr>
        <p:spPr>
          <a:xfrm>
            <a:off x="5669280" y="4251960"/>
            <a:ext cx="3108960" cy="320040"/>
          </a:xfrm>
          <a:prstGeom prst="rect">
            <a:avLst/>
          </a:prstGeom>
          <a:noFill/>
          <a:ln/>
        </p:spPr>
        <p:txBody>
          <a:bodyPr wrap="square" rtlCol="0" anchor="ctr"/>
          <a:lstStyle/>
          <a:p>
            <a:pPr marL="0" indent="0">
              <a:buNone/>
            </a:pPr>
            <a:r>
              <a:rPr lang="en-US" sz="1100" dirty="0">
                <a:solidFill>
                  <a:srgbClr val="2C3E50"/>
                </a:solidFill>
                <a:latin typeface="Calibri" pitchFamily="34" charset="0"/>
                <a:ea typeface="Calibri" pitchFamily="34" charset="-122"/>
                <a:cs typeface="Calibri" pitchFamily="34" charset="-120"/>
              </a:rPr>
              <a:t>Stay informed and build compliance into design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Key Takeaways</a:t>
            </a:r>
            <a:endParaRPr lang="en-US" sz="4400" dirty="0"/>
          </a:p>
        </p:txBody>
      </p:sp>
      <p:sp>
        <p:nvSpPr>
          <p:cNvPr id="3" name="Shape 1"/>
          <p:cNvSpPr/>
          <p:nvPr/>
        </p:nvSpPr>
        <p:spPr>
          <a:xfrm>
            <a:off x="1371600" y="1463040"/>
            <a:ext cx="6400800" cy="3017520"/>
          </a:xfrm>
          <a:prstGeom prst="rect">
            <a:avLst/>
          </a:prstGeom>
          <a:solidFill>
            <a:srgbClr val="FFFFFF"/>
          </a:solidFill>
          <a:ln/>
          <a:effectLst>
            <a:outerShdw blurRad="101600" dist="38100" dir="8100000" algn="bl" rotWithShape="0">
              <a:srgbClr val="000000">
                <a:alpha val="15000"/>
              </a:srgbClr>
            </a:outerShdw>
          </a:effectLst>
        </p:spPr>
      </p:sp>
      <p:sp>
        <p:nvSpPr>
          <p:cNvPr id="4" name="Text 2"/>
          <p:cNvSpPr/>
          <p:nvPr/>
        </p:nvSpPr>
        <p:spPr>
          <a:xfrm>
            <a:off x="1828800" y="1737360"/>
            <a:ext cx="5486400" cy="2468880"/>
          </a:xfrm>
          <a:prstGeom prst="rect">
            <a:avLst/>
          </a:prstGeom>
          <a:noFill/>
          <a:ln/>
        </p:spPr>
        <p:txBody>
          <a:bodyPr wrap="square" rtlCol="0" anchor="ctr"/>
          <a:lstStyle/>
          <a:p>
            <a:pPr marL="342900" indent="-342900">
              <a:buSzPct val="100000"/>
              <a:buChar char="•"/>
            </a:pPr>
            <a:r>
              <a:rPr lang="en-US" sz="1500" b="1" dirty="0">
                <a:solidFill>
                  <a:srgbClr val="065A82"/>
                </a:solidFill>
              </a:rPr>
              <a:t>AI, ML, and DL are related but distinct</a:t>
            </a:r>
            <a:endParaRPr lang="en-US" sz="1500" dirty="0"/>
          </a:p>
          <a:p>
            <a:pPr marL="0" indent="0">
              <a:buNone/>
            </a:pPr>
            <a:r>
              <a:rPr lang="en-US" sz="1300" dirty="0">
                <a:solidFill>
                  <a:srgbClr val="2C3E50"/>
                </a:solidFill>
              </a:rPr>
              <a:t>DL ⊂ ML ⊂ AI: Each is a subset of the previous</a:t>
            </a:r>
            <a:endParaRPr lang="en-US" sz="1500" dirty="0"/>
          </a:p>
          <a:p>
            <a:pPr marL="0" indent="0">
              <a:buNone/>
            </a:pPr>
            <a:r>
              <a:rPr lang="en-US" sz="1500" dirty="0">
                <a:solidFill>
                  <a:srgbClr val="000000"/>
                </a:solidFill>
              </a:rPr>
              <a:t>
</a:t>
            </a:r>
            <a:endParaRPr lang="en-US" sz="1500" dirty="0"/>
          </a:p>
          <a:p>
            <a:pPr marL="342900" indent="-342900">
              <a:buSzPct val="100000"/>
              <a:buChar char="•"/>
            </a:pPr>
            <a:r>
              <a:rPr lang="en-US" sz="1500" b="1" dirty="0">
                <a:solidFill>
                  <a:srgbClr val="065A82"/>
                </a:solidFill>
              </a:rPr>
              <a:t>AI adoption is accelerating across industries</a:t>
            </a:r>
            <a:endParaRPr lang="en-US" sz="1500" dirty="0"/>
          </a:p>
          <a:p>
            <a:pPr marL="0" indent="0">
              <a:buNone/>
            </a:pPr>
            <a:r>
              <a:rPr lang="en-US" sz="1300" dirty="0">
                <a:solidFill>
                  <a:srgbClr val="2C3E50"/>
                </a:solidFill>
              </a:rPr>
              <a:t>78% of enterprises now use AI in some form</a:t>
            </a:r>
            <a:endParaRPr lang="en-US" sz="1500" dirty="0"/>
          </a:p>
          <a:p>
            <a:pPr marL="0" indent="0">
              <a:buNone/>
            </a:pPr>
            <a:r>
              <a:rPr lang="en-US" sz="1500" dirty="0">
                <a:solidFill>
                  <a:srgbClr val="000000"/>
                </a:solidFill>
              </a:rPr>
              <a:t>
</a:t>
            </a:r>
            <a:endParaRPr lang="en-US" sz="1500" dirty="0"/>
          </a:p>
          <a:p>
            <a:pPr marL="342900" indent="-342900">
              <a:buSzPct val="100000"/>
              <a:buChar char="•"/>
            </a:pPr>
            <a:r>
              <a:rPr lang="en-US" sz="1500" b="1" dirty="0">
                <a:solidFill>
                  <a:srgbClr val="065A82"/>
                </a:solidFill>
              </a:rPr>
              <a:t>Challenges are significant but manageable</a:t>
            </a:r>
            <a:endParaRPr lang="en-US" sz="1500" dirty="0"/>
          </a:p>
          <a:p>
            <a:pPr marL="0" indent="0">
              <a:buNone/>
            </a:pPr>
            <a:r>
              <a:rPr lang="en-US" sz="1300" dirty="0">
                <a:solidFill>
                  <a:srgbClr val="2C3E50"/>
                </a:solidFill>
              </a:rPr>
              <a:t>Data quality, talent, ethics, and regulations require attention</a:t>
            </a:r>
            <a:endParaRPr lang="en-US" sz="1500" dirty="0"/>
          </a:p>
          <a:p>
            <a:pPr marL="0" indent="0">
              <a:buNone/>
            </a:pPr>
            <a:r>
              <a:rPr lang="en-US" sz="1500" dirty="0">
                <a:solidFill>
                  <a:srgbClr val="000000"/>
                </a:solidFill>
              </a:rPr>
              <a:t>
</a:t>
            </a:r>
            <a:endParaRPr lang="en-US" sz="1500" dirty="0"/>
          </a:p>
          <a:p>
            <a:pPr marL="342900" indent="-342900">
              <a:buSzPct val="100000"/>
              <a:buChar char="•"/>
            </a:pPr>
            <a:r>
              <a:rPr lang="en-US" sz="1500" b="1" dirty="0">
                <a:solidFill>
                  <a:srgbClr val="065A82"/>
                </a:solidFill>
              </a:rPr>
              <a:t>Success requires strategic planning</a:t>
            </a:r>
            <a:endParaRPr lang="en-US" sz="1500" dirty="0"/>
          </a:p>
          <a:p>
            <a:pPr marL="0" indent="0">
              <a:buNone/>
            </a:pPr>
            <a:r>
              <a:rPr lang="en-US" sz="1300" dirty="0">
                <a:solidFill>
                  <a:srgbClr val="2C3E50"/>
                </a:solidFill>
              </a:rPr>
              <a:t>Start small, build foundations, and scale thoughtfully</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1828800"/>
            <a:ext cx="8229600" cy="914400"/>
          </a:xfrm>
          <a:prstGeom prst="rect">
            <a:avLst/>
          </a:prstGeom>
          <a:noFill/>
          <a:ln/>
        </p:spPr>
        <p:txBody>
          <a:bodyPr wrap="square"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Questions?</a:t>
            </a:r>
            <a:endParaRPr lang="en-US" sz="5400" dirty="0"/>
          </a:p>
        </p:txBody>
      </p:sp>
      <p:sp>
        <p:nvSpPr>
          <p:cNvPr id="3" name="Text 1"/>
          <p:cNvSpPr/>
          <p:nvPr/>
        </p:nvSpPr>
        <p:spPr>
          <a:xfrm>
            <a:off x="457200" y="2926080"/>
            <a:ext cx="8229600" cy="457200"/>
          </a:xfrm>
          <a:prstGeom prst="rect">
            <a:avLst/>
          </a:prstGeom>
          <a:noFill/>
          <a:ln/>
        </p:spPr>
        <p:txBody>
          <a:bodyPr wrap="square" rtlCol="0" anchor="ctr"/>
          <a:lstStyle/>
          <a:p>
            <a:pPr marL="0" indent="0" algn="ctr">
              <a:buNone/>
            </a:pPr>
            <a:r>
              <a:rPr lang="en-US" sz="2000" i="1" dirty="0">
                <a:solidFill>
                  <a:srgbClr val="02C39A"/>
                </a:solidFill>
                <a:latin typeface="Calibri" pitchFamily="34" charset="0"/>
                <a:ea typeface="Calibri" pitchFamily="34" charset="-122"/>
                <a:cs typeface="Calibri" pitchFamily="34" charset="-120"/>
              </a:rPr>
              <a:t>Thank you for your attention</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872</Words>
  <Application>Microsoft Macintosh PowerPoint</Application>
  <PresentationFormat>On-screen Show (16:9)</PresentationFormat>
  <Paragraphs>198</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vs ML vs DL: A Comprehensive Guide</dc:title>
  <dc:subject>PptxGenJS Presentation</dc:subject>
  <dc:creator>AI Training Materials</dc:creator>
  <cp:lastModifiedBy>Shalini Mittal</cp:lastModifiedBy>
  <cp:revision>2</cp:revision>
  <dcterms:created xsi:type="dcterms:W3CDTF">2026-03-30T11:08:11Z</dcterms:created>
  <dcterms:modified xsi:type="dcterms:W3CDTF">2026-04-01T02:43:01Z</dcterms:modified>
</cp:coreProperties>
</file>