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4114800" cy="4114800"/>
          </a:xfrm>
          <a:prstGeom prst="ellipse">
            <a:avLst/>
          </a:prstGeom>
          <a:solidFill>
            <a:srgbClr val="243D30"/>
          </a:solidFill>
          <a:ln w="12700">
            <a:solidFill>
              <a:srgbClr val="243D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3200400"/>
            <a:ext cx="2560320" cy="2560320"/>
          </a:xfrm>
          <a:prstGeom prst="ellipse">
            <a:avLst/>
          </a:prstGeom>
          <a:solidFill>
            <a:srgbClr val="21392B"/>
          </a:solidFill>
          <a:ln w="12700">
            <a:solidFill>
              <a:srgbClr val="2139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18872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 ·  DATA PREPARATION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94360" y="1572768"/>
            <a:ext cx="6858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Preprocessing</a:t>
            </a:r>
            <a:endParaRPr lang="en-US" sz="4800" dirty="0"/>
          </a:p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Techniques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594360" y="3364992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Transforming raw, messy text into clean, structured input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for NLP models and machine learning pipelines.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52B788">
              <a:alpha val="30000"/>
            </a:srgbClr>
          </a:solidFill>
          <a:ln w="12700">
            <a:solidFill>
              <a:srgbClr val="52B788">
                <a:alpha val="3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4754880"/>
            <a:ext cx="82296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Comprehensive Guide to Text Cleaning &amp; Normalization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D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Preprocess Text?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40233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CCB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51560"/>
            <a:ext cx="4023360" cy="45720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515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The Problem with Raw Text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682496"/>
            <a:ext cx="201168" cy="201168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645920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casing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49808" y="1901952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7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"Apple" ≠ "apple" ≠ "APPLE"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212848"/>
            <a:ext cx="201168" cy="201168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217627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&amp; HTML tags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49808" y="2432304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7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"&lt;b&gt;Hello&lt;/b&gt; World!!!"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743200"/>
            <a:ext cx="201168" cy="201168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2706624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Slang &amp; abbreviations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49808" y="2962656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7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"u r gr8 lol"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273552"/>
            <a:ext cx="201168" cy="201168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" y="323697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Filler words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49808" y="3493008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7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"the", "is", "a" add no meaning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803904"/>
            <a:ext cx="201168" cy="201168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9808" y="3767328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Morphological variants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49808" y="4023360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7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"running", "ran", "runs" are same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63440" y="1051560"/>
            <a:ext cx="41605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8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63440" y="1051560"/>
            <a:ext cx="4160520" cy="45720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0600" y="10515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Why It Matters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773168" y="1682496"/>
            <a:ext cx="201168" cy="201168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65776" y="1645920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vocabulary size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065776" y="1901952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unique tokens for the model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73168" y="2212848"/>
            <a:ext cx="201168" cy="201168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65776" y="2176272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accuracy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065776" y="2432304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Cleaner input = better predictions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73168" y="2743200"/>
            <a:ext cx="201168" cy="201168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65776" y="2706624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Speeds up training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065776" y="2962656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data to process per sample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73168" y="3273552"/>
            <a:ext cx="201168" cy="201168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65776" y="3236976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noise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065776" y="3493008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focuses on meaningful words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773168" y="3803904"/>
            <a:ext cx="201168" cy="201168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65776" y="3767328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generalization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065776" y="4023360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Variants map to the same token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3A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Pipeline at a Glance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" y="1371600"/>
            <a:ext cx="1051560" cy="621792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138988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28600" y="1664208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Text Input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280160" y="1618488"/>
            <a:ext cx="201168" cy="128016"/>
          </a:xfrm>
          <a:prstGeom prst="rect">
            <a:avLst/>
          </a:prstGeom>
          <a:solidFill>
            <a:srgbClr val="7A9A87"/>
          </a:solidFill>
          <a:ln w="12700">
            <a:solidFill>
              <a:srgbClr val="7A9A8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" y="2157984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Unstructured, noisy text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481328" y="1371600"/>
            <a:ext cx="1051560" cy="62179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81328" y="138988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481328" y="1664208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Lowercasing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532888" y="1618488"/>
            <a:ext cx="201168" cy="128016"/>
          </a:xfrm>
          <a:prstGeom prst="rect">
            <a:avLst/>
          </a:prstGeom>
          <a:solidFill>
            <a:srgbClr val="7A9A87"/>
          </a:solidFill>
          <a:ln w="12700">
            <a:solidFill>
              <a:srgbClr val="7A9A8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89888" y="2157984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Uniform case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34056" y="1371600"/>
            <a:ext cx="1051560" cy="621792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34056" y="138988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734056" y="1664208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Removal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785616" y="1618488"/>
            <a:ext cx="201168" cy="128016"/>
          </a:xfrm>
          <a:prstGeom prst="rect">
            <a:avLst/>
          </a:prstGeom>
          <a:solidFill>
            <a:srgbClr val="7A9A87"/>
          </a:solidFill>
          <a:ln w="12700">
            <a:solidFill>
              <a:srgbClr val="7A9A8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42616" y="2157984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 HTML, URLs, special chars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986784" y="1371600"/>
            <a:ext cx="1051560" cy="621792"/>
          </a:xfrm>
          <a:prstGeom prst="rect">
            <a:avLst/>
          </a:prstGeom>
          <a:solidFill>
            <a:srgbClr val="95D5B2"/>
          </a:solidFill>
          <a:ln w="12700">
            <a:solidFill>
              <a:srgbClr val="95D5B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86784" y="138988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986784" y="1664208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Tokenization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038344" y="1618488"/>
            <a:ext cx="201168" cy="128016"/>
          </a:xfrm>
          <a:prstGeom prst="rect">
            <a:avLst/>
          </a:prstGeom>
          <a:solidFill>
            <a:srgbClr val="7A9A87"/>
          </a:solidFill>
          <a:ln w="12700">
            <a:solidFill>
              <a:srgbClr val="7A9A8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95344" y="2157984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into tokens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239512" y="1371600"/>
            <a:ext cx="1051560" cy="62179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39512" y="138988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239512" y="1664208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Word Removal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291072" y="1618488"/>
            <a:ext cx="201168" cy="128016"/>
          </a:xfrm>
          <a:prstGeom prst="rect">
            <a:avLst/>
          </a:prstGeom>
          <a:solidFill>
            <a:srgbClr val="7A9A87"/>
          </a:solidFill>
          <a:ln w="12700">
            <a:solidFill>
              <a:srgbClr val="7A9A8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48072" y="2157984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filler words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492240" y="1371600"/>
            <a:ext cx="1051560" cy="621792"/>
          </a:xfrm>
          <a:prstGeom prst="rect">
            <a:avLst/>
          </a:prstGeom>
          <a:solidFill>
            <a:srgbClr val="74C69D"/>
          </a:solidFill>
          <a:ln w="12700">
            <a:solidFill>
              <a:srgbClr val="74C69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92240" y="138988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92240" y="1664208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Stemming/Lemma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7543800" y="1618488"/>
            <a:ext cx="201168" cy="128016"/>
          </a:xfrm>
          <a:prstGeom prst="rect">
            <a:avLst/>
          </a:prstGeom>
          <a:solidFill>
            <a:srgbClr val="7A9A87"/>
          </a:solidFill>
          <a:ln w="12700">
            <a:solidFill>
              <a:srgbClr val="7A9A8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0" y="2157984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form normalization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7744968" y="1371600"/>
            <a:ext cx="1051560" cy="62179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744968" y="138988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744968" y="1664208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Output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7653528" y="2157984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Model-ready text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20040" y="2926080"/>
            <a:ext cx="8503920" cy="1920240"/>
          </a:xfrm>
          <a:prstGeom prst="rect">
            <a:avLst/>
          </a:prstGeom>
          <a:solidFill>
            <a:srgbClr val="142B1E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" y="299923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Example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02920" y="336499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C4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Input:  </a:t>
            </a:r>
            <a:pPr indent="0" marL="0">
              <a:buNone/>
            </a:pPr>
            <a:r>
              <a:rPr lang="en-US" sz="1200" i="1" dirty="0">
                <a:solidFill>
                  <a:srgbClr val="E76F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"&lt;b&gt;Running&lt;/b&gt;  is the BEST!! Check http://example.com for tips... isn't it?"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02920" y="379476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C4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After →  </a:t>
            </a:r>
            <a:pPr indent="0" marL="0">
              <a:buNone/>
            </a:pPr>
            <a:r>
              <a:rPr lang="en-US" sz="1200" i="1" dirty="0">
                <a:solidFill>
                  <a:srgbClr val="95D5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"running best check tips"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Lowercasing &amp; Noise Removal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40233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51560"/>
            <a:ext cx="4023360" cy="47548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051560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  Lowercasing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75488" y="16459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all characters to lowercase to ensure uniform representation.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" y="2212848"/>
            <a:ext cx="3611880" cy="384048"/>
          </a:xfrm>
          <a:prstGeom prst="rect">
            <a:avLst/>
          </a:prstGeom>
          <a:solidFill>
            <a:srgbClr val="F0FBF4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212848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3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"Apple"  →  "apple"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" y="2743200"/>
            <a:ext cx="3611880" cy="384048"/>
          </a:xfrm>
          <a:prstGeom prst="rect">
            <a:avLst/>
          </a:prstGeom>
          <a:solidFill>
            <a:srgbClr val="F0FBF4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74320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3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"HELLO World"  →  "hello world"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" y="3273552"/>
            <a:ext cx="3611880" cy="384048"/>
          </a:xfrm>
          <a:prstGeom prst="rect">
            <a:avLst/>
          </a:prstGeom>
          <a:solidFill>
            <a:srgbClr val="F0FBF4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3273552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3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"NLP is GREAT"  →  "nlp is great"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" y="386791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Caution: May lose meaning for proper nouns (US vs us)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63440" y="1051560"/>
            <a:ext cx="416052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1051560"/>
            <a:ext cx="4160520" cy="475488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1051560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🗑  Noise Removal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800600" y="1664208"/>
            <a:ext cx="3840480" cy="512064"/>
          </a:xfrm>
          <a:prstGeom prst="rect">
            <a:avLst/>
          </a:prstGeom>
          <a:solidFill>
            <a:srgbClr val="FEF8F6"/>
          </a:solidFill>
          <a:ln w="12700">
            <a:solidFill>
              <a:srgbClr val="F0D8D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19472" y="1700784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Tags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919472" y="192024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7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&lt;b&gt;Hello&lt;/b&gt;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355080" y="179222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656832" y="1920240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D6A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Hello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800600" y="2249424"/>
            <a:ext cx="3840480" cy="512064"/>
          </a:xfrm>
          <a:prstGeom prst="rect">
            <a:avLst/>
          </a:prstGeom>
          <a:solidFill>
            <a:srgbClr val="FEF8F6"/>
          </a:solidFill>
          <a:ln w="12700">
            <a:solidFill>
              <a:srgbClr val="F0D8D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19472" y="228600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919472" y="250545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7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Visit http://x.com today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355080" y="237744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656832" y="2505456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D6A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Visit today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800600" y="2834640"/>
            <a:ext cx="3840480" cy="512064"/>
          </a:xfrm>
          <a:prstGeom prst="rect">
            <a:avLst/>
          </a:prstGeom>
          <a:solidFill>
            <a:srgbClr val="FEF8F6"/>
          </a:solidFill>
          <a:ln w="12700">
            <a:solidFill>
              <a:srgbClr val="F0D8D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19472" y="2871216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Punctuation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919472" y="309067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7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Wow!!! Great...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355080" y="2962656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656832" y="3090672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D6A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Wow Great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800600" y="3419856"/>
            <a:ext cx="3840480" cy="512064"/>
          </a:xfrm>
          <a:prstGeom prst="rect">
            <a:avLst/>
          </a:prstGeom>
          <a:solidFill>
            <a:srgbClr val="FEF8F6"/>
          </a:solidFill>
          <a:ln w="12700">
            <a:solidFill>
              <a:srgbClr val="F0D8D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19472" y="345643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919472" y="367588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7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have 5 cats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355080" y="354787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656832" y="3675888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D6A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have cats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800600" y="4005072"/>
            <a:ext cx="3840480" cy="512064"/>
          </a:xfrm>
          <a:prstGeom prst="rect">
            <a:avLst/>
          </a:prstGeom>
          <a:solidFill>
            <a:srgbClr val="FEF8F6"/>
          </a:solidFill>
          <a:ln w="12700">
            <a:solidFill>
              <a:srgbClr val="F0D8D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19472" y="404164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spaces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919472" y="426110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7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Hello   World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355080" y="413308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656832" y="4261104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D6A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Hello World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3A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98755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Splitting text into smaller units (tokens) for further processing.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417320"/>
            <a:ext cx="4114800" cy="1691640"/>
          </a:xfrm>
          <a:prstGeom prst="rect">
            <a:avLst/>
          </a:prstGeom>
          <a:solidFill>
            <a:srgbClr val="142B1E"/>
          </a:solidFill>
          <a:ln w="19050">
            <a:solidFill>
              <a:srgbClr val="52B7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417320"/>
            <a:ext cx="4114800" cy="38404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41732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Tokenization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187452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0120" y="1874520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9C4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 love NLP!"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2148840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97280" y="2148840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2B7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["I", "love", "NLP", "!"]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1480" y="246888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C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common; splits on whitespace/punctuation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0" y="1417320"/>
            <a:ext cx="4114800" cy="1691640"/>
          </a:xfrm>
          <a:prstGeom prst="rect">
            <a:avLst/>
          </a:prstGeom>
          <a:solidFill>
            <a:srgbClr val="142B1E"/>
          </a:solidFill>
          <a:ln w="19050">
            <a:solidFill>
              <a:srgbClr val="E9C4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0" y="1417320"/>
            <a:ext cx="4114800" cy="384048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81728" y="141732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Tokenization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709160" y="187452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257800" y="1874520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9C4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"Hello! How are you?"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09160" y="2148840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394960" y="2148840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2B7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["Hello!", "How are you?"]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709160" y="246888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C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Splits text into individual sentences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74320" y="3291840"/>
            <a:ext cx="4114800" cy="1691640"/>
          </a:xfrm>
          <a:prstGeom prst="rect">
            <a:avLst/>
          </a:prstGeom>
          <a:solidFill>
            <a:srgbClr val="142B1E"/>
          </a:solidFill>
          <a:ln w="19050">
            <a:solidFill>
              <a:srgbClr val="F4A2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3291840"/>
            <a:ext cx="4114800" cy="38404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4048" y="329184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Subword (BPE)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11480" y="374904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60120" y="3749040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9C4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"unhappiness"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11480" y="4023360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97280" y="4023360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2B7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["un", "##happi", "##ness"]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11480" y="434340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C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OOV words; used in BERT, GPT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572000" y="3291840"/>
            <a:ext cx="4114800" cy="1691640"/>
          </a:xfrm>
          <a:prstGeom prst="rect">
            <a:avLst/>
          </a:prstGeom>
          <a:solidFill>
            <a:srgbClr val="142B1E"/>
          </a:solidFill>
          <a:ln w="19050">
            <a:solidFill>
              <a:srgbClr val="E76F5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572000" y="3291840"/>
            <a:ext cx="4114800" cy="384048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81728" y="329184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 Tokenization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709160" y="374904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257800" y="3749040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9C4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"Cat"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709160" y="4023360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394960" y="4023360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2B7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["C", "a", "t"]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709160" y="434340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C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Finest granularity; useful for languages with no spaces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Word Removal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8503920" cy="64008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515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words are high-frequency words ("the", "is", "a", "an", "and") that carry little semantic meaning and are removed to reduce noise.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8288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English Stop Words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2212848"/>
            <a:ext cx="777240" cy="274320"/>
          </a:xfrm>
          <a:prstGeom prst="rect">
            <a:avLst/>
          </a:prstGeom>
          <a:solidFill>
            <a:srgbClr val="E76F51">
              <a:alpha val="25000"/>
            </a:srgbClr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221284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280160" y="2212848"/>
            <a:ext cx="777240" cy="274320"/>
          </a:xfrm>
          <a:prstGeom prst="rect">
            <a:avLst/>
          </a:prstGeom>
          <a:solidFill>
            <a:srgbClr val="F4A261">
              <a:alpha val="25000"/>
            </a:srgbClr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80160" y="221284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194560" y="2212848"/>
            <a:ext cx="777240" cy="274320"/>
          </a:xfrm>
          <a:prstGeom prst="rect">
            <a:avLst/>
          </a:prstGeom>
          <a:solidFill>
            <a:srgbClr val="E9C46A">
              <a:alpha val="25000"/>
            </a:srgbClr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94560" y="221284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108960" y="2212848"/>
            <a:ext cx="777240" cy="274320"/>
          </a:xfrm>
          <a:prstGeom prst="rect">
            <a:avLst/>
          </a:prstGeom>
          <a:solidFill>
            <a:srgbClr val="52B788">
              <a:alpha val="25000"/>
            </a:srgbClr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08960" y="221284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023360" y="2212848"/>
            <a:ext cx="777240" cy="274320"/>
          </a:xfrm>
          <a:prstGeom prst="rect">
            <a:avLst/>
          </a:prstGeom>
          <a:solidFill>
            <a:srgbClr val="2D6A4F">
              <a:alpha val="25000"/>
            </a:srgbClr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023360" y="221284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937760" y="2212848"/>
            <a:ext cx="777240" cy="274320"/>
          </a:xfrm>
          <a:prstGeom prst="rect">
            <a:avLst/>
          </a:prstGeom>
          <a:solidFill>
            <a:srgbClr val="E76F51">
              <a:alpha val="25000"/>
            </a:srgbClr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221284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852160" y="2212848"/>
            <a:ext cx="777240" cy="274320"/>
          </a:xfrm>
          <a:prstGeom prst="rect">
            <a:avLst/>
          </a:prstGeom>
          <a:solidFill>
            <a:srgbClr val="F4A261">
              <a:alpha val="25000"/>
            </a:srgbClr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52160" y="221284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766560" y="2212848"/>
            <a:ext cx="777240" cy="274320"/>
          </a:xfrm>
          <a:prstGeom prst="rect">
            <a:avLst/>
          </a:prstGeom>
          <a:solidFill>
            <a:srgbClr val="E9C46A">
              <a:alpha val="25000"/>
            </a:srgbClr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66560" y="221284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680960" y="2212848"/>
            <a:ext cx="777240" cy="274320"/>
          </a:xfrm>
          <a:prstGeom prst="rect">
            <a:avLst/>
          </a:prstGeom>
          <a:solidFill>
            <a:srgbClr val="52B788">
              <a:alpha val="25000"/>
            </a:srgbClr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680960" y="221284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2596896"/>
            <a:ext cx="777240" cy="274320"/>
          </a:xfrm>
          <a:prstGeom prst="rect">
            <a:avLst/>
          </a:prstGeom>
          <a:solidFill>
            <a:srgbClr val="2D6A4F">
              <a:alpha val="25000"/>
            </a:srgbClr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259689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280160" y="2596896"/>
            <a:ext cx="777240" cy="274320"/>
          </a:xfrm>
          <a:prstGeom prst="rect">
            <a:avLst/>
          </a:prstGeom>
          <a:solidFill>
            <a:srgbClr val="E76F51">
              <a:alpha val="25000"/>
            </a:srgbClr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280160" y="259689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194560" y="2596896"/>
            <a:ext cx="777240" cy="274320"/>
          </a:xfrm>
          <a:prstGeom prst="rect">
            <a:avLst/>
          </a:prstGeom>
          <a:solidFill>
            <a:srgbClr val="F4A261">
              <a:alpha val="25000"/>
            </a:srgbClr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194560" y="259689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108960" y="2596896"/>
            <a:ext cx="777240" cy="274320"/>
          </a:xfrm>
          <a:prstGeom prst="rect">
            <a:avLst/>
          </a:prstGeom>
          <a:solidFill>
            <a:srgbClr val="E9C46A">
              <a:alpha val="25000"/>
            </a:srgbClr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108960" y="259689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023360" y="2596896"/>
            <a:ext cx="777240" cy="274320"/>
          </a:xfrm>
          <a:prstGeom prst="rect">
            <a:avLst/>
          </a:prstGeom>
          <a:solidFill>
            <a:srgbClr val="52B788">
              <a:alpha val="25000"/>
            </a:srgbClr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023360" y="259689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937760" y="2596896"/>
            <a:ext cx="777240" cy="274320"/>
          </a:xfrm>
          <a:prstGeom prst="rect">
            <a:avLst/>
          </a:prstGeom>
          <a:solidFill>
            <a:srgbClr val="2D6A4F">
              <a:alpha val="25000"/>
            </a:srgbClr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37760" y="259689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852160" y="2596896"/>
            <a:ext cx="777240" cy="274320"/>
          </a:xfrm>
          <a:prstGeom prst="rect">
            <a:avLst/>
          </a:prstGeom>
          <a:solidFill>
            <a:srgbClr val="E76F51">
              <a:alpha val="25000"/>
            </a:srgbClr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852160" y="259689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766560" y="2596896"/>
            <a:ext cx="777240" cy="274320"/>
          </a:xfrm>
          <a:prstGeom prst="rect">
            <a:avLst/>
          </a:prstGeom>
          <a:solidFill>
            <a:srgbClr val="F4A261">
              <a:alpha val="25000"/>
            </a:srgbClr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766560" y="259689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7680960" y="2596896"/>
            <a:ext cx="777240" cy="274320"/>
          </a:xfrm>
          <a:prstGeom prst="rect">
            <a:avLst/>
          </a:prstGeom>
          <a:solidFill>
            <a:srgbClr val="E9C46A">
              <a:alpha val="25000"/>
            </a:srgbClr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680960" y="259689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65760" y="2980944"/>
            <a:ext cx="777240" cy="274320"/>
          </a:xfrm>
          <a:prstGeom prst="rect">
            <a:avLst/>
          </a:prstGeom>
          <a:solidFill>
            <a:srgbClr val="52B788">
              <a:alpha val="25000"/>
            </a:srgbClr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5760" y="298094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1280160" y="2980944"/>
            <a:ext cx="777240" cy="274320"/>
          </a:xfrm>
          <a:prstGeom prst="rect">
            <a:avLst/>
          </a:prstGeom>
          <a:solidFill>
            <a:srgbClr val="2D6A4F">
              <a:alpha val="25000"/>
            </a:srgbClr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280160" y="298094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2194560" y="2980944"/>
            <a:ext cx="777240" cy="274320"/>
          </a:xfrm>
          <a:prstGeom prst="rect">
            <a:avLst/>
          </a:prstGeom>
          <a:solidFill>
            <a:srgbClr val="E76F51">
              <a:alpha val="25000"/>
            </a:srgbClr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194560" y="298094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might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3108960" y="2980944"/>
            <a:ext cx="777240" cy="274320"/>
          </a:xfrm>
          <a:prstGeom prst="rect">
            <a:avLst/>
          </a:prstGeom>
          <a:solidFill>
            <a:srgbClr val="F4A261">
              <a:alpha val="25000"/>
            </a:srgbClr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108960" y="298094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shall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023360" y="2980944"/>
            <a:ext cx="777240" cy="274320"/>
          </a:xfrm>
          <a:prstGeom prst="rect">
            <a:avLst/>
          </a:prstGeom>
          <a:solidFill>
            <a:srgbClr val="E9C46A">
              <a:alpha val="25000"/>
            </a:srgbClr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023360" y="298094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4937760" y="2980944"/>
            <a:ext cx="777240" cy="274320"/>
          </a:xfrm>
          <a:prstGeom prst="rect">
            <a:avLst/>
          </a:prstGeom>
          <a:solidFill>
            <a:srgbClr val="52B788">
              <a:alpha val="25000"/>
            </a:srgbClr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937760" y="298094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5852160" y="2980944"/>
            <a:ext cx="777240" cy="274320"/>
          </a:xfrm>
          <a:prstGeom prst="rect">
            <a:avLst/>
          </a:prstGeom>
          <a:solidFill>
            <a:srgbClr val="2D6A4F">
              <a:alpha val="25000"/>
            </a:srgbClr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852160" y="298094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dare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6766560" y="2980944"/>
            <a:ext cx="777240" cy="274320"/>
          </a:xfrm>
          <a:prstGeom prst="rect">
            <a:avLst/>
          </a:prstGeom>
          <a:solidFill>
            <a:srgbClr val="E76F51">
              <a:alpha val="25000"/>
            </a:srgbClr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766560" y="298094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ought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7680960" y="2980944"/>
            <a:ext cx="777240" cy="274320"/>
          </a:xfrm>
          <a:prstGeom prst="rect">
            <a:avLst/>
          </a:prstGeom>
          <a:solidFill>
            <a:srgbClr val="F4A261">
              <a:alpha val="25000"/>
            </a:srgbClr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680960" y="298094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365760" y="3364992"/>
            <a:ext cx="777240" cy="274320"/>
          </a:xfrm>
          <a:prstGeom prst="rect">
            <a:avLst/>
          </a:prstGeom>
          <a:solidFill>
            <a:srgbClr val="E9C46A">
              <a:alpha val="25000"/>
            </a:srgbClr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65760" y="336499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1280160" y="3364992"/>
            <a:ext cx="777240" cy="274320"/>
          </a:xfrm>
          <a:prstGeom prst="rect">
            <a:avLst/>
          </a:prstGeom>
          <a:solidFill>
            <a:srgbClr val="52B788">
              <a:alpha val="25000"/>
            </a:srgbClr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280160" y="336499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2194560" y="3364992"/>
            <a:ext cx="777240" cy="274320"/>
          </a:xfrm>
          <a:prstGeom prst="rect">
            <a:avLst/>
          </a:prstGeom>
          <a:solidFill>
            <a:srgbClr val="2D6A4F">
              <a:alpha val="25000"/>
            </a:srgbClr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194560" y="336499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3108960" y="3364992"/>
            <a:ext cx="777240" cy="274320"/>
          </a:xfrm>
          <a:prstGeom prst="rect">
            <a:avLst/>
          </a:prstGeom>
          <a:solidFill>
            <a:srgbClr val="E76F51">
              <a:alpha val="25000"/>
            </a:srgbClr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108960" y="336499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4023360" y="3364992"/>
            <a:ext cx="777240" cy="274320"/>
          </a:xfrm>
          <a:prstGeom prst="rect">
            <a:avLst/>
          </a:prstGeom>
          <a:solidFill>
            <a:srgbClr val="F4A261">
              <a:alpha val="25000"/>
            </a:srgbClr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023360" y="336499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4937760" y="3364992"/>
            <a:ext cx="777240" cy="274320"/>
          </a:xfrm>
          <a:prstGeom prst="rect">
            <a:avLst/>
          </a:prstGeom>
          <a:solidFill>
            <a:srgbClr val="E9C46A">
              <a:alpha val="25000"/>
            </a:srgbClr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937760" y="336499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5852160" y="3364992"/>
            <a:ext cx="777240" cy="274320"/>
          </a:xfrm>
          <a:prstGeom prst="rect">
            <a:avLst/>
          </a:prstGeom>
          <a:solidFill>
            <a:srgbClr val="52B788">
              <a:alpha val="25000"/>
            </a:srgbClr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852160" y="336499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6766560" y="3364992"/>
            <a:ext cx="777240" cy="274320"/>
          </a:xfrm>
          <a:prstGeom prst="rect">
            <a:avLst/>
          </a:prstGeom>
          <a:solidFill>
            <a:srgbClr val="2D6A4F">
              <a:alpha val="25000"/>
            </a:srgbClr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766560" y="336499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7680960" y="3364992"/>
            <a:ext cx="777240" cy="274320"/>
          </a:xfrm>
          <a:prstGeom prst="rect">
            <a:avLst/>
          </a:prstGeom>
          <a:solidFill>
            <a:srgbClr val="E76F51">
              <a:alpha val="25000"/>
            </a:srgbClr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7680960" y="336499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320040" y="3858768"/>
            <a:ext cx="85039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0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0" name="Text 78"/>
          <p:cNvSpPr/>
          <p:nvPr/>
        </p:nvSpPr>
        <p:spPr>
          <a:xfrm>
            <a:off x="502920" y="393192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6F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Before: </a:t>
            </a:r>
            <a:pPr indent="0" marL="0">
              <a:buNone/>
            </a:pPr>
            <a:r>
              <a:rPr lang="en-US" sz="1200" i="1" dirty="0">
                <a:solidFill>
                  <a:srgbClr val="5A7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"The quick brown fox jumps over the lazy dog"</a:t>
            </a:r>
            <a:endParaRPr lang="en-US" sz="1200" dirty="0"/>
          </a:p>
        </p:txBody>
      </p:sp>
      <p:sp>
        <p:nvSpPr>
          <p:cNvPr id="81" name="Text 79"/>
          <p:cNvSpPr/>
          <p:nvPr/>
        </p:nvSpPr>
        <p:spPr>
          <a:xfrm>
            <a:off x="502920" y="4315968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2B7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After:   </a:t>
            </a:r>
            <a:pPr indent="0" marL="0">
              <a:buNone/>
            </a:pPr>
            <a:r>
              <a:rPr lang="en-US" sz="1200" i="1" dirty="0">
                <a:solidFill>
                  <a:srgbClr val="2D6A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"quick brown fox jumps lazy dog"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3A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95D5B2"/>
          </a:solidFill>
          <a:ln w="12700">
            <a:solidFill>
              <a:srgbClr val="95D5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Stemming  vs  Lemmatization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023360" cy="3840480"/>
          </a:xfrm>
          <a:prstGeom prst="rect">
            <a:avLst/>
          </a:prstGeom>
          <a:solidFill>
            <a:srgbClr val="142B1E"/>
          </a:solidFill>
          <a:ln w="19050">
            <a:solidFill>
              <a:srgbClr val="F4A26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05840"/>
            <a:ext cx="4023360" cy="4572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058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✂️  Stemming (Porter / Snowball)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554480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C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Crudely chops word endings to get a root form. Fast but may produce non-words.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14884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9C4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running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965960" y="214884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331720" y="214884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5D5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977640" y="2148840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257860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9C4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studies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965960" y="2578608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331720" y="257860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5D5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studi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977640" y="2578608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3008376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9C4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happiness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965960" y="3008376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331720" y="300837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5D5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happi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977640" y="3008376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3438144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9C4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965960" y="3438144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331720" y="343814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5D5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977640" y="3438144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386791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9C4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connection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965960" y="3867912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2331720" y="386791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5D5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connect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977640" y="3867912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429768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9C4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beautiful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965960" y="429768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2331720" y="429768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5D5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beauti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977640" y="4297680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846320" y="1005840"/>
            <a:ext cx="4023360" cy="3840480"/>
          </a:xfrm>
          <a:prstGeom prst="rect">
            <a:avLst/>
          </a:prstGeom>
          <a:solidFill>
            <a:srgbClr val="142B1E"/>
          </a:solidFill>
          <a:ln w="19050">
            <a:solidFill>
              <a:srgbClr val="52B78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846320" y="1005840"/>
            <a:ext cx="4023360" cy="45720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83480" y="10058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Lemmatization (WordNet)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983480" y="1554480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C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vocabulary &amp; morphological analysis to return the actual dictionary base form.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029200" y="214884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9C4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running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537960" y="214884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903720" y="214884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5D5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522208" y="2148840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029200" y="257860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9C4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studies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537960" y="2578608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6903720" y="257860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5D5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study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8522208" y="2578608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029200" y="3008376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9C4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happiness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537960" y="3008376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6903720" y="300837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5D5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happiness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8522208" y="3008376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5029200" y="3438144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9C4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caring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6537960" y="3438144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6903720" y="343814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5D5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care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8522208" y="3438144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5029200" y="386791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9C4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connection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6537960" y="3867912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6903720" y="386791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5D5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connection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8522208" y="3867912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5029200" y="429768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9C4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better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6537960" y="429768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58" name="Text 56"/>
          <p:cNvSpPr/>
          <p:nvPr/>
        </p:nvSpPr>
        <p:spPr>
          <a:xfrm>
            <a:off x="6903720" y="429768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5D5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good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8522208" y="4297680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Preprocessing Techniques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2651760" cy="1536192"/>
          </a:xfrm>
          <a:prstGeom prst="rect">
            <a:avLst/>
          </a:prstGeom>
          <a:solidFill>
            <a:srgbClr val="FFFFFF"/>
          </a:solidFill>
          <a:ln w="19050">
            <a:solidFill>
              <a:srgbClr val="52B7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51560"/>
            <a:ext cx="2651760" cy="7315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1188720"/>
            <a:ext cx="2450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 Correction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84048" y="1527048"/>
            <a:ext cx="2450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7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typos &amp; misspellings using edit distance or language models.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65760" y="2130552"/>
            <a:ext cx="2468880" cy="365760"/>
          </a:xfrm>
          <a:prstGeom prst="rect">
            <a:avLst/>
          </a:prstGeom>
          <a:solidFill>
            <a:srgbClr val="EDF6F0"/>
          </a:solidFill>
          <a:ln w="12700">
            <a:solidFill>
              <a:srgbClr val="D5E8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2336" y="2130552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2B7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"teh quick brwon fox"  →  "the quick brown fox"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090672" y="1051560"/>
            <a:ext cx="2651760" cy="1536192"/>
          </a:xfrm>
          <a:prstGeom prst="rect">
            <a:avLst/>
          </a:prstGeom>
          <a:solidFill>
            <a:srgbClr val="FFFFFF"/>
          </a:solidFill>
          <a:ln w="19050">
            <a:solidFill>
              <a:srgbClr val="E9C4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090672" y="1051560"/>
            <a:ext cx="2651760" cy="73152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1188720"/>
            <a:ext cx="2450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Contraction Expansion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00400" y="1527048"/>
            <a:ext cx="2450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7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contractions to their full forms for consistency.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182112" y="2130552"/>
            <a:ext cx="2468880" cy="365760"/>
          </a:xfrm>
          <a:prstGeom prst="rect">
            <a:avLst/>
          </a:prstGeom>
          <a:solidFill>
            <a:srgbClr val="EDF6F0"/>
          </a:solidFill>
          <a:ln w="12700">
            <a:solidFill>
              <a:srgbClr val="D5E8D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18688" y="2130552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E9C4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"isn't, can't, won't"  →  "is not, cannot, will not"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907024" y="1051560"/>
            <a:ext cx="2651760" cy="1536192"/>
          </a:xfrm>
          <a:prstGeom prst="rect">
            <a:avLst/>
          </a:prstGeom>
          <a:solidFill>
            <a:srgbClr val="FFFFFF"/>
          </a:solidFill>
          <a:ln w="19050">
            <a:solidFill>
              <a:srgbClr val="F4A2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907024" y="1051560"/>
            <a:ext cx="2651760" cy="7315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16752" y="1188720"/>
            <a:ext cx="2450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Slang / Abbreviation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016752" y="1527048"/>
            <a:ext cx="2450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7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informal language to standard equivalents.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998464" y="2130552"/>
            <a:ext cx="2468880" cy="365760"/>
          </a:xfrm>
          <a:prstGeom prst="rect">
            <a:avLst/>
          </a:prstGeom>
          <a:solidFill>
            <a:srgbClr val="EDF6F0"/>
          </a:solidFill>
          <a:ln w="12700">
            <a:solidFill>
              <a:srgbClr val="D5E8D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35040" y="2130552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"u r gr8 lol omg"  →  "you are great laughing out loud oh my god"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74320" y="2752344"/>
            <a:ext cx="2651760" cy="1536192"/>
          </a:xfrm>
          <a:prstGeom prst="rect">
            <a:avLst/>
          </a:prstGeom>
          <a:solidFill>
            <a:srgbClr val="FFFFFF"/>
          </a:solidFill>
          <a:ln w="19050">
            <a:solidFill>
              <a:srgbClr val="E76F5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2752344"/>
            <a:ext cx="2651760" cy="73152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4048" y="2889504"/>
            <a:ext cx="2450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Normalization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84048" y="3227832"/>
            <a:ext cx="2450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7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 numbers, dates, currencies, units.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65760" y="3831336"/>
            <a:ext cx="2468880" cy="365760"/>
          </a:xfrm>
          <a:prstGeom prst="rect">
            <a:avLst/>
          </a:prstGeom>
          <a:solidFill>
            <a:srgbClr val="EDF6F0"/>
          </a:solidFill>
          <a:ln w="12700">
            <a:solidFill>
              <a:srgbClr val="D5E8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02336" y="3831336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E76F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"$1,000 on 01/01/2024"  →  "1000 dollars on January 1 2024"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090672" y="2752344"/>
            <a:ext cx="2651760" cy="1536192"/>
          </a:xfrm>
          <a:prstGeom prst="rect">
            <a:avLst/>
          </a:prstGeom>
          <a:solidFill>
            <a:srgbClr val="FFFFFF"/>
          </a:solidFill>
          <a:ln w="19050">
            <a:solidFill>
              <a:srgbClr val="2D6A4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090672" y="2752344"/>
            <a:ext cx="2651760" cy="7315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0" y="2889504"/>
            <a:ext cx="2450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N-gram Extraction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200400" y="3227832"/>
            <a:ext cx="2450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7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multi-word phrases as single tokens (bigrams, trigrams).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182112" y="3831336"/>
            <a:ext cx="2468880" cy="365760"/>
          </a:xfrm>
          <a:prstGeom prst="rect">
            <a:avLst/>
          </a:prstGeom>
          <a:solidFill>
            <a:srgbClr val="EDF6F0"/>
          </a:solidFill>
          <a:ln w="12700">
            <a:solidFill>
              <a:srgbClr val="D5E8D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18688" y="3831336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2D6A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"New York City"  →  "new_york_city" (single token)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5907024" y="2752344"/>
            <a:ext cx="2651760" cy="1536192"/>
          </a:xfrm>
          <a:prstGeom prst="rect">
            <a:avLst/>
          </a:prstGeom>
          <a:solidFill>
            <a:srgbClr val="FFFFFF"/>
          </a:solidFill>
          <a:ln w="19050">
            <a:solidFill>
              <a:srgbClr val="7B5E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907024" y="2752344"/>
            <a:ext cx="2651760" cy="73152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016752" y="2889504"/>
            <a:ext cx="2450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Emojis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016752" y="3227832"/>
            <a:ext cx="2450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7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or convert emojis to text descriptions.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998464" y="3831336"/>
            <a:ext cx="2468880" cy="365760"/>
          </a:xfrm>
          <a:prstGeom prst="rect">
            <a:avLst/>
          </a:prstGeom>
          <a:solidFill>
            <a:srgbClr val="EDF6F0"/>
          </a:solidFill>
          <a:ln w="12700">
            <a:solidFill>
              <a:srgbClr val="D5E8D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035040" y="3831336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B5E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"Great day! 😊🌟"  →  "Great day! happy star" or remove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3A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 Comparison &amp; When to Use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8595360" cy="420624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4241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103120" y="1042416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926080" y="1042416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749040" y="1042416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0" y="1042416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When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426464"/>
            <a:ext cx="8595360" cy="420624"/>
          </a:xfrm>
          <a:prstGeom prst="rect">
            <a:avLst/>
          </a:prstGeom>
          <a:solidFill>
            <a:srgbClr val="172E20"/>
          </a:solidFill>
          <a:ln w="12700">
            <a:solidFill>
              <a:srgbClr val="172E2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46304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Lowercasing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103120" y="1463040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Fast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926080" y="1463040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749040" y="146304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classification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943600" y="146304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 noun tasks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1847088"/>
            <a:ext cx="8595360" cy="420624"/>
          </a:xfrm>
          <a:prstGeom prst="rect">
            <a:avLst/>
          </a:prstGeom>
          <a:solidFill>
            <a:srgbClr val="1E3D2C"/>
          </a:solidFill>
          <a:ln w="12700">
            <a:solidFill>
              <a:srgbClr val="1E3D2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188366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Removal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103120" y="1883664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Fast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926080" y="1883664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749040" y="1883664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/ social media text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943600" y="1883664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docs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74320" y="2267712"/>
            <a:ext cx="8595360" cy="420624"/>
          </a:xfrm>
          <a:prstGeom prst="rect">
            <a:avLst/>
          </a:prstGeom>
          <a:solidFill>
            <a:srgbClr val="172E20"/>
          </a:solidFill>
          <a:ln w="12700">
            <a:solidFill>
              <a:srgbClr val="172E2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230428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Tokenization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103120" y="2304288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Fast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2926080" y="2304288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749040" y="230428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NLP tasks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943600" y="230428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 w/o spaces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74320" y="2688336"/>
            <a:ext cx="8595360" cy="420624"/>
          </a:xfrm>
          <a:prstGeom prst="rect">
            <a:avLst/>
          </a:prstGeom>
          <a:solidFill>
            <a:srgbClr val="1E3D2C"/>
          </a:solidFill>
          <a:ln w="12700">
            <a:solidFill>
              <a:srgbClr val="1E3D2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272491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Word Removal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2103120" y="2724912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Fast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2926080" y="2724912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3749040" y="272491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Search, topic modeling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943600" y="272491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analysis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274320" y="3108960"/>
            <a:ext cx="8595360" cy="420624"/>
          </a:xfrm>
          <a:prstGeom prst="rect">
            <a:avLst/>
          </a:prstGeom>
          <a:solidFill>
            <a:srgbClr val="172E20"/>
          </a:solidFill>
          <a:ln w="12700">
            <a:solidFill>
              <a:srgbClr val="172E2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314553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Stemming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2103120" y="3145536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Fast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2926080" y="3145536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3749040" y="3145536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engines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943600" y="3145536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tasks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274320" y="3529584"/>
            <a:ext cx="8595360" cy="420624"/>
          </a:xfrm>
          <a:prstGeom prst="rect">
            <a:avLst/>
          </a:prstGeom>
          <a:solidFill>
            <a:srgbClr val="1E3D2C"/>
          </a:solidFill>
          <a:ln w="12700">
            <a:solidFill>
              <a:srgbClr val="1E3D2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356616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Lemmatization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2103120" y="3566160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🐢 Slow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2926080" y="3566160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3749040" y="356616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Chatbots, QA, translation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5943600" y="356616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Speed-critical apps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274320" y="3950208"/>
            <a:ext cx="8595360" cy="420624"/>
          </a:xfrm>
          <a:prstGeom prst="rect">
            <a:avLst/>
          </a:prstGeom>
          <a:solidFill>
            <a:srgbClr val="172E20"/>
          </a:solidFill>
          <a:ln w="12700">
            <a:solidFill>
              <a:srgbClr val="172E2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65760" y="398678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Subword Tokenization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2103120" y="3986784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2926080" y="3986784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High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3749040" y="3986784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models (BERT, GPT)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5943600" y="3986784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rule-based apps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3A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731520"/>
            <a:ext cx="3657600" cy="3657600"/>
          </a:xfrm>
          <a:prstGeom prst="ellipse">
            <a:avLst/>
          </a:prstGeom>
          <a:solidFill>
            <a:srgbClr val="1E3D2C"/>
          </a:solidFill>
          <a:ln w="12700">
            <a:solidFill>
              <a:srgbClr val="1E3D2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3200400"/>
            <a:ext cx="2286000" cy="2286000"/>
          </a:xfrm>
          <a:prstGeom prst="ellipse">
            <a:avLst/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657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594360" y="1234440"/>
            <a:ext cx="475488" cy="47548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2344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70432" y="128016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E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is the most critical step — garbage in, garbage out for NLP models.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4360" y="1938528"/>
            <a:ext cx="475488" cy="475488"/>
          </a:xfrm>
          <a:prstGeom prst="rect">
            <a:avLst/>
          </a:prstGeom>
          <a:solidFill>
            <a:srgbClr val="95D5B2"/>
          </a:solidFill>
          <a:ln w="12700">
            <a:solidFill>
              <a:srgbClr val="95D5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9385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70432" y="1984248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E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Lowercasing + Noise Removal are almost always first steps in any pipeline.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94360" y="2642616"/>
            <a:ext cx="475488" cy="475488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6426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70432" y="2688336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E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Stemming for speed (search) or Lemmatization for accuracy (NLU tasks).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94360" y="3346704"/>
            <a:ext cx="475488" cy="47548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34670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70432" y="3392424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E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word removal helps topic modeling but can hurt sentiment analysis.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4360" y="4050792"/>
            <a:ext cx="475488" cy="475488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40507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70432" y="4096512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E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models (BERT, GPT) handle subword tokenization internally — less manual preprocessing needed.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52B788">
              <a:alpha val="35000"/>
            </a:srgbClr>
          </a:solidFill>
          <a:ln w="12700">
            <a:solidFill>
              <a:srgbClr val="52B788">
                <a:alpha val="3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754880"/>
            <a:ext cx="82296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Preprocessing Techniques  |  NLP Data Preparation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Text Preprocessing Techniques</dc:title>
  <dc:subject>PptxGenJS Presentation</dc:subject>
  <dc:creator>PptxGenJS</dc:creator>
  <cp:lastModifiedBy>PptxGenJS</cp:lastModifiedBy>
  <cp:revision>1</cp:revision>
  <dcterms:created xsi:type="dcterms:W3CDTF">2026-04-02T14:15:07Z</dcterms:created>
  <dcterms:modified xsi:type="dcterms:W3CDTF">2026-04-02T14:15:07Z</dcterms:modified>
</cp:coreProperties>
</file>