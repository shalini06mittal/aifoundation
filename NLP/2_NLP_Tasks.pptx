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83523"/>
  </p:normalViewPr>
  <p:slideViewPr>
    <p:cSldViewPr snapToGrid="0" snapToObjects="1">
      <p:cViewPr varScale="1">
        <p:scale>
          <a:sx n="117" d="100"/>
          <a:sy n="117" d="100"/>
        </p:scale>
        <p:origin x="12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64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Accuracy</a:t>
            </a:r>
          </a:p>
          <a:p>
            <a:r>
              <a:rPr lang="en-US" dirty="0"/>
              <a:t>Used in: Classification </a:t>
            </a:r>
          </a:p>
          <a:p>
            <a:r>
              <a:rPr lang="en-US" dirty="0"/>
              <a:t>Measures: % of correct predictions </a:t>
            </a:r>
          </a:p>
          <a:p>
            <a:r>
              <a:rPr lang="en-US" dirty="0"/>
              <a:t>Range: 0 to 1 </a:t>
            </a:r>
          </a:p>
          <a:p>
            <a:r>
              <a:rPr lang="en-US" dirty="0"/>
              <a:t>👉 Best for balanced datasets</a:t>
            </a:r>
          </a:p>
          <a:p>
            <a:r>
              <a:rPr lang="en-US" b="1" dirty="0"/>
              <a:t>F1-Score</a:t>
            </a:r>
          </a:p>
          <a:p>
            <a:r>
              <a:rPr lang="en-US" dirty="0"/>
              <a:t>Used in: NER, Classification </a:t>
            </a:r>
          </a:p>
          <a:p>
            <a:r>
              <a:rPr lang="en-US" dirty="0"/>
              <a:t>Measures: Balance between Precision &amp; Recall </a:t>
            </a:r>
          </a:p>
          <a:p>
            <a:r>
              <a:rPr lang="en-US" dirty="0"/>
              <a:t>Range: 0 to 1 </a:t>
            </a:r>
          </a:p>
          <a:p>
            <a:r>
              <a:rPr lang="en-US" dirty="0"/>
              <a:t>👉 Useful when classes are imbalanced</a:t>
            </a:r>
          </a:p>
          <a:p>
            <a:r>
              <a:rPr lang="en-US" b="1" dirty="0"/>
              <a:t>BLEU (Bilingual Evaluation Understudy)</a:t>
            </a:r>
          </a:p>
          <a:p>
            <a:r>
              <a:rPr lang="en-US" dirty="0"/>
              <a:t>Used in: Machine Translation </a:t>
            </a:r>
          </a:p>
          <a:p>
            <a:r>
              <a:rPr lang="en-US" dirty="0"/>
              <a:t>Measures: Overlap of generated vs reference text (n-grams) </a:t>
            </a:r>
          </a:p>
          <a:p>
            <a:r>
              <a:rPr lang="en-US" dirty="0"/>
              <a:t>Range: 0 to 1 </a:t>
            </a:r>
          </a:p>
          <a:p>
            <a:r>
              <a:rPr lang="en-US" dirty="0"/>
              <a:t>👉 Higher = closer to human translation</a:t>
            </a:r>
          </a:p>
          <a:p>
            <a:r>
              <a:rPr lang="en-US" b="1" dirty="0"/>
              <a:t>ROUGE-L</a:t>
            </a:r>
          </a:p>
          <a:p>
            <a:r>
              <a:rPr lang="en-US" dirty="0"/>
              <a:t>Used in: Text Summarization </a:t>
            </a:r>
          </a:p>
          <a:p>
            <a:r>
              <a:rPr lang="en-US" dirty="0"/>
              <a:t>Measures: Longest common subsequence similarity </a:t>
            </a:r>
          </a:p>
          <a:p>
            <a:r>
              <a:rPr lang="en-US" dirty="0"/>
              <a:t>Range: 0 to 1 </a:t>
            </a:r>
          </a:p>
          <a:p>
            <a:r>
              <a:rPr lang="en-US" dirty="0"/>
              <a:t>👉 Focuses on recall (coverage of content)</a:t>
            </a:r>
          </a:p>
          <a:p>
            <a:r>
              <a:rPr lang="en-US" b="1" dirty="0"/>
              <a:t>Perplexity</a:t>
            </a:r>
          </a:p>
          <a:p>
            <a:r>
              <a:rPr lang="en-US" dirty="0"/>
              <a:t>Used in: Language Models </a:t>
            </a:r>
          </a:p>
          <a:p>
            <a:r>
              <a:rPr lang="en-US" dirty="0"/>
              <a:t>Measures: How well model predicts next word </a:t>
            </a:r>
          </a:p>
          <a:p>
            <a:r>
              <a:rPr lang="en-US" dirty="0"/>
              <a:t>Range: 1 to ∞ </a:t>
            </a:r>
          </a:p>
          <a:p>
            <a:r>
              <a:rPr lang="en-US" dirty="0"/>
              <a:t>👉 Lower = better model</a:t>
            </a:r>
          </a:p>
          <a:p>
            <a:r>
              <a:rPr lang="en-US" b="1" dirty="0" err="1"/>
              <a:t>BERTScore</a:t>
            </a:r>
            <a:endParaRPr lang="en-US" b="1" dirty="0"/>
          </a:p>
          <a:p>
            <a:r>
              <a:rPr lang="en-US" dirty="0"/>
              <a:t>Used in: Summarization, Translation </a:t>
            </a:r>
          </a:p>
          <a:p>
            <a:r>
              <a:rPr lang="en-US" dirty="0"/>
              <a:t>Measures: Semantic similarity using embeddings (context-aware) </a:t>
            </a:r>
          </a:p>
          <a:p>
            <a:r>
              <a:rPr lang="en-US" dirty="0"/>
              <a:t>Range: 0 to 1 </a:t>
            </a:r>
          </a:p>
          <a:p>
            <a:r>
              <a:rPr lang="en-US" dirty="0"/>
              <a:t>👉 Better than exact word matching</a:t>
            </a:r>
          </a:p>
          <a:p>
            <a:r>
              <a:rPr lang="en-US" b="1" dirty="0"/>
              <a:t>EM / F1 (QA Tasks)</a:t>
            </a:r>
          </a:p>
          <a:p>
            <a:r>
              <a:rPr lang="en-US" dirty="0"/>
              <a:t>Used in: Question Answering </a:t>
            </a:r>
          </a:p>
          <a:p>
            <a:r>
              <a:rPr lang="en-US" dirty="0"/>
              <a:t>EM: Exact match with correct answer </a:t>
            </a:r>
          </a:p>
          <a:p>
            <a:r>
              <a:rPr lang="en-US" dirty="0"/>
              <a:t>F1: Token-level overlap </a:t>
            </a:r>
          </a:p>
          <a:p>
            <a:r>
              <a:rPr lang="en-US" dirty="0"/>
              <a:t>Range: 0 to 1</a:t>
            </a:r>
          </a:p>
          <a:p>
            <a:r>
              <a:rPr lang="en-US" b="1" dirty="0"/>
              <a:t>MCC (Matthews Correlation Coefficient)</a:t>
            </a:r>
          </a:p>
          <a:p>
            <a:r>
              <a:rPr lang="en-US" dirty="0"/>
              <a:t>Used in: Imbalanced Classification </a:t>
            </a:r>
          </a:p>
          <a:p>
            <a:r>
              <a:rPr lang="en-US" dirty="0"/>
              <a:t>Measures: Quality of binary classification </a:t>
            </a:r>
          </a:p>
          <a:p>
            <a:r>
              <a:rPr lang="en-US" dirty="0"/>
              <a:t>Range: -1 to 1 </a:t>
            </a:r>
          </a:p>
          <a:p>
            <a:r>
              <a:rPr lang="en-US" dirty="0"/>
              <a:t>👉 +1 = perfect, 0 = random, -1 = wrong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05E97-14B5-4976-AB9E-07D1679DA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75F47-4115-593E-6BB9-DDB51D38A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120FB-4F39-7BC6-C8C1-07CEDC03D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Accuracy</a:t>
            </a:r>
          </a:p>
          <a:p>
            <a:r>
              <a:rPr lang="en-US" dirty="0"/>
              <a:t>Used in: Classification </a:t>
            </a:r>
          </a:p>
          <a:p>
            <a:r>
              <a:rPr lang="en-US" dirty="0"/>
              <a:t>Measures: % of correct predictions </a:t>
            </a:r>
          </a:p>
          <a:p>
            <a:r>
              <a:rPr lang="en-US" dirty="0"/>
              <a:t>Range: 0 to 1 </a:t>
            </a:r>
          </a:p>
          <a:p>
            <a:r>
              <a:rPr lang="en-US" dirty="0"/>
              <a:t>👉 Best for balanced datasets</a:t>
            </a:r>
          </a:p>
          <a:p>
            <a:r>
              <a:rPr lang="en-US" b="1" dirty="0"/>
              <a:t>F1-Score</a:t>
            </a:r>
          </a:p>
          <a:p>
            <a:r>
              <a:rPr lang="en-US" dirty="0"/>
              <a:t>Used in: NER, Classification </a:t>
            </a:r>
          </a:p>
          <a:p>
            <a:r>
              <a:rPr lang="en-US" dirty="0"/>
              <a:t>Measures: Balance between Precision &amp; Recall </a:t>
            </a:r>
          </a:p>
          <a:p>
            <a:r>
              <a:rPr lang="en-US" dirty="0"/>
              <a:t>Range: 0 to 1 </a:t>
            </a:r>
          </a:p>
          <a:p>
            <a:r>
              <a:rPr lang="en-US" dirty="0"/>
              <a:t>👉 Useful when classes are imbalanced</a:t>
            </a:r>
          </a:p>
          <a:p>
            <a:r>
              <a:rPr lang="en-US" b="1" dirty="0"/>
              <a:t>BLEU (Bilingual Evaluation Understudy)</a:t>
            </a:r>
          </a:p>
          <a:p>
            <a:r>
              <a:rPr lang="en-US" dirty="0"/>
              <a:t>Used in: Machine Translation </a:t>
            </a:r>
          </a:p>
          <a:p>
            <a:r>
              <a:rPr lang="en-US" dirty="0"/>
              <a:t>Measures: Overlap of generated vs reference text (n-grams) </a:t>
            </a:r>
          </a:p>
          <a:p>
            <a:r>
              <a:rPr lang="en-US" dirty="0"/>
              <a:t>Range: 0 to 1 </a:t>
            </a:r>
          </a:p>
          <a:p>
            <a:r>
              <a:rPr lang="en-US" dirty="0"/>
              <a:t>👉 Higher = closer to human translation</a:t>
            </a:r>
          </a:p>
          <a:p>
            <a:r>
              <a:rPr lang="en-US" b="1" dirty="0"/>
              <a:t>ROUGE-L</a:t>
            </a:r>
          </a:p>
          <a:p>
            <a:r>
              <a:rPr lang="en-US" dirty="0"/>
              <a:t>Used in: Text Summarization </a:t>
            </a:r>
          </a:p>
          <a:p>
            <a:r>
              <a:rPr lang="en-US" dirty="0"/>
              <a:t>Measures: Longest common subsequence similarity </a:t>
            </a:r>
          </a:p>
          <a:p>
            <a:r>
              <a:rPr lang="en-US" dirty="0"/>
              <a:t>Range: 0 to 1 </a:t>
            </a:r>
          </a:p>
          <a:p>
            <a:r>
              <a:rPr lang="en-US" dirty="0"/>
              <a:t>👉 Focuses on recall (coverage of content)</a:t>
            </a:r>
          </a:p>
          <a:p>
            <a:r>
              <a:rPr lang="en-US" b="1" dirty="0"/>
              <a:t>Perplexity</a:t>
            </a:r>
          </a:p>
          <a:p>
            <a:r>
              <a:rPr lang="en-US" dirty="0"/>
              <a:t>Used in: Language Models </a:t>
            </a:r>
          </a:p>
          <a:p>
            <a:r>
              <a:rPr lang="en-US" dirty="0"/>
              <a:t>Measures: How well model predicts next word </a:t>
            </a:r>
          </a:p>
          <a:p>
            <a:r>
              <a:rPr lang="en-US" dirty="0"/>
              <a:t>Range: 1 to ∞ </a:t>
            </a:r>
          </a:p>
          <a:p>
            <a:r>
              <a:rPr lang="en-US" dirty="0"/>
              <a:t>👉 Lower = better model</a:t>
            </a:r>
          </a:p>
          <a:p>
            <a:r>
              <a:rPr lang="en-US" b="1" dirty="0" err="1"/>
              <a:t>BERTScore</a:t>
            </a:r>
            <a:endParaRPr lang="en-US" b="1" dirty="0"/>
          </a:p>
          <a:p>
            <a:r>
              <a:rPr lang="en-US" dirty="0"/>
              <a:t>Used in: Summarization, Translation </a:t>
            </a:r>
          </a:p>
          <a:p>
            <a:r>
              <a:rPr lang="en-US" dirty="0"/>
              <a:t>Measures: Semantic similarity using embeddings (context-aware) </a:t>
            </a:r>
          </a:p>
          <a:p>
            <a:r>
              <a:rPr lang="en-US" dirty="0"/>
              <a:t>Range: 0 to 1 </a:t>
            </a:r>
          </a:p>
          <a:p>
            <a:r>
              <a:rPr lang="en-US" dirty="0"/>
              <a:t>👉 Better than exact word matching</a:t>
            </a:r>
          </a:p>
          <a:p>
            <a:r>
              <a:rPr lang="en-US" b="1" dirty="0"/>
              <a:t>EM / F1 (QA Tasks)</a:t>
            </a:r>
          </a:p>
          <a:p>
            <a:r>
              <a:rPr lang="en-US" dirty="0"/>
              <a:t>Used in: Question Answering </a:t>
            </a:r>
          </a:p>
          <a:p>
            <a:r>
              <a:rPr lang="en-US" dirty="0"/>
              <a:t>EM: Exact match with correct answer </a:t>
            </a:r>
          </a:p>
          <a:p>
            <a:r>
              <a:rPr lang="en-US" dirty="0"/>
              <a:t>F1: Token-level overlap </a:t>
            </a:r>
          </a:p>
          <a:p>
            <a:r>
              <a:rPr lang="en-US" dirty="0"/>
              <a:t>Range: 0 to 1</a:t>
            </a:r>
          </a:p>
          <a:p>
            <a:r>
              <a:rPr lang="en-US" b="1" dirty="0"/>
              <a:t>MCC (Matthews Correlation Coefficient)</a:t>
            </a:r>
          </a:p>
          <a:p>
            <a:r>
              <a:rPr lang="en-US" dirty="0"/>
              <a:t>Used in: Imbalanced Classification </a:t>
            </a:r>
          </a:p>
          <a:p>
            <a:r>
              <a:rPr lang="en-US" dirty="0"/>
              <a:t>Measures: Quality of binary classification </a:t>
            </a:r>
          </a:p>
          <a:p>
            <a:r>
              <a:rPr lang="en-US" dirty="0"/>
              <a:t>Range: -1 to 1 </a:t>
            </a:r>
          </a:p>
          <a:p>
            <a:r>
              <a:rPr lang="en-US" dirty="0"/>
              <a:t>👉 +1 = perfect, 0 = random, -1 = wrong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028D0-8CCE-73C5-9710-446D9A1A6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59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583680" y="73152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22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concepts, techniques &amp; real-world applications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4114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3200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11223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65960" y="3200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112233"/>
          </a:solidFill>
          <a:ln/>
        </p:spPr>
      </p:sp>
      <p:sp>
        <p:nvSpPr>
          <p:cNvPr id="11" name="Text 8"/>
          <p:cNvSpPr/>
          <p:nvPr/>
        </p:nvSpPr>
        <p:spPr>
          <a:xfrm>
            <a:off x="196596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83280" y="3200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11223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800600" y="3200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112233"/>
          </a:solidFill>
          <a:ln/>
        </p:spPr>
      </p:sp>
      <p:sp>
        <p:nvSpPr>
          <p:cNvPr id="15" name="Text 12"/>
          <p:cNvSpPr/>
          <p:nvPr/>
        </p:nvSpPr>
        <p:spPr>
          <a:xfrm>
            <a:off x="480060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217920" y="3200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112233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635240" y="320040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112233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4864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foundational preprocessing to advanced generative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TASK TAXONOMY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tasks span a wide spectrum — from low-level text processing to high-level semantic understanding.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517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27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Lemmatization, Stopword Removal, POS Tagging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417320"/>
            <a:ext cx="2651760" cy="9144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527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Labeling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89280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NER, Chunking, Slot Filling, Event Detection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417320"/>
            <a:ext cx="265176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27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89280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Analysis, Topic Modeling, Intent Detection, Spam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17520"/>
            <a:ext cx="2651760" cy="91440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27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49300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Summarization, Translation, QA, Dialogue, Story Gen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30175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3017520"/>
            <a:ext cx="265176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3127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Tasks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49300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 Entailment, Coreference, Semantic Similarity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30175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3017520"/>
            <a:ext cx="265176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127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349300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Open-Domain QA, Document Retrieval, Knowledge Extraction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657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188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NLP pipeline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2834640"/>
            <a:ext cx="228600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28346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3136392"/>
            <a:ext cx="228600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3136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Split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" y="3438144"/>
            <a:ext cx="228600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34381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" y="3739896"/>
            <a:ext cx="228600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3739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4320" y="4041648"/>
            <a:ext cx="228600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4041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Stopwords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343400"/>
            <a:ext cx="228600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" y="4645152"/>
            <a:ext cx="228600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46451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200400" y="182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Preprocessing Tasks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3200400" y="640080"/>
            <a:ext cx="45720" cy="3840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338328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383280" y="10332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text into words/subwords. BPE, WordPiece, SentencePiece used by modern LLMs.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38328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18562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grammatical roles (Noun, Verb, Adj) to each token. Used in syntax analysis.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38328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 / Stemming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383280" y="26791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words to base forms. 'running' → 'run'. Improves vocabulary consistency.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38328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(NER)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383280" y="35021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structured info: names, dates, locations, organizations in text.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38328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Parsing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383280" y="43251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grammatical structure — how words relate to each other in a sentence.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&amp; Text Classification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categorizing text into predefined labels — from polarity to intent to topic.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591056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Negative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48256" y="1234440"/>
            <a:ext cx="1591056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2048256" y="12344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30752" y="1234440"/>
            <a:ext cx="1591056" cy="45720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0" name="Text 8"/>
          <p:cNvSpPr/>
          <p:nvPr/>
        </p:nvSpPr>
        <p:spPr>
          <a:xfrm>
            <a:off x="3730752" y="12344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13248" y="1234440"/>
            <a:ext cx="1591056" cy="457200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12" name="Text 10"/>
          <p:cNvSpPr/>
          <p:nvPr/>
        </p:nvSpPr>
        <p:spPr>
          <a:xfrm>
            <a:off x="5413248" y="12344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95744" y="1234440"/>
            <a:ext cx="1591056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95744" y="12344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Positive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92024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920240"/>
            <a:ext cx="265176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" y="2542032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2514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/ Not Spam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3044952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3017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" y="3547872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3520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/ Irrelevant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" y="4050792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/ Real News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192024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192024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19272" y="2542032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3538728" y="2514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categorization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19272" y="3044952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3538728" y="3017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19272" y="3547872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3538728" y="3520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9272" y="4050792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3538728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recognition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192024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89320" y="1920240"/>
            <a:ext cx="265176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Classification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53912" y="2542032"/>
            <a:ext cx="137160" cy="1371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1" name="Text 39"/>
          <p:cNvSpPr/>
          <p:nvPr/>
        </p:nvSpPr>
        <p:spPr>
          <a:xfrm>
            <a:off x="6373368" y="2514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multiple topics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53912" y="3044952"/>
            <a:ext cx="137160" cy="1371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3" name="Text 41"/>
          <p:cNvSpPr/>
          <p:nvPr/>
        </p:nvSpPr>
        <p:spPr>
          <a:xfrm>
            <a:off x="6373368" y="3017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attribute tagging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53912" y="3547872"/>
            <a:ext cx="137160" cy="1371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5" name="Text 43"/>
          <p:cNvSpPr/>
          <p:nvPr/>
        </p:nvSpPr>
        <p:spPr>
          <a:xfrm>
            <a:off x="6373368" y="3520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category overlap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53912" y="4050792"/>
            <a:ext cx="137160" cy="1371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7" name="Text 45"/>
          <p:cNvSpPr/>
          <p:nvPr/>
        </p:nvSpPr>
        <p:spPr>
          <a:xfrm>
            <a:off x="6373368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coding (ICD)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(NER)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662940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61288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27048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92708" y="1143000"/>
            <a:ext cx="576072" cy="4114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1092708" y="1161288"/>
            <a:ext cx="576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2708" y="1527048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732788" y="1161288"/>
            <a:ext cx="489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1161288"/>
            <a:ext cx="836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86684" y="11612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3028" y="11430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3028" y="11612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Cupertino,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3028" y="1527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814316" y="11430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/>
        </p:spPr>
      </p:sp>
      <p:sp>
        <p:nvSpPr>
          <p:cNvPr id="18" name="Text 16"/>
          <p:cNvSpPr/>
          <p:nvPr/>
        </p:nvSpPr>
        <p:spPr>
          <a:xfrm>
            <a:off x="4814316" y="11612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4316" y="1527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75604" y="11612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1948" y="11430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FFEDD5"/>
          </a:solidFill>
          <a:ln/>
        </p:spPr>
      </p:sp>
      <p:sp>
        <p:nvSpPr>
          <p:cNvPr id="22" name="Text 20"/>
          <p:cNvSpPr/>
          <p:nvPr/>
        </p:nvSpPr>
        <p:spPr>
          <a:xfrm>
            <a:off x="6441948" y="11612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Jobs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1948" y="1527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603236" y="11612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69580" y="1143000"/>
            <a:ext cx="662940" cy="41148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/>
        </p:spPr>
      </p:sp>
      <p:sp>
        <p:nvSpPr>
          <p:cNvPr id="26" name="Text 24"/>
          <p:cNvSpPr/>
          <p:nvPr/>
        </p:nvSpPr>
        <p:spPr>
          <a:xfrm>
            <a:off x="8069580" y="1161288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1976.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69580" y="1527048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" y="1965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NER Entity Types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2331720"/>
            <a:ext cx="2651760" cy="475488"/>
          </a:xfrm>
          <a:prstGeom prst="rect">
            <a:avLst/>
          </a:prstGeom>
          <a:solidFill>
            <a:srgbClr val="FFEDD5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331720"/>
            <a:ext cx="73152" cy="475488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23317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63040" y="23317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2331720"/>
            <a:ext cx="2651760" cy="4754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4" name="Shape 32"/>
          <p:cNvSpPr/>
          <p:nvPr/>
        </p:nvSpPr>
        <p:spPr>
          <a:xfrm>
            <a:off x="3291840" y="2331720"/>
            <a:ext cx="73152" cy="4754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0" y="23317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97680" y="23317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2331720"/>
            <a:ext cx="2651760" cy="47548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8" name="Shape 36"/>
          <p:cNvSpPr/>
          <p:nvPr/>
        </p:nvSpPr>
        <p:spPr>
          <a:xfrm>
            <a:off x="6126480" y="2331720"/>
            <a:ext cx="73152" cy="47548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23317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32320" y="23317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2898648"/>
            <a:ext cx="2651760" cy="47548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2898648"/>
            <a:ext cx="73152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289864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463040" y="28986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91840" y="2898648"/>
            <a:ext cx="265176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Shape 44"/>
          <p:cNvSpPr/>
          <p:nvPr/>
        </p:nvSpPr>
        <p:spPr>
          <a:xfrm>
            <a:off x="3291840" y="2898648"/>
            <a:ext cx="73152" cy="4754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7" name="Text 45"/>
          <p:cNvSpPr/>
          <p:nvPr/>
        </p:nvSpPr>
        <p:spPr>
          <a:xfrm>
            <a:off x="3474720" y="289864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297680" y="289864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Miscellaneous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3566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NER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57200" y="39319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148840" y="39319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/>
        </p:spPr>
      </p:sp>
      <p:sp>
        <p:nvSpPr>
          <p:cNvPr id="53" name="Text 51"/>
          <p:cNvSpPr/>
          <p:nvPr/>
        </p:nvSpPr>
        <p:spPr>
          <a:xfrm>
            <a:off x="214884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840480" y="39319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/>
        </p:spPr>
      </p:sp>
      <p:sp>
        <p:nvSpPr>
          <p:cNvPr id="55" name="Text 53"/>
          <p:cNvSpPr/>
          <p:nvPr/>
        </p:nvSpPr>
        <p:spPr>
          <a:xfrm>
            <a:off x="384048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Document Analysis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532120" y="39319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/>
        </p:spPr>
      </p:sp>
      <p:sp>
        <p:nvSpPr>
          <p:cNvPr id="57" name="Text 55"/>
          <p:cNvSpPr/>
          <p:nvPr/>
        </p:nvSpPr>
        <p:spPr>
          <a:xfrm>
            <a:off x="553212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Contract Mining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223760" y="39319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/>
        </p:spPr>
      </p:sp>
      <p:sp>
        <p:nvSpPr>
          <p:cNvPr id="59" name="Text 57"/>
          <p:cNvSpPr/>
          <p:nvPr/>
        </p:nvSpPr>
        <p:spPr>
          <a:xfrm>
            <a:off x="722376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Aggregation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F4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translating text across languages preserving meaning, tone, and context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MT Approaches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08483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1950s–80s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linguistic rules. High linguistic cost, low scalability.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208483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1990s–2000s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2395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Corpus-based probabilities (IBM models, phrase tables, Moses).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57800" y="208483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2014–2017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2395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MT (Seq2Seq)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with RNN/LSTM. Attention mechanism introduced.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69480" y="208483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2017–Now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2395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Self-attention, BERT, GPT, mBART, NLLB-200 covering 200 languages.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in MT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8862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Ambiguity &amp; polysemy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1422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Low-resource languages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3982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Domain-specific terminology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6542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Cultural nuance &amp; idioms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03520" y="3474720"/>
            <a:ext cx="3474720" cy="1417320"/>
          </a:xfrm>
          <a:prstGeom prst="rect">
            <a:avLst/>
          </a:prstGeom>
          <a:solidFill>
            <a:srgbClr val="112233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03520" y="3474720"/>
            <a:ext cx="34747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3931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BLEU — n-gram precision score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0" y="41513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METEOR — alignment-based metric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0" y="43708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chrF — character-level F-score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0" y="45902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COMET — neural evaluation model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 (QA)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QA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is a span from the context document.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BERT, RoBERTa on SQuAD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'When was X founded?' → extracts date.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42062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 QA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92040" y="133502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is generated, not extracted.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T5, BART, GPT-4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'Explain X in simple terms'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4206240" cy="9144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63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Open-Domain QA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343814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given; model retrieves + answers.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Wikipedia-scale knowledge bases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26080"/>
            <a:ext cx="4206240" cy="91440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63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QA (VQA)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92040" y="343814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about an image.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BLIP, LLaVA, GPT-4V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'What color is the car in the image?'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Key Benchmarks: SQuAD 2.0 · TriviaQA · Natural Questions · HotpotQA · MS MARCO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D4ED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114800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023360" cy="91440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Summarization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Selects key sentences directly from source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865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new words generated — verbatim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Easier to implement, less hallucination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16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Methods: TextRank, LexRank, SumBasic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Limitation: May be incoherent across sentences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777240"/>
            <a:ext cx="4023360" cy="4114800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777240"/>
            <a:ext cx="402336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 Summarization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0" y="1389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Generates new sentences to convey meaning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1865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More human-like, concise summaries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2340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Powered by Seq2Seq / Transformer models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28163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Models: BART, PEGASUS, T5, GPT-4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Evaluation: ROUGE-1/2/L, BERTScore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06240" y="2468880"/>
            <a:ext cx="731520" cy="7315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9A341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589520" y="36576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&amp; LLMs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models that power nearly every modern NLP task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2651761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Params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Architecture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BERT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2018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110M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Encoder-only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Classification, NER, QA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GPT-3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2020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175B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Decoder-only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Text generation, Completion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T5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2020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11B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Encoder-Decoder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Seq2Seq, Summarization, MT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LLaMA 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2024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8–70B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Decoder-only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Open-source general purpose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GPT-4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2023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~1.8T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MoE Transformer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Reasoning, Code, Vision+Text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Claude 3.7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N/A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Transformer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B2D8D8"/>
                          </a:solidFill>
                        </a:rPr>
                        <a:t>Long context, reasoning, code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069080"/>
            <a:ext cx="8412480" cy="86868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7" name="Shape 3"/>
          <p:cNvSpPr/>
          <p:nvPr/>
        </p:nvSpPr>
        <p:spPr>
          <a:xfrm>
            <a:off x="365760" y="4069080"/>
            <a:ext cx="73152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Shift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 on massive corpora → Fine-tune on domain tasks → Prompt / RAG / Agent at inference time.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 Financial Services &amp; BFSI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applications of NLP across banking, insurance, and capital markets: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73152" cy="1143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6733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call summarization, broker note parsing, sentiment signals from news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34440"/>
            <a:ext cx="73152" cy="1143000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11" name="Text 9"/>
          <p:cNvSpPr/>
          <p:nvPr/>
        </p:nvSpPr>
        <p:spPr>
          <a:xfrm>
            <a:off x="5001768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01768" y="16733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document analysis, KYC/AML document extraction, policy comparison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496312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96312"/>
            <a:ext cx="73152" cy="1143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2587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9352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detection, FAQ bots, complaint categorization, claim automation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496312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496312"/>
            <a:ext cx="73152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001768" y="2587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Underwriting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01768" y="29352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 parsing, financial report NER, covenant extraction from loan docs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758184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58184"/>
            <a:ext cx="73152" cy="1143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" y="38496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" y="419709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NER, claim narrative classification, fraud signal detection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3758184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758184"/>
            <a:ext cx="73152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001768" y="38496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Finance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01768" y="419709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lading parsing, invoice entity extraction, LC document QA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F46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Evaluation Metrics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177473"/>
              </p:ext>
            </p:extLst>
          </p:nvPr>
        </p:nvGraphicFramePr>
        <p:xfrm>
          <a:off x="365760" y="777240"/>
          <a:ext cx="8412480" cy="38176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Measures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Accuracy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Classification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% correctly classified samples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0–1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F1-Score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NER, Classification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Harmonic mean of Precision &amp; 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0–1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BLEU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Translation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n-gram overlap with reference translations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0–1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ROUGE-L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Summarization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Longest common subsequence overlap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0–1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Perplexity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Language Models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How well model predicts a sample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1–∞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BERTScore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Summarization, MT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Semantic similarity via BERT embeddings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0–1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EM / F1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Question Answering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Exact match and token-level F1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0–1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MCC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Imbalanced datasets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Matthews Correlation Coefficient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-1 to 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E9A22-72AB-D8B8-4BE1-77608E70842E}"/>
              </a:ext>
            </a:extLst>
          </p:cNvPr>
          <p:cNvSpPr txBox="1"/>
          <p:nvPr/>
        </p:nvSpPr>
        <p:spPr>
          <a:xfrm>
            <a:off x="1583871" y="4665365"/>
            <a:ext cx="59762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Different NLP tasks require different evaluation metrics—no single metric fits 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109677-A194-546A-ADFF-A6E332781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931D60-6693-BF5A-2901-3FEE692B25AF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B3C406-BD05-E556-69F8-C8ADF9E60243}"/>
              </a:ext>
            </a:extLst>
          </p:cNvPr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more</a:t>
            </a:r>
            <a:endParaRPr lang="en-US" sz="2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0002CC7-8B56-DA13-B7FC-E6CFBC260BE3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03368C-E7B2-2315-474C-8A5D57B6C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955" y="658368"/>
            <a:ext cx="7100090" cy="41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40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572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tasks span preprocessing, classification, generation, and semantic reasoning — each needing different architectures.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4572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5623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90195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models (BERT, T5, GPT-4) dominate modern NLP by leveraging attention and massive pre-training.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4572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609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70662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must match the task: BLEU for MT, ROUGE for summarization, F1/EM for QA, and semantic metrics for generation.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4572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6557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51129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applications are exploding — from earnings call summarization to KYC document NER and insurance claim automation.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270248"/>
            <a:ext cx="4572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27024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31596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and agentic pipelines are the new frontier — combining retrieval with generation for grounded, up-to-date answers.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21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| Comprehensive Overview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1558</Words>
  <Application>Microsoft Macintosh PowerPoint</Application>
  <PresentationFormat>On-screen Show (16:9)</PresentationFormat>
  <Paragraphs>358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Tasks - A Comprehensive Overview</dc:title>
  <dc:subject>PptxGenJS Presentation</dc:subject>
  <dc:creator>PptxGenJS</dc:creator>
  <cp:lastModifiedBy>Shalini Mittal</cp:lastModifiedBy>
  <cp:revision>3</cp:revision>
  <dcterms:created xsi:type="dcterms:W3CDTF">2026-04-02T16:44:34Z</dcterms:created>
  <dcterms:modified xsi:type="dcterms:W3CDTF">2026-04-03T03:25:05Z</dcterms:modified>
</cp:coreProperties>
</file>