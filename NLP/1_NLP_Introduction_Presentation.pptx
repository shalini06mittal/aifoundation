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84" r:id="rId11"/>
    <p:sldId id="287" r:id="rId12"/>
    <p:sldId id="283" r:id="rId13"/>
    <p:sldId id="264" r:id="rId14"/>
    <p:sldId id="265" r:id="rId15"/>
    <p:sldId id="266" r:id="rId16"/>
    <p:sldId id="286" r:id="rId17"/>
    <p:sldId id="285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0682"/>
  </p:normalViewPr>
  <p:slideViewPr>
    <p:cSldViewPr snapToGrid="0" snapToObjects="1">
      <p:cViewPr varScale="1">
        <p:scale>
          <a:sx n="84" d="100"/>
          <a:sy n="84" d="100"/>
        </p:scale>
        <p:origin x="22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4BC84-0DB5-EE44-95C0-9055A84D2707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58D44-F1E7-E249-9AEB-AE13D6815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Corpus?</a:t>
            </a:r>
          </a:p>
          <a:p>
            <a:r>
              <a:rPr lang="en-US" dirty="0"/>
              <a:t>A </a:t>
            </a:r>
            <a:r>
              <a:rPr lang="en-US" b="1" dirty="0"/>
              <a:t>large collection of text data</a:t>
            </a:r>
            <a:endParaRPr lang="en-US" dirty="0"/>
          </a:p>
          <a:p>
            <a:r>
              <a:rPr lang="en-US" b="1" dirty="0"/>
              <a:t>Annotated Corpus</a:t>
            </a:r>
          </a:p>
          <a:p>
            <a:r>
              <a:rPr lang="en-US" dirty="0"/>
              <a:t>Text labeled with useful information:</a:t>
            </a:r>
          </a:p>
          <a:p>
            <a:r>
              <a:rPr lang="en-US" dirty="0"/>
              <a:t>POS tags </a:t>
            </a:r>
          </a:p>
          <a:p>
            <a:r>
              <a:rPr lang="en-US" dirty="0"/>
              <a:t>Syntax trees </a:t>
            </a:r>
          </a:p>
          <a:p>
            <a:r>
              <a:rPr lang="en-US" dirty="0"/>
              <a:t>Named entities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2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52A1-77A5-DF50-6AF6-3B86CE19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A6FA3-7571-D2D1-E3A3-45144FB09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41E1F-DE48-B1ED-B77A-6C21224FC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Rule-Based (Old Approach)</a:t>
            </a:r>
          </a:p>
          <a:p>
            <a:r>
              <a:rPr lang="en-US" dirty="0"/>
              <a:t>Humans manually wrote rules like: </a:t>
            </a:r>
          </a:p>
          <a:p>
            <a:pPr lvl="1"/>
            <a:r>
              <a:rPr lang="en-US" dirty="0"/>
              <a:t>“If word ends with </a:t>
            </a:r>
            <a:r>
              <a:rPr lang="en-US" i="1" dirty="0"/>
              <a:t>-</a:t>
            </a:r>
            <a:r>
              <a:rPr lang="en-US" i="1" dirty="0" err="1"/>
              <a:t>ing</a:t>
            </a:r>
            <a:r>
              <a:rPr lang="en-US" dirty="0"/>
              <a:t>, it's probably a verb” </a:t>
            </a:r>
          </a:p>
          <a:p>
            <a:pPr lvl="1"/>
            <a:r>
              <a:rPr lang="en-US" dirty="0"/>
              <a:t>“If sentence starts with ‘Is’, it’s a question” </a:t>
            </a:r>
          </a:p>
          <a:p>
            <a:r>
              <a:rPr lang="en-US" dirty="0"/>
              <a:t>Based on </a:t>
            </a:r>
            <a:r>
              <a:rPr lang="en-US" b="1" dirty="0"/>
              <a:t>linguistics + grammar rules</a:t>
            </a:r>
            <a:r>
              <a:rPr lang="en-US" dirty="0"/>
              <a:t> </a:t>
            </a:r>
          </a:p>
          <a:p>
            <a:r>
              <a:rPr lang="en-US" dirty="0"/>
              <a:t>👉 Problem:</a:t>
            </a:r>
          </a:p>
          <a:p>
            <a:r>
              <a:rPr lang="en-US" dirty="0"/>
              <a:t>Too many exceptions in language </a:t>
            </a:r>
          </a:p>
          <a:p>
            <a:r>
              <a:rPr lang="en-US" dirty="0"/>
              <a:t>Hard to scale </a:t>
            </a:r>
          </a:p>
          <a:p>
            <a:r>
              <a:rPr lang="en-US" dirty="0"/>
              <a:t>Breaks with real-world messy text</a:t>
            </a:r>
          </a:p>
          <a:p>
            <a:endParaRPr lang="en-US" dirty="0"/>
          </a:p>
          <a:p>
            <a:r>
              <a:rPr lang="en-US" b="1" dirty="0"/>
              <a:t>Data-Driven (Modern Approach)</a:t>
            </a:r>
          </a:p>
          <a:p>
            <a:r>
              <a:rPr lang="en-US" dirty="0"/>
              <a:t>Instead of rules → </a:t>
            </a:r>
            <a:r>
              <a:rPr lang="en-US" b="1" dirty="0"/>
              <a:t>learn from data</a:t>
            </a:r>
            <a:r>
              <a:rPr lang="en-US" dirty="0"/>
              <a:t> </a:t>
            </a:r>
          </a:p>
          <a:p>
            <a:r>
              <a:rPr lang="en-US" dirty="0"/>
              <a:t>Feed thousands/millions of examples </a:t>
            </a:r>
          </a:p>
          <a:p>
            <a:r>
              <a:rPr lang="en-US" dirty="0"/>
              <a:t>Model learns patterns automatically </a:t>
            </a:r>
          </a:p>
          <a:p>
            <a:r>
              <a:rPr lang="en-US" dirty="0"/>
              <a:t>👉 Example:</a:t>
            </a:r>
            <a:br>
              <a:rPr lang="en-US" dirty="0"/>
            </a:br>
            <a:r>
              <a:rPr lang="en-US" dirty="0"/>
              <a:t>Instead of writing rules for spam detection:</a:t>
            </a:r>
          </a:p>
          <a:p>
            <a:r>
              <a:rPr lang="en-US" dirty="0"/>
              <a:t>Give model 10,000 emails labeled spam/not spam </a:t>
            </a:r>
          </a:p>
          <a:p>
            <a:r>
              <a:rPr lang="en-US" dirty="0"/>
              <a:t>It learns patterns like: </a:t>
            </a:r>
          </a:p>
          <a:p>
            <a:pPr lvl="1"/>
            <a:r>
              <a:rPr lang="en-US" dirty="0"/>
              <a:t>“Free”, “Win”, “Offer” → spam </a:t>
            </a:r>
          </a:p>
          <a:p>
            <a:r>
              <a:rPr lang="en-US" dirty="0"/>
              <a:t>✅ </a:t>
            </a:r>
            <a:r>
              <a:rPr lang="en-US" b="1" dirty="0"/>
              <a:t>Why shift happened?</a:t>
            </a:r>
            <a:endParaRPr lang="en-US" dirty="0"/>
          </a:p>
          <a:p>
            <a:r>
              <a:rPr lang="en-US" dirty="0"/>
              <a:t>More data available </a:t>
            </a:r>
          </a:p>
          <a:p>
            <a:r>
              <a:rPr lang="en-US" dirty="0"/>
              <a:t>Better computing power </a:t>
            </a:r>
          </a:p>
          <a:p>
            <a:r>
              <a:rPr lang="en-US" dirty="0"/>
              <a:t>ML models outperform rigid rules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463B9-C840-B663-BDD0-AE21BED7D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03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5B992-2CC3-409C-6D02-BF43D98D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26343-12EE-CBDB-312B-0BAFB9992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CE392-9B70-A2EC-87ED-BA60C513C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 it if:</a:t>
            </a:r>
          </a:p>
          <a:p>
            <a:r>
              <a:rPr lang="en-US" dirty="0"/>
              <a:t>📉 </a:t>
            </a:r>
            <a:r>
              <a:rPr lang="en-US" b="1" dirty="0"/>
              <a:t>Very little or no data available</a:t>
            </a:r>
            <a:r>
              <a:rPr lang="en-US" dirty="0"/>
              <a:t> </a:t>
            </a:r>
          </a:p>
          <a:p>
            <a:r>
              <a:rPr lang="en-US" dirty="0"/>
              <a:t>🎯 Problem is </a:t>
            </a:r>
            <a:r>
              <a:rPr lang="en-US" b="1" dirty="0"/>
              <a:t>simple &amp; well-defined</a:t>
            </a:r>
            <a:r>
              <a:rPr lang="en-US" dirty="0"/>
              <a:t> </a:t>
            </a:r>
          </a:p>
          <a:p>
            <a:r>
              <a:rPr lang="en-US" dirty="0"/>
              <a:t>📏 Rules are </a:t>
            </a:r>
            <a:r>
              <a:rPr lang="en-US" b="1" dirty="0"/>
              <a:t>clear and stable</a:t>
            </a:r>
            <a:r>
              <a:rPr lang="en-US" dirty="0"/>
              <a:t> </a:t>
            </a:r>
          </a:p>
          <a:p>
            <a:r>
              <a:rPr lang="en-US" dirty="0"/>
              <a:t>⚡ Need </a:t>
            </a:r>
            <a:r>
              <a:rPr lang="en-US" b="1" dirty="0"/>
              <a:t>quick &amp; predictable results</a:t>
            </a:r>
            <a:r>
              <a:rPr lang="en-US" dirty="0"/>
              <a:t> </a:t>
            </a:r>
          </a:p>
          <a:p>
            <a:r>
              <a:rPr lang="en-US" dirty="0"/>
              <a:t>🔍 Need </a:t>
            </a:r>
            <a:r>
              <a:rPr lang="en-US" b="1" dirty="0"/>
              <a:t>full control &amp; explainability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Use it if:</a:t>
            </a:r>
          </a:p>
          <a:p>
            <a:r>
              <a:rPr lang="en-US" dirty="0"/>
              <a:t>📊 You have </a:t>
            </a:r>
            <a:r>
              <a:rPr lang="en-US" b="1" dirty="0"/>
              <a:t>enough labeled data</a:t>
            </a:r>
            <a:r>
              <a:rPr lang="en-US" dirty="0"/>
              <a:t> </a:t>
            </a:r>
          </a:p>
          <a:p>
            <a:r>
              <a:rPr lang="en-US" dirty="0"/>
              <a:t>🧠 Problem is </a:t>
            </a:r>
            <a:r>
              <a:rPr lang="en-US" b="1" dirty="0"/>
              <a:t>complex or ambiguous</a:t>
            </a:r>
            <a:r>
              <a:rPr lang="en-US" dirty="0"/>
              <a:t> </a:t>
            </a:r>
          </a:p>
          <a:p>
            <a:r>
              <a:rPr lang="en-US" dirty="0"/>
              <a:t>🔄 Patterns are </a:t>
            </a:r>
            <a:r>
              <a:rPr lang="en-US" b="1" dirty="0"/>
              <a:t>not easily rule-defined</a:t>
            </a:r>
            <a:r>
              <a:rPr lang="en-US" dirty="0"/>
              <a:t> </a:t>
            </a:r>
          </a:p>
          <a:p>
            <a:r>
              <a:rPr lang="en-US" dirty="0"/>
              <a:t>📈 You want </a:t>
            </a:r>
            <a:r>
              <a:rPr lang="en-US" b="1" dirty="0"/>
              <a:t>high accuracy &amp; scalability</a:t>
            </a:r>
            <a:r>
              <a:rPr lang="en-US" dirty="0"/>
              <a:t> </a:t>
            </a:r>
          </a:p>
          <a:p>
            <a:r>
              <a:rPr lang="en-US" dirty="0"/>
              <a:t>🌍 System must </a:t>
            </a:r>
            <a:r>
              <a:rPr lang="en-US" b="1" dirty="0"/>
              <a:t>adapt to real-world variation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💡 Examples:</a:t>
            </a:r>
          </a:p>
          <a:p>
            <a:r>
              <a:rPr lang="en-US" dirty="0"/>
              <a:t>Sentiment analysis </a:t>
            </a:r>
          </a:p>
          <a:p>
            <a:r>
              <a:rPr lang="en-US" dirty="0"/>
              <a:t>Machine translation </a:t>
            </a:r>
          </a:p>
          <a:p>
            <a:r>
              <a:rPr lang="en-US" dirty="0"/>
              <a:t>Chatbots (intent detection) </a:t>
            </a:r>
          </a:p>
          <a:p>
            <a:r>
              <a:rPr lang="en-US" dirty="0"/>
              <a:t>Email classification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🚫 Avoid if:</a:t>
            </a:r>
          </a:p>
          <a:p>
            <a:r>
              <a:rPr lang="en-US" dirty="0"/>
              <a:t>Very small dataset </a:t>
            </a:r>
          </a:p>
          <a:p>
            <a:r>
              <a:rPr lang="en-US" dirty="0"/>
              <a:t>Need strict, deterministic logic </a:t>
            </a:r>
          </a:p>
          <a:p>
            <a:r>
              <a:rPr lang="en-US"/>
              <a:t>High cost of labeling data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💡 Examples:</a:t>
            </a:r>
          </a:p>
          <a:p>
            <a:r>
              <a:rPr lang="en-US" dirty="0"/>
              <a:t>Keyword-based chatbot </a:t>
            </a:r>
          </a:p>
          <a:p>
            <a:r>
              <a:rPr lang="en-US" dirty="0"/>
              <a:t>Spam filter with fixed rules </a:t>
            </a:r>
          </a:p>
          <a:p>
            <a:r>
              <a:rPr lang="en-US" dirty="0"/>
              <a:t>Form validation (email, phone format) </a:t>
            </a:r>
          </a:p>
          <a:p>
            <a:r>
              <a:rPr lang="en-US" dirty="0"/>
              <a:t>Regex-based text extraction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🚫 Avoid if:</a:t>
            </a:r>
          </a:p>
          <a:p>
            <a:r>
              <a:rPr lang="en-US" dirty="0"/>
              <a:t>Language is ambiguous </a:t>
            </a:r>
          </a:p>
          <a:p>
            <a:r>
              <a:rPr lang="en-US" dirty="0"/>
              <a:t>Too many exceptions </a:t>
            </a:r>
          </a:p>
          <a:p>
            <a:r>
              <a:rPr lang="en-US" dirty="0"/>
              <a:t>Rules become hard to maintain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2079B-10CA-C51D-79FE-EE355FE3D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29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5C33-0A0E-1D0B-380D-BB86D90B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C005F-4E43-EFDF-446B-8370A0AE0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FFF7D-DD87-F1D1-4550-414DBEFB6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 it if:</a:t>
            </a:r>
          </a:p>
          <a:p>
            <a:r>
              <a:rPr lang="en-US" dirty="0"/>
              <a:t>📉 </a:t>
            </a:r>
            <a:r>
              <a:rPr lang="en-US" b="1" dirty="0"/>
              <a:t>Very little or no data available</a:t>
            </a:r>
            <a:r>
              <a:rPr lang="en-US" dirty="0"/>
              <a:t> </a:t>
            </a:r>
          </a:p>
          <a:p>
            <a:r>
              <a:rPr lang="en-US" dirty="0"/>
              <a:t>🎯 Problem is </a:t>
            </a:r>
            <a:r>
              <a:rPr lang="en-US" b="1" dirty="0"/>
              <a:t>simple &amp; well-defined</a:t>
            </a:r>
            <a:r>
              <a:rPr lang="en-US" dirty="0"/>
              <a:t> </a:t>
            </a:r>
          </a:p>
          <a:p>
            <a:r>
              <a:rPr lang="en-US" dirty="0"/>
              <a:t>📏 Rules are </a:t>
            </a:r>
            <a:r>
              <a:rPr lang="en-US" b="1" dirty="0"/>
              <a:t>clear and stable</a:t>
            </a:r>
            <a:r>
              <a:rPr lang="en-US" dirty="0"/>
              <a:t> </a:t>
            </a:r>
          </a:p>
          <a:p>
            <a:r>
              <a:rPr lang="en-US" dirty="0"/>
              <a:t>⚡ Need </a:t>
            </a:r>
            <a:r>
              <a:rPr lang="en-US" b="1" dirty="0"/>
              <a:t>quick &amp; predictable results</a:t>
            </a:r>
            <a:r>
              <a:rPr lang="en-US" dirty="0"/>
              <a:t> </a:t>
            </a:r>
          </a:p>
          <a:p>
            <a:r>
              <a:rPr lang="en-US" dirty="0"/>
              <a:t>🔍 Need </a:t>
            </a:r>
            <a:r>
              <a:rPr lang="en-US" b="1" dirty="0"/>
              <a:t>full control &amp; explainability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Use it if:</a:t>
            </a:r>
          </a:p>
          <a:p>
            <a:r>
              <a:rPr lang="en-US" dirty="0"/>
              <a:t>📊 You have </a:t>
            </a:r>
            <a:r>
              <a:rPr lang="en-US" b="1" dirty="0"/>
              <a:t>enough labeled data</a:t>
            </a:r>
            <a:r>
              <a:rPr lang="en-US" dirty="0"/>
              <a:t> </a:t>
            </a:r>
          </a:p>
          <a:p>
            <a:r>
              <a:rPr lang="en-US" dirty="0"/>
              <a:t>🧠 Problem is </a:t>
            </a:r>
            <a:r>
              <a:rPr lang="en-US" b="1" dirty="0"/>
              <a:t>complex or ambiguous</a:t>
            </a:r>
            <a:r>
              <a:rPr lang="en-US" dirty="0"/>
              <a:t> </a:t>
            </a:r>
          </a:p>
          <a:p>
            <a:r>
              <a:rPr lang="en-US" dirty="0"/>
              <a:t>🔄 Patterns are </a:t>
            </a:r>
            <a:r>
              <a:rPr lang="en-US" b="1" dirty="0"/>
              <a:t>not easily rule-defined</a:t>
            </a:r>
            <a:r>
              <a:rPr lang="en-US" dirty="0"/>
              <a:t> </a:t>
            </a:r>
          </a:p>
          <a:p>
            <a:r>
              <a:rPr lang="en-US" dirty="0"/>
              <a:t>📈 You want </a:t>
            </a:r>
            <a:r>
              <a:rPr lang="en-US" b="1" dirty="0"/>
              <a:t>high accuracy &amp; scalability</a:t>
            </a:r>
            <a:r>
              <a:rPr lang="en-US" dirty="0"/>
              <a:t> </a:t>
            </a:r>
          </a:p>
          <a:p>
            <a:r>
              <a:rPr lang="en-US" dirty="0"/>
              <a:t>🌍 System must </a:t>
            </a:r>
            <a:r>
              <a:rPr lang="en-US" b="1" dirty="0"/>
              <a:t>adapt to real-world variation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💡 Examples:</a:t>
            </a:r>
          </a:p>
          <a:p>
            <a:r>
              <a:rPr lang="en-US" dirty="0"/>
              <a:t>Sentiment analysis </a:t>
            </a:r>
          </a:p>
          <a:p>
            <a:r>
              <a:rPr lang="en-US" dirty="0"/>
              <a:t>Machine translation </a:t>
            </a:r>
          </a:p>
          <a:p>
            <a:r>
              <a:rPr lang="en-US" dirty="0"/>
              <a:t>Chatbots (intent detection) </a:t>
            </a:r>
          </a:p>
          <a:p>
            <a:r>
              <a:rPr lang="en-US" dirty="0"/>
              <a:t>Email classification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🚫 Avoid if:</a:t>
            </a:r>
          </a:p>
          <a:p>
            <a:r>
              <a:rPr lang="en-US" dirty="0"/>
              <a:t>Very small dataset </a:t>
            </a:r>
          </a:p>
          <a:p>
            <a:r>
              <a:rPr lang="en-US" dirty="0"/>
              <a:t>Need strict, deterministic logic </a:t>
            </a:r>
          </a:p>
          <a:p>
            <a:r>
              <a:rPr lang="en-US"/>
              <a:t>High cost of labeling data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💡 Examples:</a:t>
            </a:r>
          </a:p>
          <a:p>
            <a:r>
              <a:rPr lang="en-US" dirty="0"/>
              <a:t>Keyword-based chatbot </a:t>
            </a:r>
          </a:p>
          <a:p>
            <a:r>
              <a:rPr lang="en-US" dirty="0"/>
              <a:t>Spam filter with fixed rules </a:t>
            </a:r>
          </a:p>
          <a:p>
            <a:r>
              <a:rPr lang="en-US" dirty="0"/>
              <a:t>Form validation (email, phone format) </a:t>
            </a:r>
          </a:p>
          <a:p>
            <a:r>
              <a:rPr lang="en-US" dirty="0"/>
              <a:t>Regex-based text extraction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🚫 Avoid if:</a:t>
            </a:r>
          </a:p>
          <a:p>
            <a:r>
              <a:rPr lang="en-US" dirty="0"/>
              <a:t>Language is ambiguous </a:t>
            </a:r>
          </a:p>
          <a:p>
            <a:r>
              <a:rPr lang="en-US" dirty="0"/>
              <a:t>Too many exceptions </a:t>
            </a:r>
          </a:p>
          <a:p>
            <a:r>
              <a:rPr lang="en-US" dirty="0"/>
              <a:t>Rules become hard to maintain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461C3-B5AF-D78C-DA0E-7D2FC5919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19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D674-2811-2768-8468-237FE669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C0401-8B4A-C91F-AB62-373C651A2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6F159-BD3A-281D-5815-B21A57256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POS : Parts of speech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88284-3D18-1AAA-A395-F15D7FDB2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78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NLU It analyzes input text through multiple layers: tokenization splits the text, syntactic analysis understands the grammar, and semantic analysis extracts the actual meaning and intent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67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E3AB-0970-56EF-901D-36FBECB4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44C15-390C-226C-DF21-8AFB4433D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B0B76-8599-13CD-A729-79F7BD129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348BF-F3AE-2265-0730-183009735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3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focuses on </a:t>
            </a:r>
            <a:r>
              <a:rPr lang="en-US" b="1" dirty="0"/>
              <a:t>real-world meaning using context</a:t>
            </a:r>
            <a:endParaRPr lang="en-US" dirty="0"/>
          </a:p>
          <a:p>
            <a:r>
              <a:rPr lang="en-US" dirty="0"/>
              <a:t>👉 It answers:</a:t>
            </a:r>
          </a:p>
          <a:p>
            <a:r>
              <a:rPr lang="en-US" dirty="0"/>
              <a:t>What does the speaker </a:t>
            </a:r>
            <a:r>
              <a:rPr lang="en-US" i="1" dirty="0"/>
              <a:t>really mean</a:t>
            </a:r>
            <a:r>
              <a:rPr lang="en-US" dirty="0"/>
              <a:t>? </a:t>
            </a:r>
          </a:p>
          <a:p>
            <a:r>
              <a:rPr lang="en-US" dirty="0"/>
              <a:t>What is the intent behind the sentence? </a:t>
            </a:r>
          </a:p>
          <a:p>
            <a:endParaRPr lang="en-US" dirty="0"/>
          </a:p>
          <a:p>
            <a:r>
              <a:rPr lang="en-US" b="1" dirty="0"/>
              <a:t>Key Aspects:</a:t>
            </a:r>
          </a:p>
          <a:p>
            <a:r>
              <a:rPr lang="en-US" dirty="0"/>
              <a:t>Context (who, where, situation) </a:t>
            </a:r>
          </a:p>
          <a:p>
            <a:r>
              <a:rPr lang="en-US" dirty="0"/>
              <a:t>Intent </a:t>
            </a:r>
          </a:p>
          <a:p>
            <a:r>
              <a:rPr lang="en-US" dirty="0"/>
              <a:t>Implied meaning </a:t>
            </a:r>
          </a:p>
          <a:p>
            <a:r>
              <a:rPr lang="en-US" dirty="0"/>
              <a:t>Sarcasm / tone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Example 1: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"Can you open the window?"</a:t>
            </a:r>
          </a:p>
          <a:p>
            <a:r>
              <a:rPr lang="en-US" dirty="0"/>
              <a:t>Lexical meaning:</a:t>
            </a:r>
            <a:br>
              <a:rPr lang="en-US" dirty="0"/>
            </a:br>
            <a:r>
              <a:rPr lang="en-US" dirty="0"/>
              <a:t>👉 Asking about ability</a:t>
            </a:r>
          </a:p>
          <a:p>
            <a:r>
              <a:rPr lang="en-US" dirty="0"/>
              <a:t>Pragmatic meaning:</a:t>
            </a:r>
            <a:br>
              <a:rPr lang="en-US" dirty="0"/>
            </a:br>
            <a:r>
              <a:rPr lang="en-US" dirty="0"/>
              <a:t>👉 It’s a </a:t>
            </a:r>
            <a:r>
              <a:rPr lang="en-US" b="1" dirty="0"/>
              <a:t>request</a:t>
            </a:r>
            <a:r>
              <a:rPr lang="en-US" dirty="0"/>
              <a:t> → "Please open the window"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Example 2: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"Wow, great job!"</a:t>
            </a:r>
          </a:p>
          <a:p>
            <a:r>
              <a:rPr lang="en-US" dirty="0"/>
              <a:t>Could be </a:t>
            </a:r>
            <a:r>
              <a:rPr lang="en-US" b="1" dirty="0"/>
              <a:t>genuine praise</a:t>
            </a:r>
            <a:r>
              <a:rPr lang="en-US" dirty="0"/>
              <a:t> </a:t>
            </a:r>
          </a:p>
          <a:p>
            <a:r>
              <a:rPr lang="en-US" dirty="0"/>
              <a:t>Could be </a:t>
            </a:r>
            <a:r>
              <a:rPr lang="en-US" b="1" dirty="0"/>
              <a:t>sarcasm</a:t>
            </a:r>
            <a:r>
              <a:rPr lang="en-US" dirty="0"/>
              <a:t> 😅 </a:t>
            </a:r>
          </a:p>
          <a:p>
            <a:r>
              <a:rPr lang="en-US" dirty="0"/>
              <a:t>👉 Only context tells the real meaning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83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words? </a:t>
            </a:r>
          </a:p>
          <a:p>
            <a:r>
              <a:rPr lang="en-US" dirty="0"/>
              <a:t>What type of word is it?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58D44-F1E7-E249-9AEB-AE13D6815B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54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980B9"/>
                </a:solidFill>
              </a:defRPr>
            </a:pPr>
            <a:r>
              <a:t>Natural Language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F8C8D"/>
                </a:solidFill>
              </a:defRPr>
            </a:pPr>
            <a:r>
              <a:t>Understanding Human Language with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017520"/>
            <a:ext cx="3657600" cy="0"/>
          </a:xfrm>
          <a:prstGeom prst="rect">
            <a:avLst/>
          </a:prstGeom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Introduction to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Natural Language Processing?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NLP is a branch of artificial intelligence that helps computers understand, interpret, and manipulate human language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Combines computational linguistics with statistical, machine learning, and deep learning models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Enables computers to process human language in the form of text or voice 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Bridges the gap between human communication and computer understanding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Goal: Make human-computer interaction more natural and intuitive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is NLP Important?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Massive Growth of Unstructured Data: 80% of organizational data is unstructured text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Enhanced User Experience: Voice assistants, chatbots, and smart search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Business Intelligence: Extract insights from customer feedback, reviews, and social media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Automation: Automate repetitive tasks like email routing, document classification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Accessibility: Breaking language barriers with real-time translation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History of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Early Days (1950s-1960s)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1950: Alan Turing's 'Computing Machinery and Intelligence' - Turing Test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1954: Georgetown-IBM experiment - First machine translation (Russian to English)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1960s: ELIZA chatbot by Joseph Weizenbaum - Pattern matching and substitution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Rule-based approach dominated this era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Limited by computational power and linguistic understanding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Symbolic Era (1970s-1980s)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Focus on hand-coded rules and symbolic representations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Development of parsers and grammar-based systems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Expert systems for specific domains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Challenges: Brittleness, couldn't handle ambiguity well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LUNAR system (1970s) - Natural language database interface for moon rocks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Statistical Revolution (1990s-2000s)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Shift from rule-based to data-driven approaches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Introduction of Hidden Markov Models (HMMs) for speech and POS tagging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Machine learning algorithms: Naive Bayes, Decision Trees, SVMs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Emergence of annotated corpora (Penn Treebank, Brown Corpus)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Improved accuracy but required large labeled datasets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6BE5-EF77-605B-E827-06C2A279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1EE18-34AE-0E69-317F-539809A1372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AC2D9-328D-3027-14B6-C783B8CA243F}"/>
              </a:ext>
            </a:extLst>
          </p:cNvPr>
          <p:cNvSpPr txBox="1"/>
          <p:nvPr/>
        </p:nvSpPr>
        <p:spPr>
          <a:xfrm>
            <a:off x="457200" y="182880"/>
            <a:ext cx="51700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Rule Based vs Data Driven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4FFA21-4A18-29F7-20F6-6FA96BD83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41558"/>
            <a:ext cx="7772400" cy="43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62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5AE90-3B5C-C058-94AD-DD237BA0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0D3DE2-3A7E-4526-D84F-2FA00127A59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D57B5-ADE1-7BC8-A84C-0EA944273FC8}"/>
              </a:ext>
            </a:extLst>
          </p:cNvPr>
          <p:cNvSpPr txBox="1"/>
          <p:nvPr/>
        </p:nvSpPr>
        <p:spPr>
          <a:xfrm>
            <a:off x="457200" y="182880"/>
            <a:ext cx="51700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Rule Based vs Data Driven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7C7E4-3D43-029C-8CA5-713C31E7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492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82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8B79-2AC4-AA70-6161-E9DAEE1F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C85D71-96A5-87F9-4638-14F9C322708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01534-4D5D-DE11-CAB1-64513CBA4FB4}"/>
              </a:ext>
            </a:extLst>
          </p:cNvPr>
          <p:cNvSpPr txBox="1"/>
          <p:nvPr/>
        </p:nvSpPr>
        <p:spPr>
          <a:xfrm>
            <a:off x="457200" y="182880"/>
            <a:ext cx="69004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Rule Based vs Data Driven Example</a:t>
            </a:r>
            <a:endParaRPr dirty="0"/>
          </a:p>
        </p:txBody>
      </p:sp>
      <p:pic>
        <p:nvPicPr>
          <p:cNvPr id="1026" name="Picture 2" descr="Chatbots: Stuff that You Need to Know — Hireplicity Blog">
            <a:extLst>
              <a:ext uri="{FF2B5EF4-FFF2-40B4-BE49-F238E27FC236}">
                <a16:creationId xmlns:a16="http://schemas.microsoft.com/office/drawing/2014/main" id="{620D991D-DC9F-F4D0-6E38-D7E08DB25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090"/>
            <a:ext cx="9144000" cy="5845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41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795DD-E7B0-03E5-119F-01C5DB6F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F75829-51DC-4EB6-3D60-256565AE7CC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6E4DE-4A76-F10B-6C98-7358A79222CD}"/>
              </a:ext>
            </a:extLst>
          </p:cNvPr>
          <p:cNvSpPr txBox="1"/>
          <p:nvPr/>
        </p:nvSpPr>
        <p:spPr>
          <a:xfrm>
            <a:off x="457200" y="182880"/>
            <a:ext cx="46762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Hidden Markov Models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FADE5-3F36-B64A-F5FD-EF6ECC146344}"/>
              </a:ext>
            </a:extLst>
          </p:cNvPr>
          <p:cNvSpPr txBox="1"/>
          <p:nvPr/>
        </p:nvSpPr>
        <p:spPr>
          <a:xfrm>
            <a:off x="731520" y="1371600"/>
            <a:ext cx="768096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Probabilistic model in machine learning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Observed data = words (what you see) 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Hidden states = POS tags or phonemes (what you infer)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Used in: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Speech recognition 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POS tagging </a:t>
            </a:r>
          </a:p>
          <a:p>
            <a:pPr marL="800100" lvl="1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Named entity recognition (early systems) 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r>
              <a:rPr lang="en-US" sz="2000" dirty="0"/>
              <a:t>Key idea: context matters (sequence-based prediction)</a:t>
            </a: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endParaRPr lang="en-US" sz="20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endParaRPr lang="en-US" sz="2000" dirty="0"/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C3E50"/>
                </a:solidFill>
              </a:defRPr>
            </a:pPr>
            <a:endParaRPr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051358-F896-10B5-9D16-A90851648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80" y="26042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87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Deep Learning Era (2010s-Present)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2013: Word2Vec - Word embeddings revolutionize text representation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2014: Sequence-to-sequence models for translation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2017: Transformer architecture - 'Attention is All You Need'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2018: BERT, GPT - Pre-trained language models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2020s: Large Language Models (GPT-3, GPT-4, Claude, LLaMA) - Human-like text generation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Components of NLP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6185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Components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4C3C0C-6074-1FDA-8AEE-EE108E1CA8DA}"/>
              </a:ext>
            </a:extLst>
          </p:cNvPr>
          <p:cNvSpPr txBox="1"/>
          <p:nvPr/>
        </p:nvSpPr>
        <p:spPr>
          <a:xfrm>
            <a:off x="731520" y="1371600"/>
            <a:ext cx="768096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lang="en-US" b="1" dirty="0"/>
              <a:t>Natural Language Understanding:</a:t>
            </a:r>
            <a:br>
              <a:rPr lang="en-US" b="1" dirty="0"/>
            </a:br>
            <a:r>
              <a:rPr lang="en-US" dirty="0"/>
              <a:t>Process where machines comprehend human language by breaking it down into structured components.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lang="en-US" b="1" dirty="0"/>
              <a:t>Natural Language Generation:</a:t>
            </a:r>
            <a:br>
              <a:rPr lang="en-US" b="1" dirty="0"/>
            </a:br>
            <a:r>
              <a:rPr lang="en-US" sz="2000" b="1" dirty="0"/>
              <a:t>R</a:t>
            </a:r>
            <a:r>
              <a:rPr lang="en-US" sz="2000" dirty="0"/>
              <a:t>everse process where machines convert structured data into human-readable text. It plans what content to include, structures it into proper sentences, and then realizes it as natural-sounding language output.</a:t>
            </a:r>
            <a:br>
              <a:rPr lang="en-US" dirty="0"/>
            </a:br>
            <a:endParaRPr lang="en-US" dirty="0"/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endParaRPr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A39D99E-9981-1772-B2F5-BEF4657F2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60" y="4506456"/>
            <a:ext cx="88184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takes human language as input and produces structured data (understanding)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takes structured data as input and produces human language (generation)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EC8BA5-C5AB-BF3E-25C5-0211DF72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5BA0B6-6050-015E-7B7D-8AF443C6DAE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DEB99-F042-5795-38A9-D5863CADFE5B}"/>
              </a:ext>
            </a:extLst>
          </p:cNvPr>
          <p:cNvSpPr txBox="1"/>
          <p:nvPr/>
        </p:nvSpPr>
        <p:spPr>
          <a:xfrm>
            <a:off x="457200" y="182880"/>
            <a:ext cx="18108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Example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D7174-B683-9671-C841-D96A545B8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2"/>
          <a:stretch>
            <a:fillRect/>
          </a:stretch>
        </p:blipFill>
        <p:spPr>
          <a:xfrm>
            <a:off x="4539207" y="984639"/>
            <a:ext cx="4536116" cy="5815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3EAAA7-A98D-46EF-D1AC-BBA3EBD2D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6" y="1012091"/>
            <a:ext cx="4416899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14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C6D4D-F951-77D6-DD87-D9D1EBA5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DE2662-AC7F-3474-2426-DBD96B297A2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BCC1F-8DA9-76CA-73AE-570BA4AF2539}"/>
              </a:ext>
            </a:extLst>
          </p:cNvPr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Syntactic Analysis (Syntax)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86402-908C-F7C6-938A-A897BB9BAB92}"/>
              </a:ext>
            </a:extLst>
          </p:cNvPr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Tokenization: Breaking text into words, phrases, symbols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Part-of-Speech (POS) Tagging: Identifying grammatical roles (noun, verb, adjective)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Parsing: Analyzing grammatical structure of sentences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Constituency Parsing: Breaking sentences into sub-phrases (noun phrases, verb phrases)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rPr dirty="0"/>
              <a:t>Dependency Parsing: Identifying relationships between words</a:t>
            </a:r>
          </a:p>
        </p:txBody>
      </p:sp>
    </p:spTree>
    <p:extLst>
      <p:ext uri="{BB962C8B-B14F-4D97-AF65-F5344CB8AC3E}">
        <p14:creationId xmlns:p14="http://schemas.microsoft.com/office/powerpoint/2010/main" val="3259112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Semantic Analysis (Meaning)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Word Sense Disambiguation: Determining correct meaning of ambiguous words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Named Entity Recognition (NER): Identifying persons, organizations, locations, dates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Semantic Role Labeling: Identifying 'who did what to whom, when, where, why'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Relationship Extraction: Finding relationships between entities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Understanding the actual meaning beyond grammatical structure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Pragmatic Analysis (Context)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Discourse Analysis: Understanding text beyond individual sentences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Coreference Resolution: Identifying when different words refer to the same entity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Sentiment Analysis: Determining emotional tone (positive, negative, neutral)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Intent Recognition: Understanding the speaker's goal or intention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Context-dependent interpretation of language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Lexical Analysis (Words)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Lemmatization: Reducing words to their base/dictionary form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Stemming: Removing suffixes to get root form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Stop Word Removal: Filtering common words (the, is, at)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N-grams: Analyzing sequences of N words together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Building vocabulary and understanding word patterns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Applications of NLP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Text Processing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Sentiment Analysis: Analyzing customer reviews, social media monitoring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Text Classification: Spam detection, news categorization, content moderation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Information Extraction: Resume parsing, invoice processing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Document Summarization: Generating concise summaries of long documents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Keyword Extraction: SEO optimization, content tagging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Conversational AI &amp; Virtual Assistants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Chatbots: Customer service automation, FAQ handling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Voice Assistants: Siri, Alexa, Google Assistant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Question Answering Systems: IBM Watson, search engines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Dialogue Systems: Task-oriented (booking, orders) and open-domain conversations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24/7 customer support and engagement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Machine Translation &amp; Language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Neural Machine Translation: Google Translate, DeepL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Real-time Translation: Breaking language barriers in global communication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Grammar Checking: Grammarly, Microsoft Editor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Spell Checking and Auto-correction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Language Learning Applications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Healthcare &amp; Legal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Clinical Documentation: Automated medical record generation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Drug Discovery: Analyzing research papers and medical literature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Legal Document Analysis: Contract review, due diligence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Medical Coding: ICD-10 code assignment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Patient Interaction: Symptom checkers, health chatbots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9144000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Capstone Project Ideas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Capstone: Email Spam Classification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Objective: Build a classifier to detect spam vs legitimate emails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Dataset: Use Enron email dataset or SpamAssassin corpus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Techniques: TF-IDF vectorization, Naive Bayes, Random Forest, or LSTM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Features: Email subject, body text, sender information, metadata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Deliverables: Trained model, web interface for testing, performance metrics (accuracy, precision, recall, F1-score)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Capstone: Sentiment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Objective: Analyze sentiment of product reviews or social media posts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Dataset: Amazon reviews, Twitter API, or Yelp dataset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Techniques: VADER, TextBlob, or transformer-based models (BERT, RoBERTa)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Visualization: Real-time dashboard showing sentiment trends, word clouds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Deliverables: Interactive dashboard, sentiment classification model, insights report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Capstone: Chatbot for Customer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Objective: Build an intelligent chatbot to handle customer queries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Approach: Intent recognition + Entity extraction + Response generation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Techniques: Rasa, DialogFlow, or custom seq2seq model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Features: FAQ handling, order tracking, product recommendations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Deliverables: Deployed chatbot, conversation logs, performance analytics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Capstone: News Article Summarizer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Objective: Generate concise summaries of news articles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Dataset: CNN/DailyMail dataset or BBC News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Approaches: Extractive (select key sentences) vs Abstractive (generate new text)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Techniques: TextRank, BERT extractive summarization, or T5/BART for abstractive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Deliverables: Summarization tool, web app, comparison of extractive vs abstractive methods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Capstone: Resume Parser &amp; Job Matcher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Objective: Extract information from resumes and match to job descriptions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NLP Tasks: NER for skills/education/experience, text similarity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Techniques: SpaCy for NER, sentence transformers for semantic matching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Features: Parse PDF/Word resumes, extract structured data, rank job matches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2C3E50"/>
                </a:solidFill>
              </a:defRPr>
            </a:pPr>
            <a:r>
              <a:t>Deliverables: Resume parsing system, job matching algorithm, recommendation engine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1852</Words>
  <Application>Microsoft Macintosh PowerPoint</Application>
  <PresentationFormat>On-screen Show (4:3)</PresentationFormat>
  <Paragraphs>277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Shalini Mittal</cp:lastModifiedBy>
  <cp:revision>15</cp:revision>
  <dcterms:created xsi:type="dcterms:W3CDTF">2013-01-27T09:14:16Z</dcterms:created>
  <dcterms:modified xsi:type="dcterms:W3CDTF">2026-04-03T05:43:34Z</dcterms:modified>
  <cp:category/>
</cp:coreProperties>
</file>